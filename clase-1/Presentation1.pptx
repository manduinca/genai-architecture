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40"/>
  </p:notesMasterIdLst>
  <p:sldIdLst>
    <p:sldId id="257" r:id="rId4"/>
    <p:sldId id="259" r:id="rId5"/>
    <p:sldId id="260" r:id="rId6"/>
    <p:sldId id="261" r:id="rId7"/>
    <p:sldId id="262" r:id="rId8"/>
    <p:sldId id="258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3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96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66480-521C-5C46-8938-778348039FD8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C62F6-87C0-EE49-B794-B57061CC2D3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057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C62F6-87C0-EE49-B794-B57061CC2D3B}" type="slidenum">
              <a:rPr lang="en-PE" smtClean="0"/>
              <a:t>35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72357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E23-06FF-5F2D-911D-05E02CFD6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FC57F-EC64-22E6-E547-0E21A4A22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CD35-E0A2-BFFC-D4FA-001EBCAC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4519-7938-D880-97EE-CAC9790C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57CE-C45C-03B0-2299-5066B67D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5170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B8C4-EEC5-DE93-4CD4-FB4767AC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C4D9-A11D-8125-F031-C29A2BB92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CA13-7047-99F8-BA09-9DD3D3D9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8557-70F6-E3CB-D1DA-B8AB3A66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2A04-C8E3-3901-2E82-6501EC24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5353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CE13-61F4-6F1A-0949-3717062B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E8C8-21CA-BD65-44CD-705405E7A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2902-CB43-660C-1510-C76427A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7DA2-1D49-4E03-EA93-6960F8F3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04A6-F7CF-B195-331F-98FC832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3737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6624-4A36-895A-0998-A5AD7910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44EFE-2E20-4C35-D86A-23FFA0447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8235-E2AB-32CB-A998-6F3D6A47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101FE-6B71-9E4D-1494-9E0F280F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966F0-7F32-D4B1-2849-DDB7EC8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4DFF4-B36D-B954-C275-327F4BD0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919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6354-9CD5-B7D0-B3EC-19FCA8DB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452BC-6F51-60C7-5C58-54322F14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5AA09-6135-7E6B-9972-804C2657B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7132A-C793-D674-D301-BEDC3E33A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144EF-0016-A400-6FED-597F13CB2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6FAC6-DA5C-941C-1D01-2F61D7E2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FAFA3-F29B-1461-78E8-0ADFBD0E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54F31-A562-6564-9424-6C4FACA6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483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7E72-B474-7B76-F298-4AE4B622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F95EC-C653-CE8E-48CA-50E9EA15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3E54-D403-EEC8-D8B9-5A24C3CC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3E323-B856-4C1D-D5B4-7399A77C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137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57F09-00F4-1D42-D70C-08987A0A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1F062-7C78-3D04-0310-4F1580BC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1DFD9-BC6B-C6BB-DF3F-B6B8FF33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67179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EE7B-7B77-2232-A113-E81C0CA9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3AFF-9E38-B119-68AE-BD3F01EA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7079B-7DA0-60ED-84B3-80F6A72F4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AFF3-E122-5646-38E0-FE6C82FF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062F4-60F7-29B6-9BAA-E4B75533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EBED-2876-77D2-173D-B79E7486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49008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B44A-9C34-E612-32C9-1087A5F3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EBBC9-C3F6-7E2C-5B60-74FFC8B0D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3DA4-4F66-A417-D7FD-206FF4B30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1BF2B-74BE-D122-0F23-0D05B9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47079-7709-1C81-12FB-FB1E230E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5035D-1C5D-18B3-9EA6-0680E39C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6335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F6DB-CEF3-68CD-BD9E-75779240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AF5B7-0083-268F-84D8-42A1F3CB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5DA3-4D72-31D6-7B1E-E84CDC72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9037-7893-3D47-E33A-FB69EB0C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9E1B9-93D1-C9A9-A277-37C8A26E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978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346AA-B144-483F-9C03-3408F00F6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BCB84-58F4-B660-55E7-30D6394E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9F8-37BE-34D5-C1DB-E9BDBC6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2AFB-3E79-CF2F-8CCC-45EBB93F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44A3C-F05A-517F-C8E4-C1B5DCF0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72226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E23-06FF-5F2D-911D-05E02CFD6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FC57F-EC64-22E6-E547-0E21A4A22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CD35-E0A2-BFFC-D4FA-001EBCAC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4519-7938-D880-97EE-CAC9790C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57CE-C45C-03B0-2299-5066B67D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51704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B8C4-EEC5-DE93-4CD4-FB4767AC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C4D9-A11D-8125-F031-C29A2BB92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CA13-7047-99F8-BA09-9DD3D3D9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8557-70F6-E3CB-D1DA-B8AB3A66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2A04-C8E3-3901-2E82-6501EC24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535393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CE13-61F4-6F1A-0949-3717062B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E8C8-21CA-BD65-44CD-705405E7A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2902-CB43-660C-1510-C76427A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7DA2-1D49-4E03-EA93-6960F8F3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04A6-F7CF-B195-331F-98FC832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37378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6624-4A36-895A-0998-A5AD7910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44EFE-2E20-4C35-D86A-23FFA0447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8235-E2AB-32CB-A998-6F3D6A47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101FE-6B71-9E4D-1494-9E0F280F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966F0-7F32-D4B1-2849-DDB7EC8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4DFF4-B36D-B954-C275-327F4BD0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91954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6354-9CD5-B7D0-B3EC-19FCA8DB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452BC-6F51-60C7-5C58-54322F14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5AA09-6135-7E6B-9972-804C2657B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7132A-C793-D674-D301-BEDC3E33A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144EF-0016-A400-6FED-597F13CB2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6FAC6-DA5C-941C-1D01-2F61D7E2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FAFA3-F29B-1461-78E8-0ADFBD0E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54F31-A562-6564-9424-6C4FACA6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4830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7E72-B474-7B76-F298-4AE4B622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F95EC-C653-CE8E-48CA-50E9EA15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3E54-D403-EEC8-D8B9-5A24C3CC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3E323-B856-4C1D-D5B4-7399A77C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1375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57F09-00F4-1D42-D70C-08987A0A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1F062-7C78-3D04-0310-4F1580BC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1DFD9-BC6B-C6BB-DF3F-B6B8FF33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671799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EE7B-7B77-2232-A113-E81C0CA9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3AFF-9E38-B119-68AE-BD3F01EA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7079B-7DA0-60ED-84B3-80F6A72F4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AFF3-E122-5646-38E0-FE6C82FF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062F4-60F7-29B6-9BAA-E4B75533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EBED-2876-77D2-173D-B79E7486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490083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B44A-9C34-E612-32C9-1087A5F3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EBBC9-C3F6-7E2C-5B60-74FFC8B0D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3DA4-4F66-A417-D7FD-206FF4B30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1BF2B-74BE-D122-0F23-0D05B9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47079-7709-1C81-12FB-FB1E230E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5035D-1C5D-18B3-9EA6-0680E39C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63357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F6DB-CEF3-68CD-BD9E-75779240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AF5B7-0083-268F-84D8-42A1F3CB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5DA3-4D72-31D6-7B1E-E84CDC72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9037-7893-3D47-E33A-FB69EB0C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9E1B9-93D1-C9A9-A277-37C8A26E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978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346AA-B144-483F-9C03-3408F00F6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BCB84-58F4-B660-55E7-30D6394E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9F8-37BE-34D5-C1DB-E9BDBC6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2AFB-3E79-CF2F-8CCC-45EBB93F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44A3C-F05A-517F-C8E4-C1B5DCF0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722266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E23-06FF-5F2D-911D-05E02CFD6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FC57F-EC64-22E6-E547-0E21A4A22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CD35-E0A2-BFFC-D4FA-001EBCAC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4519-7938-D880-97EE-CAC9790C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57CE-C45C-03B0-2299-5066B67D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51704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B8C4-EEC5-DE93-4CD4-FB4767AC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C4D9-A11D-8125-F031-C29A2BB92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CA13-7047-99F8-BA09-9DD3D3D9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8557-70F6-E3CB-D1DA-B8AB3A66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2A04-C8E3-3901-2E82-6501EC24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535393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CE13-61F4-6F1A-0949-3717062B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E8C8-21CA-BD65-44CD-705405E7A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2902-CB43-660C-1510-C76427A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7DA2-1D49-4E03-EA93-6960F8F3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04A6-F7CF-B195-331F-98FC832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37378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6624-4A36-895A-0998-A5AD7910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44EFE-2E20-4C35-D86A-23FFA0447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8235-E2AB-32CB-A998-6F3D6A47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101FE-6B71-9E4D-1494-9E0F280F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966F0-7F32-D4B1-2849-DDB7EC8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4DFF4-B36D-B954-C275-327F4BD0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91954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6354-9CD5-B7D0-B3EC-19FCA8DB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452BC-6F51-60C7-5C58-54322F14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5AA09-6135-7E6B-9972-804C2657B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7132A-C793-D674-D301-BEDC3E33A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144EF-0016-A400-6FED-597F13CB2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6FAC6-DA5C-941C-1D01-2F61D7E2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FAFA3-F29B-1461-78E8-0ADFBD0E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54F31-A562-6564-9424-6C4FACA6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48304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7E72-B474-7B76-F298-4AE4B622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F95EC-C653-CE8E-48CA-50E9EA15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3E54-D403-EEC8-D8B9-5A24C3CC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3E323-B856-4C1D-D5B4-7399A77C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1375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57F09-00F4-1D42-D70C-08987A0A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1F062-7C78-3D04-0310-4F1580BC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1DFD9-BC6B-C6BB-DF3F-B6B8FF33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6717993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EE7B-7B77-2232-A113-E81C0CA9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3AFF-9E38-B119-68AE-BD3F01EA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7079B-7DA0-60ED-84B3-80F6A72F4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AFF3-E122-5646-38E0-FE6C82FF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062F4-60F7-29B6-9BAA-E4B75533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EBED-2876-77D2-173D-B79E7486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490083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B44A-9C34-E612-32C9-1087A5F3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EBBC9-C3F6-7E2C-5B60-74FFC8B0D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3DA4-4F66-A417-D7FD-206FF4B30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1BF2B-74BE-D122-0F23-0D05B9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47079-7709-1C81-12FB-FB1E230E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5035D-1C5D-18B3-9EA6-0680E39C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633570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F6DB-CEF3-68CD-BD9E-75779240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AF5B7-0083-268F-84D8-42A1F3CB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5DA3-4D72-31D6-7B1E-E84CDC72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9037-7893-3D47-E33A-FB69EB0C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9E1B9-93D1-C9A9-A277-37C8A26E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769784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346AA-B144-483F-9C03-3408F00F6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BCB84-58F4-B660-55E7-30D6394E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9F8-37BE-34D5-C1DB-E9BDBC6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2AFB-3E79-CF2F-8CCC-45EBB93F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44A3C-F05A-517F-C8E4-C1B5DCF0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72226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20D7F-0DEE-D97B-C021-F107DBAE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7AD5B-AD86-F2B4-560A-48A7C7EE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B54C-09CC-95C0-F9DD-7FCC0C376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8D86-3492-6C64-1C49-C4FF56549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1D5E-8490-8C40-1EC5-7BA80BE1C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4580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20D7F-0DEE-D97B-C021-F107DBAE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7AD5B-AD86-F2B4-560A-48A7C7EE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B54C-09CC-95C0-F9DD-7FCC0C376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8D86-3492-6C64-1C49-C4FF56549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1D5E-8490-8C40-1EC5-7BA80BE1C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C5A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BrandDot"/>
          <p:cNvSpPr/>
          <p:nvPr userDrawn="1"/>
        </p:nvSpPr>
        <p:spPr>
          <a:xfrm>
            <a:off x="11430000" y="6553200"/>
            <a:ext cx="152400" cy="152400"/>
          </a:xfrm>
          <a:prstGeom prst="rect">
            <a:avLst/>
          </a:prstGeom>
          <a:solidFill>
            <a:srgbClr val="2C5A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E3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3A6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3A6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3A6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3A68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20D7F-0DEE-D97B-C021-F107DBAE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7AD5B-AD86-F2B4-560A-48A7C7EE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B54C-09CC-95C0-F9DD-7FCC0C376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0719C-347C-2442-94FD-7E54772D1606}" type="datetimeFigureOut">
              <a:rPr lang="en-PE" smtClean="0"/>
              <a:t>21/04/26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8D86-3492-6C64-1C49-C4FF56549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1D5E-8490-8C40-1EC5-7BA80BE1C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66B73-967E-0E43-BEDE-5ACB20196DB5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4580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EC261-180B-2A45-AFF4-3A28855326D5}"/>
              </a:ext>
            </a:extLst>
          </p:cNvPr>
          <p:cNvSpPr txBox="1"/>
          <p:nvPr/>
        </p:nvSpPr>
        <p:spPr>
          <a:xfrm>
            <a:off x="762000" y="7620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2C5AA0"/>
                </a:solidFill>
                <a:latin typeface="Inter"/>
              </a:rPr>
              <a:t>ESCUELAIT · CLASE ABIERTA</a:t>
            </a:r>
            <a:endParaRPr lang="en-PE" sz="1200" b="1" dirty="0">
              <a:solidFill>
                <a:srgbClr val="2C5AA0"/>
              </a:solidFill>
              <a:latin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E2CEA-A2A6-F544-8129-3343A363394A}"/>
              </a:ext>
            </a:extLst>
          </p:cNvPr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44103-5D0B-B847-8AC7-A659619FA1EA}"/>
              </a:ext>
            </a:extLst>
          </p:cNvPr>
          <p:cNvSpPr txBox="1"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4A7FC1"/>
                </a:solidFill>
                <a:latin typeface="Inter"/>
              </a:rPr>
              <a:t>Clase 1</a:t>
            </a:r>
            <a:endParaRPr lang="en-PE">
              <a:solidFill>
                <a:srgbClr val="4A7FC1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3AFD0-967B-5C43-BBE7-3F1123DEFDC8}"/>
              </a:ext>
            </a:extLst>
          </p:cNvPr>
          <p:cNvSpPr txBox="1"/>
          <p:nvPr/>
        </p:nvSpPr>
        <p:spPr>
          <a:xfrm>
            <a:off x="762000" y="2032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800" b="1">
                <a:solidFill>
                  <a:srgbClr val="0F1E3D"/>
                </a:solidFill>
                <a:latin typeface="Inter"/>
              </a:rPr>
              <a:t>Arquitectura IA Generativa</a:t>
            </a:r>
            <a:endParaRPr lang="en-PE" sz="4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478BA-F19A-374C-AA3E-8ECE9DF71858}"/>
              </a:ext>
            </a:extLst>
          </p:cNvPr>
          <p:cNvSpPr txBox="1"/>
          <p:nvPr/>
        </p:nvSpPr>
        <p:spPr>
          <a:xfrm>
            <a:off x="762000" y="27686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800" b="1">
                <a:solidFill>
                  <a:srgbClr val="2C5AA0"/>
                </a:solidFill>
                <a:latin typeface="Inter"/>
              </a:rPr>
              <a:t>y el ecosistema LLM</a:t>
            </a:r>
            <a:endParaRPr lang="en-PE" sz="48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F47C5-30F0-0B42-B2D5-B619B6E410ED}"/>
              </a:ext>
            </a:extLst>
          </p:cNvPr>
          <p:cNvSpPr txBox="1"/>
          <p:nvPr/>
        </p:nvSpPr>
        <p:spPr>
          <a:xfrm>
            <a:off x="762000" y="38100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1F3A68"/>
                </a:solidFill>
                <a:latin typeface="Inter"/>
              </a:rPr>
              <a:t>Mapa del territorio: modelos, proveedores, protocolos y APIs</a:t>
            </a:r>
            <a:endParaRPr lang="en-PE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BF44F-522E-0D4C-8B45-92832B042D62}"/>
              </a:ext>
            </a:extLst>
          </p:cNvPr>
          <p:cNvSpPr/>
          <p:nvPr/>
        </p:nvSpPr>
        <p:spPr>
          <a:xfrm>
            <a:off x="762000" y="5334000"/>
            <a:ext cx="10668000" cy="12700"/>
          </a:xfrm>
          <a:prstGeom prst="rect">
            <a:avLst/>
          </a:prstGeom>
          <a:solidFill>
            <a:srgbClr val="A8C0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915FA-00BF-7D4A-8C70-EF70CB04BDA1}"/>
              </a:ext>
            </a:extLst>
          </p:cNvPr>
          <p:cNvSpPr txBox="1"/>
          <p:nvPr/>
        </p:nvSpPr>
        <p:spPr>
          <a:xfrm>
            <a:off x="762000" y="55118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DURACIÓN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63E2C-F0C2-1348-9245-52B4BA963560}"/>
              </a:ext>
            </a:extLst>
          </p:cNvPr>
          <p:cNvSpPr txBox="1"/>
          <p:nvPr/>
        </p:nvSpPr>
        <p:spPr>
          <a:xfrm>
            <a:off x="762000" y="57150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90 min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0EADD2-3CBB-8F4E-B146-638B1B622D78}"/>
              </a:ext>
            </a:extLst>
          </p:cNvPr>
          <p:cNvSpPr txBox="1"/>
          <p:nvPr/>
        </p:nvSpPr>
        <p:spPr>
          <a:xfrm>
            <a:off x="2794000" y="55118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FORMATO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10220-6F66-A943-9B6D-AB5512108386}"/>
              </a:ext>
            </a:extLst>
          </p:cNvPr>
          <p:cNvSpPr txBox="1"/>
          <p:nvPr/>
        </p:nvSpPr>
        <p:spPr>
          <a:xfrm>
            <a:off x="2794000" y="5715000"/>
            <a:ext cx="177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Remoto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4EFFB7-7DF3-6C4D-AE0F-57E753B044A4}"/>
              </a:ext>
            </a:extLst>
          </p:cNvPr>
          <p:cNvSpPr txBox="1"/>
          <p:nvPr/>
        </p:nvSpPr>
        <p:spPr>
          <a:xfrm>
            <a:off x="4826000" y="5511800"/>
            <a:ext cx="355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NIVEL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4A57A-08DA-1543-A9CA-A4E2F8514F9C}"/>
              </a:ext>
            </a:extLst>
          </p:cNvPr>
          <p:cNvSpPr txBox="1"/>
          <p:nvPr/>
        </p:nvSpPr>
        <p:spPr>
          <a:xfrm>
            <a:off x="4826000" y="57150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Dev intermedio-avanzado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48780D-3E0E-BA43-B48E-91EDD75B23E3}"/>
              </a:ext>
            </a:extLst>
          </p:cNvPr>
          <p:cNvSpPr txBox="1"/>
          <p:nvPr/>
        </p:nvSpPr>
        <p:spPr>
          <a:xfrm>
            <a:off x="8890000" y="55118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FECHA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764B5-D026-9044-AE17-A26703AA28A5}"/>
              </a:ext>
            </a:extLst>
          </p:cNvPr>
          <p:cNvSpPr txBox="1"/>
          <p:nvPr/>
        </p:nvSpPr>
        <p:spPr>
          <a:xfrm>
            <a:off x="8890000" y="5715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17 abril 2026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1471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E90BE-561D-B44E-995B-6172812BD84A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0 · APERTURA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8E303-FB41-2948-95E5-6FAEF5669551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0F1E3D"/>
                </a:solidFill>
                <a:latin typeface="Inter"/>
              </a:rPr>
              <a:t>Demo: </a:t>
            </a:r>
            <a:r>
              <a:rPr lang="en-US" sz="3000" b="1" dirty="0" err="1">
                <a:solidFill>
                  <a:srgbClr val="0F1E3D"/>
                </a:solidFill>
                <a:latin typeface="Inter"/>
              </a:rPr>
              <a:t>peru-elecciones</a:t>
            </a:r>
            <a:endParaRPr lang="en-PE" sz="3000" b="1" dirty="0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96576-A53F-074F-BE5B-CDBB2DF27FE2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B681F-AE94-154B-AFA9-69848E701078}"/>
              </a:ext>
            </a:extLst>
          </p:cNvPr>
          <p:cNvSpPr txBox="1"/>
          <p:nvPr/>
        </p:nvSpPr>
        <p:spPr>
          <a:xfrm>
            <a:off x="762000" y="2032000"/>
            <a:ext cx="546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F3A68"/>
                </a:solidFill>
                <a:latin typeface="Inter"/>
              </a:rPr>
              <a:t>Una aplicación real en producción que consume datos oficiales de ONPE y permite preguntar en lenguaje natural.</a:t>
            </a:r>
            <a:endParaRPr lang="en-PE" sz="16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B0445-824F-E149-A657-90D850606667}"/>
              </a:ext>
            </a:extLst>
          </p:cNvPr>
          <p:cNvSpPr txBox="1"/>
          <p:nvPr/>
        </p:nvSpPr>
        <p:spPr>
          <a:xfrm>
            <a:off x="762000" y="31750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PREGUNTAS DE EJEMPLO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3EEE7F-4FC7-5444-AB35-487F6A0DBE13}"/>
              </a:ext>
            </a:extLst>
          </p:cNvPr>
          <p:cNvSpPr/>
          <p:nvPr/>
        </p:nvSpPr>
        <p:spPr>
          <a:xfrm>
            <a:off x="762000" y="3632200"/>
            <a:ext cx="508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07807-052F-504D-B09C-5643A378DCFE}"/>
              </a:ext>
            </a:extLst>
          </p:cNvPr>
          <p:cNvSpPr txBox="1"/>
          <p:nvPr/>
        </p:nvSpPr>
        <p:spPr>
          <a:xfrm>
            <a:off x="952500" y="3530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0F1E3D"/>
                </a:solidFill>
                <a:latin typeface="Inter"/>
              </a:rPr>
              <a:t>¿Quién va segundo en Lima?</a:t>
            </a:r>
            <a:endParaRPr lang="en-PE" sz="1500" i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0FEA5-03B5-7B40-BFF6-03C064ACA1AE}"/>
              </a:ext>
            </a:extLst>
          </p:cNvPr>
          <p:cNvSpPr/>
          <p:nvPr/>
        </p:nvSpPr>
        <p:spPr>
          <a:xfrm>
            <a:off x="762000" y="4038600"/>
            <a:ext cx="508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6E33A-C70E-D142-A65A-21532F1BA00F}"/>
              </a:ext>
            </a:extLst>
          </p:cNvPr>
          <p:cNvSpPr txBox="1"/>
          <p:nvPr/>
        </p:nvSpPr>
        <p:spPr>
          <a:xfrm>
            <a:off x="952500" y="3937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0F1E3D"/>
                </a:solidFill>
                <a:latin typeface="Inter"/>
              </a:rPr>
              <a:t>¿Cuánta participación hay en el norte?</a:t>
            </a:r>
            <a:endParaRPr lang="en-PE" sz="1500" i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738C8-6124-3546-98BF-B9803CE51EB4}"/>
              </a:ext>
            </a:extLst>
          </p:cNvPr>
          <p:cNvSpPr/>
          <p:nvPr/>
        </p:nvSpPr>
        <p:spPr>
          <a:xfrm>
            <a:off x="762000" y="4445000"/>
            <a:ext cx="508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A5088-ADD0-E040-B58C-84F3E82FE646}"/>
              </a:ext>
            </a:extLst>
          </p:cNvPr>
          <p:cNvSpPr txBox="1"/>
          <p:nvPr/>
        </p:nvSpPr>
        <p:spPr>
          <a:xfrm>
            <a:off x="952500" y="43434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0F1E3D"/>
                </a:solidFill>
                <a:latin typeface="Inter"/>
              </a:rPr>
              <a:t>Dame los tres partidos con más crecimiento en las últimas dos horas.</a:t>
            </a:r>
            <a:endParaRPr lang="en-PE" sz="1500" i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63A360-DE43-244B-B2F3-3805A4F7B9AD}"/>
              </a:ext>
            </a:extLst>
          </p:cNvPr>
          <p:cNvSpPr/>
          <p:nvPr/>
        </p:nvSpPr>
        <p:spPr>
          <a:xfrm>
            <a:off x="6858000" y="2032000"/>
            <a:ext cx="4572000" cy="2794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2252E5-F5A7-5E4B-8C43-50649C6FF166}"/>
              </a:ext>
            </a:extLst>
          </p:cNvPr>
          <p:cNvSpPr/>
          <p:nvPr/>
        </p:nvSpPr>
        <p:spPr>
          <a:xfrm>
            <a:off x="6858000" y="2032000"/>
            <a:ext cx="63500" cy="2794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0049C-2541-9D4F-9C70-66692EA6A87E}"/>
              </a:ext>
            </a:extLst>
          </p:cNvPr>
          <p:cNvSpPr txBox="1"/>
          <p:nvPr/>
        </p:nvSpPr>
        <p:spPr>
          <a:xfrm>
            <a:off x="7175500" y="22860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STACK TÉCNICO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009D49-F517-F74D-9154-2E295FD2E2EB}"/>
              </a:ext>
            </a:extLst>
          </p:cNvPr>
          <p:cNvSpPr txBox="1"/>
          <p:nvPr/>
        </p:nvSpPr>
        <p:spPr>
          <a:xfrm>
            <a:off x="7175500" y="2540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Bajo el capó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AC3323-6805-4C47-A48D-128CE4928147}"/>
              </a:ext>
            </a:extLst>
          </p:cNvPr>
          <p:cNvSpPr txBox="1"/>
          <p:nvPr/>
        </p:nvSpPr>
        <p:spPr>
          <a:xfrm>
            <a:off x="7175500" y="3175000"/>
            <a:ext cx="406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LLM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B6583-4FA6-A040-8EAF-DCC991018485}"/>
              </a:ext>
            </a:extLst>
          </p:cNvPr>
          <p:cNvSpPr txBox="1"/>
          <p:nvPr/>
        </p:nvSpPr>
        <p:spPr>
          <a:xfrm>
            <a:off x="7175500" y="33782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DeepSeek vía API OpenAI-compatible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0C401E-600F-3445-8CA0-DB86196A1C4A}"/>
              </a:ext>
            </a:extLst>
          </p:cNvPr>
          <p:cNvSpPr txBox="1"/>
          <p:nvPr/>
        </p:nvSpPr>
        <p:spPr>
          <a:xfrm>
            <a:off x="7175500" y="3733800"/>
            <a:ext cx="406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DATOS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FAA0A-2F85-0D45-9475-1408AD0AC04D}"/>
              </a:ext>
            </a:extLst>
          </p:cNvPr>
          <p:cNvSpPr txBox="1"/>
          <p:nvPr/>
        </p:nvSpPr>
        <p:spPr>
          <a:xfrm>
            <a:off x="7175500" y="39370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Contexto inyectado desde SQLite local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791004-8710-0F4E-9CDB-AC9A668B5D83}"/>
              </a:ext>
            </a:extLst>
          </p:cNvPr>
          <p:cNvSpPr txBox="1"/>
          <p:nvPr/>
        </p:nvSpPr>
        <p:spPr>
          <a:xfrm>
            <a:off x="7175500" y="4292600"/>
            <a:ext cx="406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PATRÓN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EC7CF-E423-8046-BD22-32F69DCB1234}"/>
              </a:ext>
            </a:extLst>
          </p:cNvPr>
          <p:cNvSpPr txBox="1"/>
          <p:nvPr/>
        </p:nvSpPr>
        <p:spPr>
          <a:xfrm>
            <a:off x="7175500" y="44958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Sin RAG — todo en el prompt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DDE24-1AED-2545-B35A-E0E7E67DA8DA}"/>
              </a:ext>
            </a:extLst>
          </p:cNvPr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2C5AA0"/>
                </a:solidFill>
                <a:latin typeface="Inter"/>
              </a:rPr>
              <a:t>"Al terminar las cinco clases, cada uno de ustedes sabrá construir esto. Y mejor."</a:t>
            </a:r>
            <a:endParaRPr lang="en-PE" sz="1500" i="1">
              <a:solidFill>
                <a:srgbClr val="2C5AA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7801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7B660-1B14-9349-AEB1-4875E8FFEBB6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0 · APERTURA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BCDE3-1D7E-D840-B8AC-66CEC295E9CE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Evolución del dev asistido por IA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914C2-1008-4A46-AE28-21589BE85DDC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390F57-D565-774F-BA9D-640AF7701FBB}"/>
              </a:ext>
            </a:extLst>
          </p:cNvPr>
          <p:cNvSpPr/>
          <p:nvPr/>
        </p:nvSpPr>
        <p:spPr>
          <a:xfrm>
            <a:off x="1270000" y="3302000"/>
            <a:ext cx="9652000" cy="25400"/>
          </a:xfrm>
          <a:prstGeom prst="rect">
            <a:avLst/>
          </a:prstGeom>
          <a:solidFill>
            <a:srgbClr val="A8C0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E2EF43-3227-8E41-9339-6EBDA0B111DF}"/>
              </a:ext>
            </a:extLst>
          </p:cNvPr>
          <p:cNvSpPr/>
          <p:nvPr/>
        </p:nvSpPr>
        <p:spPr>
          <a:xfrm>
            <a:off x="1193800" y="3238500"/>
            <a:ext cx="152400" cy="152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AF967-43B0-CC4F-B100-BDB95280D842}"/>
              </a:ext>
            </a:extLst>
          </p:cNvPr>
          <p:cNvSpPr txBox="1"/>
          <p:nvPr/>
        </p:nvSpPr>
        <p:spPr>
          <a:xfrm>
            <a:off x="508000" y="2667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000" b="1">
                <a:solidFill>
                  <a:srgbClr val="0F1E3D"/>
                </a:solidFill>
                <a:latin typeface="Inter"/>
              </a:rPr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2B3B9-8D7C-5646-8667-A68B5ED39360}"/>
              </a:ext>
            </a:extLst>
          </p:cNvPr>
          <p:cNvSpPr txBox="1"/>
          <p:nvPr/>
        </p:nvSpPr>
        <p:spPr>
          <a:xfrm>
            <a:off x="254000" y="3556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ChatGPT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DD845-B699-F940-8130-FC362392CB6D}"/>
              </a:ext>
            </a:extLst>
          </p:cNvPr>
          <p:cNvSpPr txBox="1"/>
          <p:nvPr/>
        </p:nvSpPr>
        <p:spPr>
          <a:xfrm>
            <a:off x="254000" y="38608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Copy-paste
driven dev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921FF2-5BEA-DE45-90A9-6CFE3E3EF8AB}"/>
              </a:ext>
            </a:extLst>
          </p:cNvPr>
          <p:cNvSpPr/>
          <p:nvPr/>
        </p:nvSpPr>
        <p:spPr>
          <a:xfrm>
            <a:off x="3606800" y="3238500"/>
            <a:ext cx="152400" cy="152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B3DBE-4FC8-0442-99D9-D9D0E95CF4AC}"/>
              </a:ext>
            </a:extLst>
          </p:cNvPr>
          <p:cNvSpPr txBox="1"/>
          <p:nvPr/>
        </p:nvSpPr>
        <p:spPr>
          <a:xfrm>
            <a:off x="2921000" y="2667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000" b="1">
                <a:solidFill>
                  <a:srgbClr val="0F1E3D"/>
                </a:solidFill>
                <a:latin typeface="Inter"/>
              </a:rPr>
              <a:t>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92D685-958A-234F-9D6E-3D20DBDEED1A}"/>
              </a:ext>
            </a:extLst>
          </p:cNvPr>
          <p:cNvSpPr txBox="1"/>
          <p:nvPr/>
        </p:nvSpPr>
        <p:spPr>
          <a:xfrm>
            <a:off x="2667000" y="3556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Copilot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F3DE8-7D9B-DB41-AC4E-7099ACD10CF6}"/>
              </a:ext>
            </a:extLst>
          </p:cNvPr>
          <p:cNvSpPr txBox="1"/>
          <p:nvPr/>
        </p:nvSpPr>
        <p:spPr>
          <a:xfrm>
            <a:off x="2667000" y="38608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Autocompletado
in-line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56309C-21AF-C349-BC8E-8E71C0C1E150}"/>
              </a:ext>
            </a:extLst>
          </p:cNvPr>
          <p:cNvSpPr/>
          <p:nvPr/>
        </p:nvSpPr>
        <p:spPr>
          <a:xfrm>
            <a:off x="6019800" y="3238500"/>
            <a:ext cx="152400" cy="152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44E92-7CF9-824B-913A-C752A3D38259}"/>
              </a:ext>
            </a:extLst>
          </p:cNvPr>
          <p:cNvSpPr txBox="1"/>
          <p:nvPr/>
        </p:nvSpPr>
        <p:spPr>
          <a:xfrm>
            <a:off x="5334000" y="2667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000" b="1">
                <a:solidFill>
                  <a:srgbClr val="0F1E3D"/>
                </a:solidFill>
                <a:latin typeface="Inter"/>
              </a:rPr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40075-1076-9849-A0C6-86F6F1A9249D}"/>
              </a:ext>
            </a:extLst>
          </p:cNvPr>
          <p:cNvSpPr txBox="1"/>
          <p:nvPr/>
        </p:nvSpPr>
        <p:spPr>
          <a:xfrm>
            <a:off x="5080000" y="3556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Cursor · Windsurf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5427A-6165-2A48-9A45-C8C147D0C626}"/>
              </a:ext>
            </a:extLst>
          </p:cNvPr>
          <p:cNvSpPr txBox="1"/>
          <p:nvPr/>
        </p:nvSpPr>
        <p:spPr>
          <a:xfrm>
            <a:off x="5080000" y="38608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Chat con
contexto del repo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58A9E3-AA6D-C24C-9E8B-8083DBBD1A18}"/>
              </a:ext>
            </a:extLst>
          </p:cNvPr>
          <p:cNvSpPr/>
          <p:nvPr/>
        </p:nvSpPr>
        <p:spPr>
          <a:xfrm>
            <a:off x="8432800" y="3238500"/>
            <a:ext cx="152400" cy="152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422823-7375-5F41-9315-9540B60AA371}"/>
              </a:ext>
            </a:extLst>
          </p:cNvPr>
          <p:cNvSpPr txBox="1"/>
          <p:nvPr/>
        </p:nvSpPr>
        <p:spPr>
          <a:xfrm>
            <a:off x="7747000" y="2667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000" b="1">
                <a:solidFill>
                  <a:srgbClr val="0F1E3D"/>
                </a:solidFill>
                <a:latin typeface="Inter"/>
              </a:rPr>
              <a:t>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55658B-A6BB-2848-8EF2-35098842615E}"/>
              </a:ext>
            </a:extLst>
          </p:cNvPr>
          <p:cNvSpPr txBox="1"/>
          <p:nvPr/>
        </p:nvSpPr>
        <p:spPr>
          <a:xfrm>
            <a:off x="7493000" y="3556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Claude Code · Codex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944DC5-4958-5548-B90B-7FB8F142B3FB}"/>
              </a:ext>
            </a:extLst>
          </p:cNvPr>
          <p:cNvSpPr txBox="1"/>
          <p:nvPr/>
        </p:nvSpPr>
        <p:spPr>
          <a:xfrm>
            <a:off x="7493000" y="38608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Agentes en
la terminal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8F57CE-2906-CA44-8DBD-21F8AD413D59}"/>
              </a:ext>
            </a:extLst>
          </p:cNvPr>
          <p:cNvSpPr/>
          <p:nvPr/>
        </p:nvSpPr>
        <p:spPr>
          <a:xfrm>
            <a:off x="10807700" y="3200400"/>
            <a:ext cx="228600" cy="228600"/>
          </a:xfrm>
          <a:prstGeom prst="ellipse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F4D9E-011D-6C4B-8A1B-52D800F412BD}"/>
              </a:ext>
            </a:extLst>
          </p:cNvPr>
          <p:cNvSpPr txBox="1"/>
          <p:nvPr/>
        </p:nvSpPr>
        <p:spPr>
          <a:xfrm>
            <a:off x="10160000" y="2667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000" b="1">
                <a:solidFill>
                  <a:srgbClr val="0F1E3D"/>
                </a:solidFill>
                <a:latin typeface="Inter"/>
              </a:rPr>
              <a:t>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20EDC5-88CC-1B40-9F3A-ED5E59EA7ADC}"/>
              </a:ext>
            </a:extLst>
          </p:cNvPr>
          <p:cNvSpPr txBox="1"/>
          <p:nvPr/>
        </p:nvSpPr>
        <p:spPr>
          <a:xfrm>
            <a:off x="9906000" y="3556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ACP + agentes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D34A37-93C9-924A-9C6D-33A3BD7AF875}"/>
              </a:ext>
            </a:extLst>
          </p:cNvPr>
          <p:cNvSpPr txBox="1"/>
          <p:nvPr/>
        </p:nvSpPr>
        <p:spPr>
          <a:xfrm>
            <a:off x="9906000" y="38608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IDE como
orquestador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73076-4CE7-AA4D-8663-6A1E7D8FF4D5}"/>
              </a:ext>
            </a:extLst>
          </p:cNvPr>
          <p:cNvSpPr txBox="1"/>
          <p:nvPr/>
        </p:nvSpPr>
        <p:spPr>
          <a:xfrm>
            <a:off x="762000" y="50800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F3A68"/>
                </a:solidFill>
                <a:latin typeface="Inter"/>
              </a:rPr>
              <a:t>Como developers, ya somos usuarios del software que usa IA. Esto mapea las cinco clases del curso.</a:t>
            </a:r>
            <a:endParaRPr lang="en-PE" sz="15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195430-1B88-2D4E-B2CF-C11CE9B11E9A}"/>
              </a:ext>
            </a:extLst>
          </p:cNvPr>
          <p:cNvSpPr/>
          <p:nvPr/>
        </p:nvSpPr>
        <p:spPr>
          <a:xfrm>
            <a:off x="762000" y="5588000"/>
            <a:ext cx="3429000" cy="95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A252EE-A1A7-DF4D-BBC3-A0DD5C49C567}"/>
              </a:ext>
            </a:extLst>
          </p:cNvPr>
          <p:cNvSpPr/>
          <p:nvPr/>
        </p:nvSpPr>
        <p:spPr>
          <a:xfrm>
            <a:off x="762000" y="5588000"/>
            <a:ext cx="50800" cy="952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E3C31B-1791-D84E-ABEA-A20E522C95E1}"/>
              </a:ext>
            </a:extLst>
          </p:cNvPr>
          <p:cNvSpPr txBox="1"/>
          <p:nvPr/>
        </p:nvSpPr>
        <p:spPr>
          <a:xfrm>
            <a:off x="965200" y="5791200"/>
            <a:ext cx="317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USUARIOS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131398-7102-E642-8407-A88AE859A1F1}"/>
              </a:ext>
            </a:extLst>
          </p:cNvPr>
          <p:cNvSpPr txBox="1"/>
          <p:nvPr/>
        </p:nvSpPr>
        <p:spPr>
          <a:xfrm>
            <a:off x="965200" y="6019800"/>
            <a:ext cx="304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Lo que ya consumimos a diario como devs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FCA3D5-BF1A-024C-A231-5992ABC6030E}"/>
              </a:ext>
            </a:extLst>
          </p:cNvPr>
          <p:cNvSpPr/>
          <p:nvPr/>
        </p:nvSpPr>
        <p:spPr>
          <a:xfrm>
            <a:off x="4381500" y="5588000"/>
            <a:ext cx="3429000" cy="95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06995E-583F-B740-86C9-566F66D4C014}"/>
              </a:ext>
            </a:extLst>
          </p:cNvPr>
          <p:cNvSpPr/>
          <p:nvPr/>
        </p:nvSpPr>
        <p:spPr>
          <a:xfrm>
            <a:off x="4381500" y="5588000"/>
            <a:ext cx="50800" cy="952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ACBBEA-7AAC-A24B-9374-BB2D6E1E1D7D}"/>
              </a:ext>
            </a:extLst>
          </p:cNvPr>
          <p:cNvSpPr txBox="1"/>
          <p:nvPr/>
        </p:nvSpPr>
        <p:spPr>
          <a:xfrm>
            <a:off x="4584700" y="5791200"/>
            <a:ext cx="317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CONSTRUCTORES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835562-CE34-E440-A630-A87F096D32A5}"/>
              </a:ext>
            </a:extLst>
          </p:cNvPr>
          <p:cNvSpPr txBox="1"/>
          <p:nvPr/>
        </p:nvSpPr>
        <p:spPr>
          <a:xfrm>
            <a:off x="4584700" y="6019800"/>
            <a:ext cx="304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Lo que vamos a construir en las 5 clases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07A2AB-D922-7640-8691-F07FE05F920A}"/>
              </a:ext>
            </a:extLst>
          </p:cNvPr>
          <p:cNvSpPr/>
          <p:nvPr/>
        </p:nvSpPr>
        <p:spPr>
          <a:xfrm>
            <a:off x="8001000" y="5588000"/>
            <a:ext cx="3429000" cy="95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BAB238-A73F-3149-BA79-DC8B3DE032D0}"/>
              </a:ext>
            </a:extLst>
          </p:cNvPr>
          <p:cNvSpPr/>
          <p:nvPr/>
        </p:nvSpPr>
        <p:spPr>
          <a:xfrm>
            <a:off x="8001000" y="5588000"/>
            <a:ext cx="50800" cy="952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B354A5-9AF2-AA40-AA14-AB702A9938E3}"/>
              </a:ext>
            </a:extLst>
          </p:cNvPr>
          <p:cNvSpPr txBox="1"/>
          <p:nvPr/>
        </p:nvSpPr>
        <p:spPr>
          <a:xfrm>
            <a:off x="8204200" y="5791200"/>
            <a:ext cx="317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PATRÓN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F77B07-BE87-3F4C-A9EC-86AABA07A4BE}"/>
              </a:ext>
            </a:extLst>
          </p:cNvPr>
          <p:cNvSpPr txBox="1"/>
          <p:nvPr/>
        </p:nvSpPr>
        <p:spPr>
          <a:xfrm>
            <a:off x="8204200" y="6019800"/>
            <a:ext cx="304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El software que administra agentes sobre un LLM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6491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8DD1F5-D6ED-7D42-B8B9-183D4E9D5E33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0 · APERTURA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51603-DD87-CA41-ADA8-ED764F748702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El plano del curso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FB1AE-74BE-CB4C-9A10-A7ECFA50CD88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15477-A1F7-BF48-BEF7-C5618AD1A449}"/>
              </a:ext>
            </a:extLst>
          </p:cNvPr>
          <p:cNvSpPr/>
          <p:nvPr/>
        </p:nvSpPr>
        <p:spPr>
          <a:xfrm>
            <a:off x="762000" y="2159000"/>
            <a:ext cx="2133600" cy="3175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DEE7C-2F60-564F-A1A7-35F308ABE98F}"/>
              </a:ext>
            </a:extLst>
          </p:cNvPr>
          <p:cNvSpPr txBox="1"/>
          <p:nvPr/>
        </p:nvSpPr>
        <p:spPr>
          <a:xfrm>
            <a:off x="965200" y="2413000"/>
            <a:ext cx="1727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8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DB418-6467-2144-B3C5-51212B6EFE19}"/>
              </a:ext>
            </a:extLst>
          </p:cNvPr>
          <p:cNvSpPr txBox="1"/>
          <p:nvPr/>
        </p:nvSpPr>
        <p:spPr>
          <a:xfrm>
            <a:off x="965200" y="330200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A8C0DC"/>
                </a:solidFill>
                <a:latin typeface="Inter"/>
              </a:rPr>
              <a:t>HOY</a:t>
            </a:r>
            <a:endParaRPr lang="en-PE" sz="1000" b="1">
              <a:solidFill>
                <a:srgbClr val="A8C0DC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98F7F-60EF-FE44-A2A6-5FE3C3781EA5}"/>
              </a:ext>
            </a:extLst>
          </p:cNvPr>
          <p:cNvSpPr txBox="1"/>
          <p:nvPr/>
        </p:nvSpPr>
        <p:spPr>
          <a:xfrm>
            <a:off x="965200" y="3556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Inter"/>
              </a:rPr>
              <a:t>Mapa del territorio</a:t>
            </a:r>
            <a:endParaRPr lang="en-PE" sz="1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BAE09-110B-2F4A-A3FA-11F4D39C5F13}"/>
              </a:ext>
            </a:extLst>
          </p:cNvPr>
          <p:cNvSpPr txBox="1"/>
          <p:nvPr/>
        </p:nvSpPr>
        <p:spPr>
          <a:xfrm>
            <a:off x="965200" y="4318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Modelos, proveedores, APIs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0D445B-1080-3E45-B65B-940A56482E5F}"/>
              </a:ext>
            </a:extLst>
          </p:cNvPr>
          <p:cNvSpPr/>
          <p:nvPr/>
        </p:nvSpPr>
        <p:spPr>
          <a:xfrm>
            <a:off x="3022600" y="2159000"/>
            <a:ext cx="2133600" cy="3175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6C550-C34A-C849-BA78-243E71595912}"/>
              </a:ext>
            </a:extLst>
          </p:cNvPr>
          <p:cNvSpPr txBox="1"/>
          <p:nvPr/>
        </p:nvSpPr>
        <p:spPr>
          <a:xfrm>
            <a:off x="3225800" y="2413000"/>
            <a:ext cx="1727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800" b="1">
                <a:solidFill>
                  <a:srgbClr val="A8C0DC"/>
                </a:solidFill>
                <a:latin typeface="Inter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DB171-95AB-E841-8100-DF6B05673129}"/>
              </a:ext>
            </a:extLst>
          </p:cNvPr>
          <p:cNvSpPr txBox="1"/>
          <p:nvPr/>
        </p:nvSpPr>
        <p:spPr>
          <a:xfrm>
            <a:off x="3225800" y="330200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PRÓXIMAS CLASES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F8C06-210C-C44A-A8EB-3BFF5CCA9154}"/>
              </a:ext>
            </a:extLst>
          </p:cNvPr>
          <p:cNvSpPr txBox="1"/>
          <p:nvPr/>
        </p:nvSpPr>
        <p:spPr>
          <a:xfrm>
            <a:off x="3225800" y="3556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Prompts como sistema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E1AFE-0CE2-654D-B437-2210BB778010}"/>
              </a:ext>
            </a:extLst>
          </p:cNvPr>
          <p:cNvSpPr txBox="1"/>
          <p:nvPr/>
        </p:nvSpPr>
        <p:spPr>
          <a:xfrm>
            <a:off x="3225800" y="4318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Inter"/>
              </a:rPr>
              <a:t>Zero-shot, CoT, structured</a:t>
            </a:r>
            <a:endParaRPr lang="en-PE" sz="12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93A08D-F2A5-DB4B-87E1-F5AB5A980590}"/>
              </a:ext>
            </a:extLst>
          </p:cNvPr>
          <p:cNvSpPr/>
          <p:nvPr/>
        </p:nvSpPr>
        <p:spPr>
          <a:xfrm>
            <a:off x="5283200" y="2159000"/>
            <a:ext cx="2133600" cy="3175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981F8-35D6-EC41-BAA1-72B5E5CCA0EF}"/>
              </a:ext>
            </a:extLst>
          </p:cNvPr>
          <p:cNvSpPr txBox="1"/>
          <p:nvPr/>
        </p:nvSpPr>
        <p:spPr>
          <a:xfrm>
            <a:off x="5486400" y="2413000"/>
            <a:ext cx="1727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800" b="1">
                <a:solidFill>
                  <a:srgbClr val="A8C0DC"/>
                </a:solidFill>
                <a:latin typeface="Inter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764CEE-F8B1-A34A-8FC0-A5B2CC1A80DE}"/>
              </a:ext>
            </a:extLst>
          </p:cNvPr>
          <p:cNvSpPr txBox="1"/>
          <p:nvPr/>
        </p:nvSpPr>
        <p:spPr>
          <a:xfrm>
            <a:off x="5486400" y="330200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PRÓXIMAS CLASES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84E8A-649B-2249-935B-51EBD4C6C268}"/>
              </a:ext>
            </a:extLst>
          </p:cNvPr>
          <p:cNvSpPr txBox="1"/>
          <p:nvPr/>
        </p:nvSpPr>
        <p:spPr>
          <a:xfrm>
            <a:off x="5486400" y="3556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Patrones arquitectónicos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115B1D-82B3-6047-BF3B-E400E24F80B0}"/>
              </a:ext>
            </a:extLst>
          </p:cNvPr>
          <p:cNvSpPr txBox="1"/>
          <p:nvPr/>
        </p:nvSpPr>
        <p:spPr>
          <a:xfrm>
            <a:off x="5486400" y="4318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Inter"/>
              </a:rPr>
              <a:t>RAG y orquestación</a:t>
            </a:r>
            <a:endParaRPr lang="en-PE" sz="12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19052-E72F-D747-A25D-31144AF4C938}"/>
              </a:ext>
            </a:extLst>
          </p:cNvPr>
          <p:cNvSpPr/>
          <p:nvPr/>
        </p:nvSpPr>
        <p:spPr>
          <a:xfrm>
            <a:off x="7543800" y="2159000"/>
            <a:ext cx="2133600" cy="3175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32641-E4E4-2342-B72B-090822E5999A}"/>
              </a:ext>
            </a:extLst>
          </p:cNvPr>
          <p:cNvSpPr txBox="1"/>
          <p:nvPr/>
        </p:nvSpPr>
        <p:spPr>
          <a:xfrm>
            <a:off x="7747000" y="2413000"/>
            <a:ext cx="1727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800" b="1">
                <a:solidFill>
                  <a:srgbClr val="A8C0DC"/>
                </a:solidFill>
                <a:latin typeface="Inter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0A07CF-6A26-084D-B7B8-43972D3EDE4F}"/>
              </a:ext>
            </a:extLst>
          </p:cNvPr>
          <p:cNvSpPr txBox="1"/>
          <p:nvPr/>
        </p:nvSpPr>
        <p:spPr>
          <a:xfrm>
            <a:off x="7747000" y="330200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PRÓXIMAS CLASES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585A0-0B7F-1B45-9103-2E0D6855C4E4}"/>
              </a:ext>
            </a:extLst>
          </p:cNvPr>
          <p:cNvSpPr txBox="1"/>
          <p:nvPr/>
        </p:nvSpPr>
        <p:spPr>
          <a:xfrm>
            <a:off x="7747000" y="3556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Aplicaciones end-to-end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75B4D0-B0FE-5640-9453-88DD81480A9C}"/>
              </a:ext>
            </a:extLst>
          </p:cNvPr>
          <p:cNvSpPr txBox="1"/>
          <p:nvPr/>
        </p:nvSpPr>
        <p:spPr>
          <a:xfrm>
            <a:off x="7747000" y="4318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Inter"/>
              </a:rPr>
              <a:t>Tools, agentes, UI</a:t>
            </a:r>
            <a:endParaRPr lang="en-PE" sz="12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E3572E-8F43-634C-8448-FBBB2B06D406}"/>
              </a:ext>
            </a:extLst>
          </p:cNvPr>
          <p:cNvSpPr/>
          <p:nvPr/>
        </p:nvSpPr>
        <p:spPr>
          <a:xfrm>
            <a:off x="9804400" y="2159000"/>
            <a:ext cx="2133600" cy="3175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05A76A-85CA-E74D-A8A0-97F07F330079}"/>
              </a:ext>
            </a:extLst>
          </p:cNvPr>
          <p:cNvSpPr txBox="1"/>
          <p:nvPr/>
        </p:nvSpPr>
        <p:spPr>
          <a:xfrm>
            <a:off x="10007600" y="2413000"/>
            <a:ext cx="1727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800" b="1">
                <a:solidFill>
                  <a:srgbClr val="A8C0DC"/>
                </a:solidFill>
                <a:latin typeface="Inter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28D125-FB01-2B40-A4E2-15372F895A33}"/>
              </a:ext>
            </a:extLst>
          </p:cNvPr>
          <p:cNvSpPr txBox="1"/>
          <p:nvPr/>
        </p:nvSpPr>
        <p:spPr>
          <a:xfrm>
            <a:off x="10007600" y="330200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PRÓXIMAS CLASES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E9D30-4945-5A43-B5D2-E0E9618BD2E9}"/>
              </a:ext>
            </a:extLst>
          </p:cNvPr>
          <p:cNvSpPr txBox="1"/>
          <p:nvPr/>
        </p:nvSpPr>
        <p:spPr>
          <a:xfrm>
            <a:off x="10007600" y="3556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Despliegue y producción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48959D-7068-874F-A047-3184EAC50F76}"/>
              </a:ext>
            </a:extLst>
          </p:cNvPr>
          <p:cNvSpPr txBox="1"/>
          <p:nvPr/>
        </p:nvSpPr>
        <p:spPr>
          <a:xfrm>
            <a:off x="10007600" y="43180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Inter"/>
              </a:rPr>
              <a:t>Observabilidad, eval</a:t>
            </a:r>
            <a:endParaRPr lang="en-PE" sz="12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60805D-F508-574E-ACAB-FC12770DBD94}"/>
              </a:ext>
            </a:extLst>
          </p:cNvPr>
          <p:cNvSpPr txBox="1"/>
          <p:nvPr/>
        </p:nvSpPr>
        <p:spPr>
          <a:xfrm>
            <a:off x="762000" y="57150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1F3A68"/>
                </a:solidFill>
                <a:latin typeface="Inter"/>
              </a:rPr>
              <a:t>Clase 1 es panorámica — el mapa del territorio. Las clases 2-5 entran a construir.</a:t>
            </a:r>
            <a:endParaRPr lang="en-PE" sz="15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1474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17342-5677-AE42-B49E-A8D0E8752036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1 · FUNDAMENTOS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6AE2C-7DCF-324C-8013-9C2F40613715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¿Qué es un LLM?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A1A12-41C3-1B49-BA6C-3B4CD0D0F32A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62FBA-9972-884D-BA61-D832EB570BD5}"/>
              </a:ext>
            </a:extLst>
          </p:cNvPr>
          <p:cNvSpPr txBox="1"/>
          <p:nvPr/>
        </p:nvSpPr>
        <p:spPr>
          <a:xfrm>
            <a:off x="762000" y="203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0F1E3D"/>
                </a:solidFill>
                <a:latin typeface="Inter"/>
              </a:rPr>
              <a:t>Red neuronal profunda (Transformer) entrenada sobre decenas de TB de texto con un objetivo autosupervisado: predecir el siguiente token.</a:t>
            </a:r>
            <a:endParaRPr lang="en-PE" sz="17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45BCA-9C3E-C345-8408-224EEE9C320E}"/>
              </a:ext>
            </a:extLst>
          </p:cNvPr>
          <p:cNvSpPr/>
          <p:nvPr/>
        </p:nvSpPr>
        <p:spPr>
          <a:xfrm>
            <a:off x="762000" y="3048000"/>
            <a:ext cx="3175000" cy="406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053F2-6A32-7C45-A91D-DD590AE9BECE}"/>
              </a:ext>
            </a:extLst>
          </p:cNvPr>
          <p:cNvSpPr txBox="1"/>
          <p:nvPr/>
        </p:nvSpPr>
        <p:spPr>
          <a:xfrm>
            <a:off x="939800" y="3149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EFF73-41C1-F845-AB6D-81962FB57A83}"/>
              </a:ext>
            </a:extLst>
          </p:cNvPr>
          <p:cNvSpPr/>
          <p:nvPr/>
        </p:nvSpPr>
        <p:spPr>
          <a:xfrm>
            <a:off x="4191000" y="3048000"/>
            <a:ext cx="3429000" cy="406400"/>
          </a:xfrm>
          <a:prstGeom prst="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18EF3-5050-B84C-8FED-9458AB5D91B1}"/>
              </a:ext>
            </a:extLst>
          </p:cNvPr>
          <p:cNvSpPr txBox="1"/>
          <p:nvPr/>
        </p:nvSpPr>
        <p:spPr>
          <a:xfrm>
            <a:off x="4368800" y="31496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ML clásico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E82F6-F1DD-D549-86BA-2A1DEF467FC7}"/>
              </a:ext>
            </a:extLst>
          </p:cNvPr>
          <p:cNvSpPr/>
          <p:nvPr/>
        </p:nvSpPr>
        <p:spPr>
          <a:xfrm>
            <a:off x="7874000" y="3048000"/>
            <a:ext cx="3302000" cy="406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79C5C-2E80-AE42-8905-ABA5408CD084}"/>
              </a:ext>
            </a:extLst>
          </p:cNvPr>
          <p:cNvSpPr txBox="1"/>
          <p:nvPr/>
        </p:nvSpPr>
        <p:spPr>
          <a:xfrm>
            <a:off x="8051800" y="314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Inter"/>
              </a:rPr>
              <a:t>LLM / fundacional</a:t>
            </a:r>
            <a:endParaRPr lang="en-PE" sz="12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F931D9-F4F0-8F42-98C9-40CE16B16CAB}"/>
              </a:ext>
            </a:extLst>
          </p:cNvPr>
          <p:cNvSpPr/>
          <p:nvPr/>
        </p:nvSpPr>
        <p:spPr>
          <a:xfrm>
            <a:off x="762000" y="3454400"/>
            <a:ext cx="9906000" cy="558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4055F2-3085-024C-8F5B-2B251E596288}"/>
              </a:ext>
            </a:extLst>
          </p:cNvPr>
          <p:cNvSpPr txBox="1"/>
          <p:nvPr/>
        </p:nvSpPr>
        <p:spPr>
          <a:xfrm>
            <a:off x="939800" y="36068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Modelo por tarea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030C7-802D-3A4C-9138-C89BE0C1A4A0}"/>
              </a:ext>
            </a:extLst>
          </p:cNvPr>
          <p:cNvSpPr txBox="1"/>
          <p:nvPr/>
        </p:nvSpPr>
        <p:spPr>
          <a:xfrm>
            <a:off x="4368800" y="36068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Uno por tarea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403E41-DB18-FF46-9951-6765B90FFD4D}"/>
              </a:ext>
            </a:extLst>
          </p:cNvPr>
          <p:cNvSpPr txBox="1"/>
          <p:nvPr/>
        </p:nvSpPr>
        <p:spPr>
          <a:xfrm>
            <a:off x="8051800" y="36068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Uno para cientos de tareas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066C7-4C0B-174B-82D6-251F461AF6E0}"/>
              </a:ext>
            </a:extLst>
          </p:cNvPr>
          <p:cNvSpPr txBox="1"/>
          <p:nvPr/>
        </p:nvSpPr>
        <p:spPr>
          <a:xfrm>
            <a:off x="939800" y="41656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Adaptación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7A2333-A036-A440-B509-8A1B7BEC33A3}"/>
              </a:ext>
            </a:extLst>
          </p:cNvPr>
          <p:cNvSpPr txBox="1"/>
          <p:nvPr/>
        </p:nvSpPr>
        <p:spPr>
          <a:xfrm>
            <a:off x="4368800" y="41656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Fine-tuning específico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3DFC7C-159E-4947-8D71-829A770D35D5}"/>
              </a:ext>
            </a:extLst>
          </p:cNvPr>
          <p:cNvSpPr txBox="1"/>
          <p:nvPr/>
        </p:nvSpPr>
        <p:spPr>
          <a:xfrm>
            <a:off x="8051800" y="4165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Prompting en lenguaje natural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38CF6C-BB0F-E74C-B580-A0816703BB25}"/>
              </a:ext>
            </a:extLst>
          </p:cNvPr>
          <p:cNvSpPr/>
          <p:nvPr/>
        </p:nvSpPr>
        <p:spPr>
          <a:xfrm>
            <a:off x="762000" y="4572000"/>
            <a:ext cx="9906000" cy="558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0CEC7-D314-FD43-AFF1-72679DFA1B23}"/>
              </a:ext>
            </a:extLst>
          </p:cNvPr>
          <p:cNvSpPr txBox="1"/>
          <p:nvPr/>
        </p:nvSpPr>
        <p:spPr>
          <a:xfrm>
            <a:off x="939800" y="47244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Datos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25FC6-858A-2F4E-9075-E1892D0CCB3A}"/>
              </a:ext>
            </a:extLst>
          </p:cNvPr>
          <p:cNvSpPr txBox="1"/>
          <p:nvPr/>
        </p:nvSpPr>
        <p:spPr>
          <a:xfrm>
            <a:off x="4368800" y="47244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Etiquetados + features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5E9F17-76DC-184F-BD71-BEE6D0B122FE}"/>
              </a:ext>
            </a:extLst>
          </p:cNvPr>
          <p:cNvSpPr txBox="1"/>
          <p:nvPr/>
        </p:nvSpPr>
        <p:spPr>
          <a:xfrm>
            <a:off x="8051800" y="47244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Texto crudo, autosupervisado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0C8E0B-6129-7246-95CA-A2812C380F8E}"/>
              </a:ext>
            </a:extLst>
          </p:cNvPr>
          <p:cNvSpPr txBox="1"/>
          <p:nvPr/>
        </p:nvSpPr>
        <p:spPr>
          <a:xfrm>
            <a:off x="939800" y="52832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Al escalar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26CC77-CC00-AA49-ACC0-0419D09DE778}"/>
              </a:ext>
            </a:extLst>
          </p:cNvPr>
          <p:cNvSpPr txBox="1"/>
          <p:nvPr/>
        </p:nvSpPr>
        <p:spPr>
          <a:xfrm>
            <a:off x="4368800" y="5283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Se satura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8C095E-D166-094A-A24D-19F908EBA06B}"/>
              </a:ext>
            </a:extLst>
          </p:cNvPr>
          <p:cNvSpPr txBox="1"/>
          <p:nvPr/>
        </p:nvSpPr>
        <p:spPr>
          <a:xfrm>
            <a:off x="8051800" y="52832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Sigue leyes de potencia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68618C-B6E2-C944-B867-D3BD1806199F}"/>
              </a:ext>
            </a:extLst>
          </p:cNvPr>
          <p:cNvSpPr txBox="1"/>
          <p:nvPr/>
        </p:nvSpPr>
        <p:spPr>
          <a:xfrm>
            <a:off x="762000" y="59055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Consecuencia para el developer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4C66B9-85C7-374D-9A60-0811492BE1D9}"/>
              </a:ext>
            </a:extLst>
          </p:cNvPr>
          <p:cNvSpPr txBox="1"/>
          <p:nvPr/>
        </p:nvSpPr>
        <p:spPr>
          <a:xfrm>
            <a:off x="762000" y="61595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0F1E3D"/>
                </a:solidFill>
                <a:latin typeface="Inter"/>
              </a:rPr>
              <a:t>Ya no entrenamos modelos. Los consumimos como capa de infraestructura y construimos alrededor.</a:t>
            </a:r>
            <a:endParaRPr lang="en-PE" sz="15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5318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2E98A79F-269B-1649-981A-2E8D19C741AA}"/>
              </a:ext>
            </a:extLst>
          </p:cNvPr>
          <p:cNvSpPr txBox="1"/>
          <p:nvPr/>
        </p:nvSpPr>
        <p:spPr>
          <a:xfrm>
            <a:off x="762000" y="6096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1 · MARCO CONCEPTUAL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1ED292-6A08-E042-ADC4-923F0CEA19CA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0F1E3D"/>
                </a:solidFill>
                <a:latin typeface="Inter"/>
              </a:rPr>
              <a:t>Tres capas del stack de IA generativa</a:t>
            </a:r>
            <a:endParaRPr lang="en-PE" sz="3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6D6E15-0DBE-504A-88AD-73ED1643D06E}"/>
              </a:ext>
            </a:extLst>
          </p:cNvPr>
          <p:cNvSpPr/>
          <p:nvPr/>
        </p:nvSpPr>
        <p:spPr>
          <a:xfrm>
            <a:off x="762000" y="1549400"/>
            <a:ext cx="1016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6C636B-1317-9844-A2B8-64AAE0641873}"/>
              </a:ext>
            </a:extLst>
          </p:cNvPr>
          <p:cNvSpPr/>
          <p:nvPr/>
        </p:nvSpPr>
        <p:spPr>
          <a:xfrm>
            <a:off x="762000" y="1905000"/>
            <a:ext cx="10668000" cy="1371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7D28C7-2C96-9E43-AE8A-03BD0A2D4A8F}"/>
              </a:ext>
            </a:extLst>
          </p:cNvPr>
          <p:cNvSpPr/>
          <p:nvPr/>
        </p:nvSpPr>
        <p:spPr>
          <a:xfrm>
            <a:off x="762000" y="1905000"/>
            <a:ext cx="63500" cy="13716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FDD749-9174-D148-BC97-D6C839EE27F3}"/>
              </a:ext>
            </a:extLst>
          </p:cNvPr>
          <p:cNvSpPr txBox="1"/>
          <p:nvPr/>
        </p:nvSpPr>
        <p:spPr>
          <a:xfrm>
            <a:off x="1066800" y="2235200"/>
            <a:ext cx="88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400" b="1">
                <a:solidFill>
                  <a:srgbClr val="A8C0DC"/>
                </a:solidFill>
                <a:latin typeface="Inter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DC3E4F-7BC3-544E-88D3-270DA02DE9F2}"/>
              </a:ext>
            </a:extLst>
          </p:cNvPr>
          <p:cNvSpPr txBox="1"/>
          <p:nvPr/>
        </p:nvSpPr>
        <p:spPr>
          <a:xfrm>
            <a:off x="2159000" y="22606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Software que administra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274B3F-1D16-3941-88DA-7430871E902B}"/>
              </a:ext>
            </a:extLst>
          </p:cNvPr>
          <p:cNvSpPr txBox="1"/>
          <p:nvPr/>
        </p:nvSpPr>
        <p:spPr>
          <a:xfrm>
            <a:off x="2159000" y="2692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La aplicación que el usuario final usa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4D274A0-7B8D-2343-93AC-267BF89C3060}"/>
              </a:ext>
            </a:extLst>
          </p:cNvPr>
          <p:cNvSpPr/>
          <p:nvPr/>
        </p:nvSpPr>
        <p:spPr>
          <a:xfrm>
            <a:off x="762000" y="3454400"/>
            <a:ext cx="10668000" cy="1371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A0D452-790D-2347-8CD2-3E0653F8C14D}"/>
              </a:ext>
            </a:extLst>
          </p:cNvPr>
          <p:cNvSpPr/>
          <p:nvPr/>
        </p:nvSpPr>
        <p:spPr>
          <a:xfrm>
            <a:off x="762000" y="3454400"/>
            <a:ext cx="63500" cy="13716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CA62FB-26ED-B049-B53E-2A452CFE1108}"/>
              </a:ext>
            </a:extLst>
          </p:cNvPr>
          <p:cNvSpPr txBox="1"/>
          <p:nvPr/>
        </p:nvSpPr>
        <p:spPr>
          <a:xfrm>
            <a:off x="1066800" y="3784600"/>
            <a:ext cx="88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400" b="1">
                <a:solidFill>
                  <a:srgbClr val="A8C0DC"/>
                </a:solidFill>
                <a:latin typeface="Inter"/>
              </a:rPr>
              <a:t>02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0BE964-F7CC-B64D-9A44-B1E46EA8668C}"/>
              </a:ext>
            </a:extLst>
          </p:cNvPr>
          <p:cNvSpPr txBox="1"/>
          <p:nvPr/>
        </p:nvSpPr>
        <p:spPr>
          <a:xfrm>
            <a:off x="2159000" y="3810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Capa agéntica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6AF546-1FC2-7846-AAF2-837C6EC0FCA1}"/>
              </a:ext>
            </a:extLst>
          </p:cNvPr>
          <p:cNvSpPr txBox="1"/>
          <p:nvPr/>
        </p:nvSpPr>
        <p:spPr>
          <a:xfrm>
            <a:off x="2159000" y="4241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Prompts, tools, memoria, orquestación, guardrails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76D2A1E-D0C1-3946-8510-8DCF56F9E51C}"/>
              </a:ext>
            </a:extLst>
          </p:cNvPr>
          <p:cNvSpPr/>
          <p:nvPr/>
        </p:nvSpPr>
        <p:spPr>
          <a:xfrm>
            <a:off x="762000" y="5003800"/>
            <a:ext cx="10668000" cy="1371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3710614-44CD-A44F-B4C8-A702DA3F1970}"/>
              </a:ext>
            </a:extLst>
          </p:cNvPr>
          <p:cNvSpPr/>
          <p:nvPr/>
        </p:nvSpPr>
        <p:spPr>
          <a:xfrm>
            <a:off x="762000" y="5003800"/>
            <a:ext cx="63500" cy="13716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8515838-7AA2-E84A-A120-6504A244333C}"/>
              </a:ext>
            </a:extLst>
          </p:cNvPr>
          <p:cNvSpPr txBox="1"/>
          <p:nvPr/>
        </p:nvSpPr>
        <p:spPr>
          <a:xfrm>
            <a:off x="1066800" y="5334000"/>
            <a:ext cx="88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4400" b="1">
                <a:solidFill>
                  <a:srgbClr val="A8C0DC"/>
                </a:solidFill>
                <a:latin typeface="Inter"/>
              </a:rPr>
              <a:t>03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6EE566-975E-A242-AE91-02BC1FB3456D}"/>
              </a:ext>
            </a:extLst>
          </p:cNvPr>
          <p:cNvSpPr txBox="1"/>
          <p:nvPr/>
        </p:nvSpPr>
        <p:spPr>
          <a:xfrm>
            <a:off x="2159000" y="53594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LLM base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AF3480-282A-1041-8EC1-0CCD1E8BD388}"/>
              </a:ext>
            </a:extLst>
          </p:cNvPr>
          <p:cNvSpPr txBox="1"/>
          <p:nvPr/>
        </p:nvSpPr>
        <p:spPr>
          <a:xfrm>
            <a:off x="2159000" y="5791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El modelo crudo. Recibe tokens, devuelve tokens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E15789-3494-494F-9AE6-BA01C0F41147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1F3A68"/>
                </a:solidFill>
                <a:latin typeface="Inter"/>
              </a:rPr>
              <a:t>El LLM es una capa de infraestructura. La diferenciación del producto vive alrededor.</a:t>
            </a:r>
            <a:endParaRPr lang="en-PE" sz="14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D512F17C-DA1E-3B4F-86C6-F11E0C2378A6}"/>
              </a:ext>
            </a:extLst>
          </p:cNvPr>
          <p:cNvSpPr/>
          <p:nvPr/>
        </p:nvSpPr>
        <p:spPr>
          <a:xfrm>
            <a:off x="8234680" y="2451100"/>
            <a:ext cx="77724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tu app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05E1E02-E6E0-3D48-A543-74C33E919F12}"/>
              </a:ext>
            </a:extLst>
          </p:cNvPr>
          <p:cNvSpPr/>
          <p:nvPr/>
        </p:nvSpPr>
        <p:spPr>
          <a:xfrm>
            <a:off x="9088120" y="2451100"/>
            <a:ext cx="77724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Cursor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722F9D6-725B-524A-A059-579D96598439}"/>
              </a:ext>
            </a:extLst>
          </p:cNvPr>
          <p:cNvSpPr/>
          <p:nvPr/>
        </p:nvSpPr>
        <p:spPr>
          <a:xfrm>
            <a:off x="9941560" y="2451100"/>
            <a:ext cx="123444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Claude Code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CB85F39-B3CB-3C4A-AA12-07CA25864E5B}"/>
              </a:ext>
            </a:extLst>
          </p:cNvPr>
          <p:cNvSpPr/>
          <p:nvPr/>
        </p:nvSpPr>
        <p:spPr>
          <a:xfrm>
            <a:off x="8046720" y="4000500"/>
            <a:ext cx="6858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loops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C5D1CBBF-EEE6-A743-9E86-627EEFDC74FC}"/>
              </a:ext>
            </a:extLst>
          </p:cNvPr>
          <p:cNvSpPr/>
          <p:nvPr/>
        </p:nvSpPr>
        <p:spPr>
          <a:xfrm>
            <a:off x="8808720" y="4000500"/>
            <a:ext cx="6858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tools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C5A9102-AC8A-564A-8BF7-218064D52A1E}"/>
              </a:ext>
            </a:extLst>
          </p:cNvPr>
          <p:cNvSpPr/>
          <p:nvPr/>
        </p:nvSpPr>
        <p:spPr>
          <a:xfrm>
            <a:off x="9570720" y="4000500"/>
            <a:ext cx="86868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memoria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2CAC1F41-F110-4348-8B0E-E025B87695F4}"/>
              </a:ext>
            </a:extLst>
          </p:cNvPr>
          <p:cNvSpPr/>
          <p:nvPr/>
        </p:nvSpPr>
        <p:spPr>
          <a:xfrm>
            <a:off x="10515600" y="4000500"/>
            <a:ext cx="6604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MCP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8B94356D-42F2-4E4D-A8E9-DD92D53A9102}"/>
              </a:ext>
            </a:extLst>
          </p:cNvPr>
          <p:cNvSpPr/>
          <p:nvPr/>
        </p:nvSpPr>
        <p:spPr>
          <a:xfrm>
            <a:off x="7035800" y="5549900"/>
            <a:ext cx="77724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Claude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80A2B4E-6A97-CF48-8BF6-F116A40A9840}"/>
              </a:ext>
            </a:extLst>
          </p:cNvPr>
          <p:cNvSpPr/>
          <p:nvPr/>
        </p:nvSpPr>
        <p:spPr>
          <a:xfrm>
            <a:off x="7889240" y="5549900"/>
            <a:ext cx="6604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GPT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9741640-A393-1946-946D-CB6307E93420}"/>
              </a:ext>
            </a:extLst>
          </p:cNvPr>
          <p:cNvSpPr/>
          <p:nvPr/>
        </p:nvSpPr>
        <p:spPr>
          <a:xfrm>
            <a:off x="8625840" y="5549900"/>
            <a:ext cx="77724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Gemini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35CB308-F618-344E-9DFF-C14B6489900F}"/>
              </a:ext>
            </a:extLst>
          </p:cNvPr>
          <p:cNvSpPr/>
          <p:nvPr/>
        </p:nvSpPr>
        <p:spPr>
          <a:xfrm>
            <a:off x="9479280" y="5549900"/>
            <a:ext cx="960119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DeepSeek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FD6B26F1-216A-2948-B267-67A25A2EC4B8}"/>
              </a:ext>
            </a:extLst>
          </p:cNvPr>
          <p:cNvSpPr/>
          <p:nvPr/>
        </p:nvSpPr>
        <p:spPr>
          <a:xfrm>
            <a:off x="10515600" y="5549900"/>
            <a:ext cx="660400" cy="27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Qwen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60801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93505-8174-DE4C-A0CF-3B8BA339FFFE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1 · FUNDAMENTOS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A1DEC-DC83-B746-B888-183401DBE8B3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El Transformer en una idea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BC59E-F580-4F4A-907E-4B3BBBCBAC4D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CA654-9533-B54F-8864-5887765FF475}"/>
              </a:ext>
            </a:extLst>
          </p:cNvPr>
          <p:cNvSpPr txBox="1"/>
          <p:nvPr/>
        </p:nvSpPr>
        <p:spPr>
          <a:xfrm>
            <a:off x="762000" y="19050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4A7FC1"/>
                </a:solidFill>
                <a:latin typeface="Inter"/>
              </a:rPr>
              <a:t>Attention Is All You Need · Vaswani et al. · 2017</a:t>
            </a:r>
            <a:endParaRPr lang="en-PE" sz="12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76201-2592-6E46-BE99-CBC872E7E1E6}"/>
              </a:ext>
            </a:extLst>
          </p:cNvPr>
          <p:cNvSpPr/>
          <p:nvPr/>
        </p:nvSpPr>
        <p:spPr>
          <a:xfrm>
            <a:off x="762000" y="2540000"/>
            <a:ext cx="3429000" cy="222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0D750-6025-094B-9439-120C6E20F515}"/>
              </a:ext>
            </a:extLst>
          </p:cNvPr>
          <p:cNvSpPr txBox="1"/>
          <p:nvPr/>
        </p:nvSpPr>
        <p:spPr>
          <a:xfrm>
            <a:off x="1016000" y="2743200"/>
            <a:ext cx="101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600" b="1">
                <a:solidFill>
                  <a:srgbClr val="2C5AA0"/>
                </a:solidFill>
                <a:latin typeface="Inter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B2514-10B5-ED4A-8919-83A6259C9E8C}"/>
              </a:ext>
            </a:extLst>
          </p:cNvPr>
          <p:cNvSpPr txBox="1"/>
          <p:nvPr/>
        </p:nvSpPr>
        <p:spPr>
          <a:xfrm>
            <a:off x="1016000" y="36830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E3D"/>
                </a:solidFill>
                <a:latin typeface="Inter"/>
              </a:rPr>
              <a:t>Tokenización</a:t>
            </a:r>
            <a:endParaRPr lang="en-PE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96FFE-A335-BC4B-9145-DD00C4FAE3BF}"/>
              </a:ext>
            </a:extLst>
          </p:cNvPr>
          <p:cNvSpPr txBox="1"/>
          <p:nvPr/>
        </p:nvSpPr>
        <p:spPr>
          <a:xfrm>
            <a:off x="1016000" y="4038600"/>
            <a:ext cx="2921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El texto se parte en tokens (subpalabras). Cada uno se mapea a un vector denso de miles de dimensiones.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46E9E-483A-0C4E-8C83-84223761EA9C}"/>
              </a:ext>
            </a:extLst>
          </p:cNvPr>
          <p:cNvSpPr/>
          <p:nvPr/>
        </p:nvSpPr>
        <p:spPr>
          <a:xfrm>
            <a:off x="4381500" y="2540000"/>
            <a:ext cx="3429000" cy="222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9AFA1-6F03-9446-AE6B-5E8087B93488}"/>
              </a:ext>
            </a:extLst>
          </p:cNvPr>
          <p:cNvSpPr txBox="1"/>
          <p:nvPr/>
        </p:nvSpPr>
        <p:spPr>
          <a:xfrm>
            <a:off x="4635500" y="2743200"/>
            <a:ext cx="101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600" b="1">
                <a:solidFill>
                  <a:srgbClr val="2C5AA0"/>
                </a:solidFill>
                <a:latin typeface="Inter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97409-7C18-C042-AB15-C23FF0C3C488}"/>
              </a:ext>
            </a:extLst>
          </p:cNvPr>
          <p:cNvSpPr txBox="1"/>
          <p:nvPr/>
        </p:nvSpPr>
        <p:spPr>
          <a:xfrm>
            <a:off x="4635500" y="36830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E3D"/>
                </a:solidFill>
                <a:latin typeface="Inter"/>
              </a:rPr>
              <a:t>Self-attention</a:t>
            </a:r>
            <a:endParaRPr lang="en-PE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874CDA-088B-8C46-A2AF-E7535335DF49}"/>
              </a:ext>
            </a:extLst>
          </p:cNvPr>
          <p:cNvSpPr txBox="1"/>
          <p:nvPr/>
        </p:nvSpPr>
        <p:spPr>
          <a:xfrm>
            <a:off x="4635500" y="4038600"/>
            <a:ext cx="2921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Cada token "mira" a todos los demás del contexto y pesa cuánto importa cada uno. Todas las posiciones en paralelo.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9FA781-99EB-FC4D-AB25-199FD21F86F8}"/>
              </a:ext>
            </a:extLst>
          </p:cNvPr>
          <p:cNvSpPr/>
          <p:nvPr/>
        </p:nvSpPr>
        <p:spPr>
          <a:xfrm>
            <a:off x="8001000" y="2540000"/>
            <a:ext cx="3429000" cy="222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5230D-3FC3-654C-AD85-33801B06EA0D}"/>
              </a:ext>
            </a:extLst>
          </p:cNvPr>
          <p:cNvSpPr txBox="1"/>
          <p:nvPr/>
        </p:nvSpPr>
        <p:spPr>
          <a:xfrm>
            <a:off x="8255000" y="2743200"/>
            <a:ext cx="101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600" b="1">
                <a:solidFill>
                  <a:srgbClr val="2C5AA0"/>
                </a:solidFill>
                <a:latin typeface="Inter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78C8F1-4BC3-0141-AB5A-A8E2C5F1BE05}"/>
              </a:ext>
            </a:extLst>
          </p:cNvPr>
          <p:cNvSpPr txBox="1"/>
          <p:nvPr/>
        </p:nvSpPr>
        <p:spPr>
          <a:xfrm>
            <a:off x="8255000" y="36830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E3D"/>
                </a:solidFill>
                <a:latin typeface="Inter"/>
              </a:rPr>
              <a:t>Autoregresivo</a:t>
            </a:r>
            <a:endParaRPr lang="en-PE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BE1A62-0C42-4F4C-9D88-C151825B2037}"/>
              </a:ext>
            </a:extLst>
          </p:cNvPr>
          <p:cNvSpPr txBox="1"/>
          <p:nvPr/>
        </p:nvSpPr>
        <p:spPr>
          <a:xfrm>
            <a:off x="8255000" y="4038600"/>
            <a:ext cx="2921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En inferencia predice un token, lo concatena y repite. Es el streaming que vemos en los chatbots.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D2515-CB64-BB4D-B70C-28C0474C2A99}"/>
              </a:ext>
            </a:extLst>
          </p:cNvPr>
          <p:cNvSpPr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F805F9-7F89-BC47-A3C5-DA7FB54D2856}"/>
              </a:ext>
            </a:extLst>
          </p:cNvPr>
          <p:cNvSpPr txBox="1"/>
          <p:nvPr/>
        </p:nvSpPr>
        <p:spPr>
          <a:xfrm>
            <a:off x="1016000" y="52705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ANALOGÍA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1DBA1-F17C-5346-B44E-6D62E0E9F568}"/>
              </a:ext>
            </a:extLst>
          </p:cNvPr>
          <p:cNvSpPr txBox="1"/>
          <p:nvPr/>
        </p:nvSpPr>
        <p:spPr>
          <a:xfrm>
            <a:off x="1016000" y="5461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FFFFFF"/>
                </a:solidFill>
                <a:latin typeface="Inter"/>
              </a:rPr>
              <a:t>El Transformer es una mesa redonda donde cada palabra escucha a todas las demás antes de hablar.</a:t>
            </a:r>
            <a:endParaRPr lang="en-PE" sz="1600" i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B94F8-CAC0-BD4E-BD91-6F8FE5C9A5D2}"/>
              </a:ext>
            </a:extLst>
          </p:cNvPr>
          <p:cNvSpPr txBox="1"/>
          <p:nvPr/>
        </p:nvSpPr>
        <p:spPr>
          <a:xfrm>
            <a:off x="762000" y="6096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Con esto el dev entiende por qué el modelo tiene ventana de contexto finita y por qué genera token a token.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6544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E771A5-A031-484F-8D25-61A3CD424C24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1 · FUNDAMENTOS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658E0-E40E-1841-8D96-35E482549B77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Chat vs razonador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E93EB-8109-2F4B-B6F4-4608E92E7EF3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La distinción más importante de 2025-2026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67709-ED5B-D54C-9CCE-EF4BDC5A9F08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7F935-B784-B042-B410-27E24A678A06}"/>
              </a:ext>
            </a:extLst>
          </p:cNvPr>
          <p:cNvSpPr/>
          <p:nvPr/>
        </p:nvSpPr>
        <p:spPr>
          <a:xfrm>
            <a:off x="762000" y="2095500"/>
            <a:ext cx="5207000" cy="4318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A6D76-D8A3-C349-A248-677396C3632C}"/>
              </a:ext>
            </a:extLst>
          </p:cNvPr>
          <p:cNvSpPr/>
          <p:nvPr/>
        </p:nvSpPr>
        <p:spPr>
          <a:xfrm>
            <a:off x="762000" y="2095500"/>
            <a:ext cx="63500" cy="4318000"/>
          </a:xfrm>
          <a:prstGeom prst="rect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5BD39-E498-B64E-ABE6-478A34394964}"/>
              </a:ext>
            </a:extLst>
          </p:cNvPr>
          <p:cNvSpPr txBox="1"/>
          <p:nvPr/>
        </p:nvSpPr>
        <p:spPr>
          <a:xfrm>
            <a:off x="1066800" y="2349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MODELO CHAT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E636D-EB62-6B49-9AF6-B95440078FF4}"/>
              </a:ext>
            </a:extLst>
          </p:cNvPr>
          <p:cNvSpPr txBox="1"/>
          <p:nvPr/>
        </p:nvSpPr>
        <p:spPr>
          <a:xfrm>
            <a:off x="1066800" y="2603500"/>
            <a:ext cx="4699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Un forward pass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589CA-42E5-234F-822B-A24A7028852A}"/>
              </a:ext>
            </a:extLst>
          </p:cNvPr>
          <p:cNvSpPr txBox="1"/>
          <p:nvPr/>
        </p:nvSpPr>
        <p:spPr>
          <a:xfrm>
            <a:off x="1066800" y="32385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LATENCIA TTFT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D2FC7-5D1E-E346-A345-EAD3A8BC3A3F}"/>
              </a:ext>
            </a:extLst>
          </p:cNvPr>
          <p:cNvSpPr txBox="1"/>
          <p:nvPr/>
        </p:nvSpPr>
        <p:spPr>
          <a:xfrm>
            <a:off x="1066800" y="34163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200–500 ms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72465-9192-E24C-B1B0-D349A6C64D2A}"/>
              </a:ext>
            </a:extLst>
          </p:cNvPr>
          <p:cNvSpPr txBox="1"/>
          <p:nvPr/>
        </p:nvSpPr>
        <p:spPr>
          <a:xfrm>
            <a:off x="1066800" y="39751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COSTE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81531-1ADE-474B-BCE5-07F566803129}"/>
              </a:ext>
            </a:extLst>
          </p:cNvPr>
          <p:cNvSpPr txBox="1"/>
          <p:nvPr/>
        </p:nvSpPr>
        <p:spPr>
          <a:xfrm>
            <a:off x="1066800" y="41529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Bajo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248F2-FE67-454D-9107-AAD1AB76F0CA}"/>
              </a:ext>
            </a:extLst>
          </p:cNvPr>
          <p:cNvSpPr txBox="1"/>
          <p:nvPr/>
        </p:nvSpPr>
        <p:spPr>
          <a:xfrm>
            <a:off x="1066800" y="47117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MEJOR EN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C709D-4E02-C64E-A9EB-B08E3B2BB904}"/>
              </a:ext>
            </a:extLst>
          </p:cNvPr>
          <p:cNvSpPr txBox="1"/>
          <p:nvPr/>
        </p:nvSpPr>
        <p:spPr>
          <a:xfrm>
            <a:off x="1066800" y="48895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Conversación, extracción, RAG, clasificación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D45C6-3EEB-5248-8A90-C705B08111B1}"/>
              </a:ext>
            </a:extLst>
          </p:cNvPr>
          <p:cNvSpPr txBox="1"/>
          <p:nvPr/>
        </p:nvSpPr>
        <p:spPr>
          <a:xfrm>
            <a:off x="1066800" y="54483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EJEMPLOS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91682-1E3C-B24E-827E-13B0FFBB8324}"/>
              </a:ext>
            </a:extLst>
          </p:cNvPr>
          <p:cNvSpPr txBox="1"/>
          <p:nvPr/>
        </p:nvSpPr>
        <p:spPr>
          <a:xfrm>
            <a:off x="1066800" y="56261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GPT-4o, Claude Sonnet, Gemini Flash, DeepSeek-chat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F6D1CC-8B7F-6248-85DC-E54C66F82C3D}"/>
              </a:ext>
            </a:extLst>
          </p:cNvPr>
          <p:cNvSpPr/>
          <p:nvPr/>
        </p:nvSpPr>
        <p:spPr>
          <a:xfrm>
            <a:off x="6223000" y="2095500"/>
            <a:ext cx="5207000" cy="431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4614AF-2AD0-C64B-AEAD-78D1DD8A4D11}"/>
              </a:ext>
            </a:extLst>
          </p:cNvPr>
          <p:cNvSpPr txBox="1"/>
          <p:nvPr/>
        </p:nvSpPr>
        <p:spPr>
          <a:xfrm>
            <a:off x="6527800" y="2349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MODELO RAZONADOR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CF0685-9B92-1048-B60E-49A14CFE3986}"/>
              </a:ext>
            </a:extLst>
          </p:cNvPr>
          <p:cNvSpPr txBox="1"/>
          <p:nvPr/>
        </p:nvSpPr>
        <p:spPr>
          <a:xfrm>
            <a:off x="6527800" y="2603500"/>
            <a:ext cx="4699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Inter"/>
              </a:rPr>
              <a:t>Cadena de razonamiento</a:t>
            </a:r>
            <a:endParaRPr lang="en-PE" sz="22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B71F6A-5261-1042-8811-CB05CE28975C}"/>
              </a:ext>
            </a:extLst>
          </p:cNvPr>
          <p:cNvSpPr txBox="1"/>
          <p:nvPr/>
        </p:nvSpPr>
        <p:spPr>
          <a:xfrm>
            <a:off x="6527800" y="32385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LATENCIA TTFT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2D6DD8-8C82-6848-B9EA-71994334D540}"/>
              </a:ext>
            </a:extLst>
          </p:cNvPr>
          <p:cNvSpPr txBox="1"/>
          <p:nvPr/>
        </p:nvSpPr>
        <p:spPr>
          <a:xfrm>
            <a:off x="6527800" y="34163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30–180 segundos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5CC807-A1C3-F842-A14D-21BFE6CA2F7F}"/>
              </a:ext>
            </a:extLst>
          </p:cNvPr>
          <p:cNvSpPr txBox="1"/>
          <p:nvPr/>
        </p:nvSpPr>
        <p:spPr>
          <a:xfrm>
            <a:off x="6527800" y="39751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COSTE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30CC7-8E0B-8040-B57B-A4475EE1A8F4}"/>
              </a:ext>
            </a:extLst>
          </p:cNvPr>
          <p:cNvSpPr txBox="1"/>
          <p:nvPr/>
        </p:nvSpPr>
        <p:spPr>
          <a:xfrm>
            <a:off x="6527800" y="41529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Alto (tokens de thinking facturan)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95E98D-B420-5A43-89A7-07D79D9A1FA5}"/>
              </a:ext>
            </a:extLst>
          </p:cNvPr>
          <p:cNvSpPr txBox="1"/>
          <p:nvPr/>
        </p:nvSpPr>
        <p:spPr>
          <a:xfrm>
            <a:off x="6527800" y="47117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MEJOR EN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11E31D-C190-874D-AD18-83F575E5265C}"/>
              </a:ext>
            </a:extLst>
          </p:cNvPr>
          <p:cNvSpPr txBox="1"/>
          <p:nvPr/>
        </p:nvSpPr>
        <p:spPr>
          <a:xfrm>
            <a:off x="6527800" y="48895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Matemáticas, coding agéntico, planning, puzzles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6242D6-D1E6-A948-BE95-CCC409BE58D1}"/>
              </a:ext>
            </a:extLst>
          </p:cNvPr>
          <p:cNvSpPr txBox="1"/>
          <p:nvPr/>
        </p:nvSpPr>
        <p:spPr>
          <a:xfrm>
            <a:off x="6527800" y="54483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EJEMPLOS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646EAF-38CA-0542-9B6E-81CE2F0145ED}"/>
              </a:ext>
            </a:extLst>
          </p:cNvPr>
          <p:cNvSpPr txBox="1"/>
          <p:nvPr/>
        </p:nvSpPr>
        <p:spPr>
          <a:xfrm>
            <a:off x="6527800" y="56261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o-series, Claude extended thinking, DeepSeek-reasoner, GLM-5.1, Gemini Deep Think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FF23D7-B90C-3F44-BC3D-421266C1DD25}"/>
              </a:ext>
            </a:extLst>
          </p:cNvPr>
          <p:cNvSpPr txBox="1"/>
          <p:nvPr/>
        </p:nvSpPr>
        <p:spPr>
          <a:xfrm>
            <a:off x="762000" y="65405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1F3A68"/>
                </a:solidFill>
                <a:latin typeface="Inter"/>
              </a:rPr>
              <a:t>Los razonadores escalan en tiempo de inferencia — mejoras calidad gastando más cómputo sin reentrenar.</a:t>
            </a:r>
            <a:endParaRPr lang="en-PE" sz="13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9210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73D43-5490-4A40-8386-520612C4F0A3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1 · FUNDAMENTOS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9F79E-864A-C547-92BD-1D7AB2981FD8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Tres límites duros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A0D8B-EB08-FE43-A793-F8B0060A151C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...que no son bugs a corregir. Son la razón de que exista el resto del curso.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C51E5-968D-DE42-BB29-4C132FD11281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CA39C-10DA-7C46-A918-DF3D4EFEEC28}"/>
              </a:ext>
            </a:extLst>
          </p:cNvPr>
          <p:cNvSpPr/>
          <p:nvPr/>
        </p:nvSpPr>
        <p:spPr>
          <a:xfrm>
            <a:off x="762000" y="2159000"/>
            <a:ext cx="3429000" cy="3619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4CE6B5-C0E4-BE4C-80E5-CC840A50E503}"/>
              </a:ext>
            </a:extLst>
          </p:cNvPr>
          <p:cNvSpPr/>
          <p:nvPr/>
        </p:nvSpPr>
        <p:spPr>
          <a:xfrm>
            <a:off x="762000" y="2159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E2DE4-FCA8-304E-A5C8-DA690C6AEDDD}"/>
              </a:ext>
            </a:extLst>
          </p:cNvPr>
          <p:cNvSpPr txBox="1"/>
          <p:nvPr/>
        </p:nvSpPr>
        <p:spPr>
          <a:xfrm>
            <a:off x="1016000" y="2413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100" b="1">
                <a:solidFill>
                  <a:srgbClr val="2C5AA0"/>
                </a:solidFill>
                <a:latin typeface="Inter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E62DD-1DFC-4948-8E00-DF225BC8225B}"/>
              </a:ext>
            </a:extLst>
          </p:cNvPr>
          <p:cNvSpPr txBox="1"/>
          <p:nvPr/>
        </p:nvSpPr>
        <p:spPr>
          <a:xfrm>
            <a:off x="1016000" y="26924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Alucinación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1B23D-6B0A-8B44-96A5-C048A1E427CF}"/>
              </a:ext>
            </a:extLst>
          </p:cNvPr>
          <p:cNvSpPr txBox="1"/>
          <p:nvPr/>
        </p:nvSpPr>
        <p:spPr>
          <a:xfrm>
            <a:off x="1016000" y="3175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Genera información plausible pero falsa con alta confianza.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FC73D-052F-BC4C-8E4A-BC262CAA4795}"/>
              </a:ext>
            </a:extLst>
          </p:cNvPr>
          <p:cNvSpPr txBox="1"/>
          <p:nvPr/>
        </p:nvSpPr>
        <p:spPr>
          <a:xfrm>
            <a:off x="1016000" y="41275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CAUSA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77497-F9AE-A148-BD1A-4C7365108B1D}"/>
              </a:ext>
            </a:extLst>
          </p:cNvPr>
          <p:cNvSpPr txBox="1"/>
          <p:nvPr/>
        </p:nvSpPr>
        <p:spPr>
          <a:xfrm>
            <a:off x="1016000" y="43180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El objetivo es plausibilidad, no verdad.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75567-D628-5B4F-9169-54D05ADBF56E}"/>
              </a:ext>
            </a:extLst>
          </p:cNvPr>
          <p:cNvSpPr txBox="1"/>
          <p:nvPr/>
        </p:nvSpPr>
        <p:spPr>
          <a:xfrm>
            <a:off x="1016000" y="49530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MITIGACIÓN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25093-D9B4-D247-90E6-8D57492B14BC}"/>
              </a:ext>
            </a:extLst>
          </p:cNvPr>
          <p:cNvSpPr txBox="1"/>
          <p:nvPr/>
        </p:nvSpPr>
        <p:spPr>
          <a:xfrm>
            <a:off x="1016000" y="51435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RAG · Tool use · Verificación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9B7E4B-2E36-F245-B8D4-1B90E70B26F2}"/>
              </a:ext>
            </a:extLst>
          </p:cNvPr>
          <p:cNvSpPr/>
          <p:nvPr/>
        </p:nvSpPr>
        <p:spPr>
          <a:xfrm>
            <a:off x="4381500" y="2159000"/>
            <a:ext cx="3429000" cy="3619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C8277-CE7F-5046-9C85-6793BFD8696E}"/>
              </a:ext>
            </a:extLst>
          </p:cNvPr>
          <p:cNvSpPr/>
          <p:nvPr/>
        </p:nvSpPr>
        <p:spPr>
          <a:xfrm>
            <a:off x="4381500" y="2159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851A7-9083-784C-8368-1C7B26C2C082}"/>
              </a:ext>
            </a:extLst>
          </p:cNvPr>
          <p:cNvSpPr txBox="1"/>
          <p:nvPr/>
        </p:nvSpPr>
        <p:spPr>
          <a:xfrm>
            <a:off x="4635500" y="2413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100" b="1">
                <a:solidFill>
                  <a:srgbClr val="2C5AA0"/>
                </a:solidFill>
                <a:latin typeface="Inter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74AAC-8BF6-E44E-9079-A978B4FA76BC}"/>
              </a:ext>
            </a:extLst>
          </p:cNvPr>
          <p:cNvSpPr txBox="1"/>
          <p:nvPr/>
        </p:nvSpPr>
        <p:spPr>
          <a:xfrm>
            <a:off x="4635500" y="26924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Conocimiento congelado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CA880-3844-D140-B844-7A72E6EC387A}"/>
              </a:ext>
            </a:extLst>
          </p:cNvPr>
          <p:cNvSpPr txBox="1"/>
          <p:nvPr/>
        </p:nvSpPr>
        <p:spPr>
          <a:xfrm>
            <a:off x="4635500" y="3175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No sabe lo ocurrido después de su fecha de corte.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1A592A-9158-9043-A364-0CF22EC757B9}"/>
              </a:ext>
            </a:extLst>
          </p:cNvPr>
          <p:cNvSpPr txBox="1"/>
          <p:nvPr/>
        </p:nvSpPr>
        <p:spPr>
          <a:xfrm>
            <a:off x="4635500" y="41275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CAUSA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5B561-4B3F-BB4A-B5BA-CB7CF627265C}"/>
              </a:ext>
            </a:extLst>
          </p:cNvPr>
          <p:cNvSpPr txBox="1"/>
          <p:nvPr/>
        </p:nvSpPr>
        <p:spPr>
          <a:xfrm>
            <a:off x="4635500" y="43180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Los pesos se entrenaron en un momento fijo.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05C436-6419-F148-AE9D-B484BC453E46}"/>
              </a:ext>
            </a:extLst>
          </p:cNvPr>
          <p:cNvSpPr txBox="1"/>
          <p:nvPr/>
        </p:nvSpPr>
        <p:spPr>
          <a:xfrm>
            <a:off x="4635500" y="49530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MITIGACIÓN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ABA98-D2CC-6E49-896B-23AA82D2F062}"/>
              </a:ext>
            </a:extLst>
          </p:cNvPr>
          <p:cNvSpPr txBox="1"/>
          <p:nvPr/>
        </p:nvSpPr>
        <p:spPr>
          <a:xfrm>
            <a:off x="4635500" y="51435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Tool use con búsqueda web · RAG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3C857-D177-2E47-82A9-ADDC664A46AD}"/>
              </a:ext>
            </a:extLst>
          </p:cNvPr>
          <p:cNvSpPr/>
          <p:nvPr/>
        </p:nvSpPr>
        <p:spPr>
          <a:xfrm>
            <a:off x="8001000" y="2159000"/>
            <a:ext cx="3429000" cy="3619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CDD6FA-F1D3-904C-8899-27B621D2059C}"/>
              </a:ext>
            </a:extLst>
          </p:cNvPr>
          <p:cNvSpPr/>
          <p:nvPr/>
        </p:nvSpPr>
        <p:spPr>
          <a:xfrm>
            <a:off x="8001000" y="2159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F5AF05-4C37-D74D-94CC-3AA8B93BE3BA}"/>
              </a:ext>
            </a:extLst>
          </p:cNvPr>
          <p:cNvSpPr txBox="1"/>
          <p:nvPr/>
        </p:nvSpPr>
        <p:spPr>
          <a:xfrm>
            <a:off x="8255000" y="2413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100" b="1">
                <a:solidFill>
                  <a:srgbClr val="2C5AA0"/>
                </a:solidFill>
                <a:latin typeface="Inter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E51BD-6441-C04D-8B6E-05E8BA07530F}"/>
              </a:ext>
            </a:extLst>
          </p:cNvPr>
          <p:cNvSpPr txBox="1"/>
          <p:nvPr/>
        </p:nvSpPr>
        <p:spPr>
          <a:xfrm>
            <a:off x="8255000" y="26924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Cálculo exacto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F8108-8E64-6B49-8D23-244D92C500CD}"/>
              </a:ext>
            </a:extLst>
          </p:cNvPr>
          <p:cNvSpPr txBox="1"/>
          <p:nvPr/>
        </p:nvSpPr>
        <p:spPr>
          <a:xfrm>
            <a:off x="8255000" y="3175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Falla en aritmética de muchos dígitos y se contradice en conversaciones largas.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1495C-8F44-EB4E-970F-644D9207CBFC}"/>
              </a:ext>
            </a:extLst>
          </p:cNvPr>
          <p:cNvSpPr txBox="1"/>
          <p:nvPr/>
        </p:nvSpPr>
        <p:spPr>
          <a:xfrm>
            <a:off x="8255000" y="41275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CAUSA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7979D1-6965-3B4C-B3FC-7F2D73FB66FA}"/>
              </a:ext>
            </a:extLst>
          </p:cNvPr>
          <p:cNvSpPr txBox="1"/>
          <p:nvPr/>
        </p:nvSpPr>
        <p:spPr>
          <a:xfrm>
            <a:off x="8255000" y="43180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Es un predictor de tokens, no una calculadora.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598C70-30CF-3145-ACCF-9A92183DC3FD}"/>
              </a:ext>
            </a:extLst>
          </p:cNvPr>
          <p:cNvSpPr txBox="1"/>
          <p:nvPr/>
        </p:nvSpPr>
        <p:spPr>
          <a:xfrm>
            <a:off x="8255000" y="4953000"/>
            <a:ext cx="292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MITIGACIÓN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5B4654-DB92-4846-9232-43A2BC819EC5}"/>
              </a:ext>
            </a:extLst>
          </p:cNvPr>
          <p:cNvSpPr txBox="1"/>
          <p:nvPr/>
        </p:nvSpPr>
        <p:spPr>
          <a:xfrm>
            <a:off x="8255000" y="51435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Code interpreter · Memoria explícita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59AC1F-4E3A-D946-A991-4769E6960C37}"/>
              </a:ext>
            </a:extLst>
          </p:cNvPr>
          <p:cNvSpPr txBox="1"/>
          <p:nvPr/>
        </p:nvSpPr>
        <p:spPr>
          <a:xfrm>
            <a:off x="762000" y="6096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0F1E3D"/>
                </a:solidFill>
                <a:latin typeface="Inter"/>
              </a:rPr>
              <a:t>Cada patrón del curso — RAG (c3), tool use (c4), evaluación (c5) — responde a uno de estos fallos.</a:t>
            </a:r>
            <a:endParaRPr lang="en-PE" sz="15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5202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B02E1-2FF0-1740-8475-F71256406EA5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2 · TOKENS Y CONTEXTO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0BA5A-1814-1E40-90A8-BF10541421E7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¿Qué es un token?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5AA00-B3A9-D34D-882F-5992679D87A5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52EFF-2EFC-6E4E-AE69-3D550EF9844F}"/>
              </a:ext>
            </a:extLst>
          </p:cNvPr>
          <p:cNvSpPr txBox="1"/>
          <p:nvPr/>
        </p:nvSpPr>
        <p:spPr>
          <a:xfrm>
            <a:off x="762000" y="20320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0F1E3D"/>
                </a:solidFill>
                <a:latin typeface="Inter"/>
              </a:rPr>
              <a:t>Unidad atómica de texto que el modelo procesa. Ni carácter ni palabra: un fragmento de 1–10 caracteres que el tokenizador trata como símbolo indivisible.</a:t>
            </a:r>
            <a:endParaRPr lang="en-PE" sz="15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FC4A7-CAE5-854F-B422-E3E6AD0684BB}"/>
              </a:ext>
            </a:extLst>
          </p:cNvPr>
          <p:cNvSpPr txBox="1"/>
          <p:nvPr/>
        </p:nvSpPr>
        <p:spPr>
          <a:xfrm>
            <a:off x="762000" y="2794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REGLA PRÁCTICA · TOKENS POR IDIOMA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F401D-EF6E-A546-819C-35531124757B}"/>
              </a:ext>
            </a:extLst>
          </p:cNvPr>
          <p:cNvSpPr/>
          <p:nvPr/>
        </p:nvSpPr>
        <p:spPr>
          <a:xfrm>
            <a:off x="762000" y="3111500"/>
            <a:ext cx="3429000" cy="1587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5E68DE-26F3-9748-AF6D-2B6727B53590}"/>
              </a:ext>
            </a:extLst>
          </p:cNvPr>
          <p:cNvSpPr/>
          <p:nvPr/>
        </p:nvSpPr>
        <p:spPr>
          <a:xfrm>
            <a:off x="762000" y="3111500"/>
            <a:ext cx="63500" cy="1587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5051E-3C59-DB44-B9CD-B4A74FE08467}"/>
              </a:ext>
            </a:extLst>
          </p:cNvPr>
          <p:cNvSpPr txBox="1"/>
          <p:nvPr/>
        </p:nvSpPr>
        <p:spPr>
          <a:xfrm>
            <a:off x="1016000" y="3314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EN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980C2-D910-0B4A-93EE-606BABECC626}"/>
              </a:ext>
            </a:extLst>
          </p:cNvPr>
          <p:cNvSpPr txBox="1"/>
          <p:nvPr/>
        </p:nvSpPr>
        <p:spPr>
          <a:xfrm>
            <a:off x="1016000" y="35433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3200" b="1">
                <a:solidFill>
                  <a:srgbClr val="0F1E3D"/>
                </a:solidFill>
                <a:latin typeface="Inter"/>
              </a:rPr>
              <a:t>~4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032B5-D4CE-2749-9989-B2FDD29C2D40}"/>
              </a:ext>
            </a:extLst>
          </p:cNvPr>
          <p:cNvSpPr txBox="1"/>
          <p:nvPr/>
        </p:nvSpPr>
        <p:spPr>
          <a:xfrm>
            <a:off x="2540000" y="3746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4A7FC1"/>
                </a:solidFill>
                <a:latin typeface="Inter"/>
              </a:rPr>
              <a:t>caracteres por token</a:t>
            </a:r>
            <a:endParaRPr lang="en-PE" sz="11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4C45BE-6797-9040-96E7-3BF976D521AE}"/>
              </a:ext>
            </a:extLst>
          </p:cNvPr>
          <p:cNvSpPr txBox="1"/>
          <p:nvPr/>
        </p:nvSpPr>
        <p:spPr>
          <a:xfrm>
            <a:off x="1016000" y="42291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1.000 tokens ≈ 750 palabras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140004-D305-804E-961C-F787CCCBCB6C}"/>
              </a:ext>
            </a:extLst>
          </p:cNvPr>
          <p:cNvSpPr/>
          <p:nvPr/>
        </p:nvSpPr>
        <p:spPr>
          <a:xfrm>
            <a:off x="4381500" y="3111500"/>
            <a:ext cx="3429000" cy="1587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DC0362-B0E1-6C4B-966A-27EFA59D456E}"/>
              </a:ext>
            </a:extLst>
          </p:cNvPr>
          <p:cNvSpPr/>
          <p:nvPr/>
        </p:nvSpPr>
        <p:spPr>
          <a:xfrm>
            <a:off x="4381500" y="3111500"/>
            <a:ext cx="63500" cy="1587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6CE3A5-C0D4-7340-A096-FD48D98144EB}"/>
              </a:ext>
            </a:extLst>
          </p:cNvPr>
          <p:cNvSpPr txBox="1"/>
          <p:nvPr/>
        </p:nvSpPr>
        <p:spPr>
          <a:xfrm>
            <a:off x="4635500" y="3314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ES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A3656-F663-EC44-A5BD-3FE25EED6DDA}"/>
              </a:ext>
            </a:extLst>
          </p:cNvPr>
          <p:cNvSpPr txBox="1"/>
          <p:nvPr/>
        </p:nvSpPr>
        <p:spPr>
          <a:xfrm>
            <a:off x="4635500" y="35433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3200" b="1">
                <a:solidFill>
                  <a:srgbClr val="0F1E3D"/>
                </a:solidFill>
                <a:latin typeface="Inter"/>
              </a:rPr>
              <a:t>~2.5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598629-1D7E-A34B-B82C-B23412F80744}"/>
              </a:ext>
            </a:extLst>
          </p:cNvPr>
          <p:cNvSpPr txBox="1"/>
          <p:nvPr/>
        </p:nvSpPr>
        <p:spPr>
          <a:xfrm>
            <a:off x="6159500" y="3746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4A7FC1"/>
                </a:solidFill>
                <a:latin typeface="Inter"/>
              </a:rPr>
              <a:t>caracteres por token</a:t>
            </a:r>
            <a:endParaRPr lang="en-PE" sz="11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6E7F4-B795-BB42-9F4C-10DFB45C0D2C}"/>
              </a:ext>
            </a:extLst>
          </p:cNvPr>
          <p:cNvSpPr txBox="1"/>
          <p:nvPr/>
        </p:nvSpPr>
        <p:spPr>
          <a:xfrm>
            <a:off x="4635500" y="42291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30–40% más tokens que inglés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C69BE7-4F6F-3D45-AD60-886F7E90712F}"/>
              </a:ext>
            </a:extLst>
          </p:cNvPr>
          <p:cNvSpPr/>
          <p:nvPr/>
        </p:nvSpPr>
        <p:spPr>
          <a:xfrm>
            <a:off x="8001000" y="3111500"/>
            <a:ext cx="3429000" cy="1587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3C2F8-05DB-EA4A-BD17-39B8D61E0448}"/>
              </a:ext>
            </a:extLst>
          </p:cNvPr>
          <p:cNvSpPr/>
          <p:nvPr/>
        </p:nvSpPr>
        <p:spPr>
          <a:xfrm>
            <a:off x="8001000" y="3111500"/>
            <a:ext cx="63500" cy="1587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902C9E-AFB3-D743-B4B4-6CBF7F17DEF9}"/>
              </a:ext>
            </a:extLst>
          </p:cNvPr>
          <p:cNvSpPr txBox="1"/>
          <p:nvPr/>
        </p:nvSpPr>
        <p:spPr>
          <a:xfrm>
            <a:off x="8255000" y="3314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CODE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D46BBF-8A0C-4F45-B0FD-8201ACA5AE32}"/>
              </a:ext>
            </a:extLst>
          </p:cNvPr>
          <p:cNvSpPr txBox="1"/>
          <p:nvPr/>
        </p:nvSpPr>
        <p:spPr>
          <a:xfrm>
            <a:off x="8255000" y="35433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3200" b="1">
                <a:solidFill>
                  <a:srgbClr val="0F1E3D"/>
                </a:solidFill>
                <a:latin typeface="Inter"/>
              </a:rPr>
              <a:t>~2–3.5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25E70B-0432-7442-98E5-FA7C8F03D718}"/>
              </a:ext>
            </a:extLst>
          </p:cNvPr>
          <p:cNvSpPr txBox="1"/>
          <p:nvPr/>
        </p:nvSpPr>
        <p:spPr>
          <a:xfrm>
            <a:off x="9779000" y="3746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4A7FC1"/>
                </a:solidFill>
                <a:latin typeface="Inter"/>
              </a:rPr>
              <a:t>caracteres por token</a:t>
            </a:r>
            <a:endParaRPr lang="en-PE" sz="1100">
              <a:solidFill>
                <a:srgbClr val="4A7FC1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873CFF-89C2-5F43-8398-F08C69EDB707}"/>
              </a:ext>
            </a:extLst>
          </p:cNvPr>
          <p:cNvSpPr txBox="1"/>
          <p:nvPr/>
        </p:nvSpPr>
        <p:spPr>
          <a:xfrm>
            <a:off x="8255000" y="42291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Python denso ~3.5 · JSON ~2–2.5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1443F4-937A-0948-9327-FA7DA7A3B4E8}"/>
              </a:ext>
            </a:extLst>
          </p:cNvPr>
          <p:cNvSpPr txBox="1"/>
          <p:nvPr/>
        </p:nvSpPr>
        <p:spPr>
          <a:xfrm>
            <a:off x="762000" y="50165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HERRAMIENTAS PARA CONTAR TOKENS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DEBE3DD-AD20-E14B-A989-ED85391502B1}"/>
              </a:ext>
            </a:extLst>
          </p:cNvPr>
          <p:cNvSpPr/>
          <p:nvPr/>
        </p:nvSpPr>
        <p:spPr>
          <a:xfrm>
            <a:off x="762000" y="5334000"/>
            <a:ext cx="2476500" cy="76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F2ECDF-1421-1146-BCEE-044F79291F38}"/>
              </a:ext>
            </a:extLst>
          </p:cNvPr>
          <p:cNvSpPr txBox="1"/>
          <p:nvPr/>
        </p:nvSpPr>
        <p:spPr>
          <a:xfrm>
            <a:off x="939800" y="5461000"/>
            <a:ext cx="222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tiktoken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DCFF49-0E2D-6E45-9985-FCB63C58F6DD}"/>
              </a:ext>
            </a:extLst>
          </p:cNvPr>
          <p:cNvSpPr txBox="1"/>
          <p:nvPr/>
        </p:nvSpPr>
        <p:spPr>
          <a:xfrm>
            <a:off x="939800" y="57150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OpenAI · Python/JS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790DB5B-4DAF-EE43-A57A-90E6B01E5AB8}"/>
              </a:ext>
            </a:extLst>
          </p:cNvPr>
          <p:cNvSpPr/>
          <p:nvPr/>
        </p:nvSpPr>
        <p:spPr>
          <a:xfrm>
            <a:off x="3429000" y="5334000"/>
            <a:ext cx="2476500" cy="76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95F0F2-8259-F041-BF06-58372F8000A5}"/>
              </a:ext>
            </a:extLst>
          </p:cNvPr>
          <p:cNvSpPr txBox="1"/>
          <p:nvPr/>
        </p:nvSpPr>
        <p:spPr>
          <a:xfrm>
            <a:off x="3606800" y="5461000"/>
            <a:ext cx="222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count_tokens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E82B78-CAE9-534D-813F-C1CF946F8BD7}"/>
              </a:ext>
            </a:extLst>
          </p:cNvPr>
          <p:cNvSpPr txBox="1"/>
          <p:nvPr/>
        </p:nvSpPr>
        <p:spPr>
          <a:xfrm>
            <a:off x="3606800" y="57150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SDK Anthropic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86D9F93-EF61-0D4C-899A-422420DAB76A}"/>
              </a:ext>
            </a:extLst>
          </p:cNvPr>
          <p:cNvSpPr/>
          <p:nvPr/>
        </p:nvSpPr>
        <p:spPr>
          <a:xfrm>
            <a:off x="6096000" y="5334000"/>
            <a:ext cx="2476500" cy="76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0C9036-6682-904A-BABF-AA38A89D0826}"/>
              </a:ext>
            </a:extLst>
          </p:cNvPr>
          <p:cNvSpPr txBox="1"/>
          <p:nvPr/>
        </p:nvSpPr>
        <p:spPr>
          <a:xfrm>
            <a:off x="6273800" y="5461000"/>
            <a:ext cx="222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AutoTokenizer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839002-3F4E-734A-8720-235D25981314}"/>
              </a:ext>
            </a:extLst>
          </p:cNvPr>
          <p:cNvSpPr txBox="1"/>
          <p:nvPr/>
        </p:nvSpPr>
        <p:spPr>
          <a:xfrm>
            <a:off x="6273800" y="57150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HuggingFace · cualquier open-weights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D3A112C-5552-0D4D-ABBD-81ABAE7CD91B}"/>
              </a:ext>
            </a:extLst>
          </p:cNvPr>
          <p:cNvSpPr/>
          <p:nvPr/>
        </p:nvSpPr>
        <p:spPr>
          <a:xfrm>
            <a:off x="8763000" y="5334000"/>
            <a:ext cx="2476500" cy="76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75E685-9CC5-EB46-AF93-D5F1C60B6DA8}"/>
              </a:ext>
            </a:extLst>
          </p:cNvPr>
          <p:cNvSpPr txBox="1"/>
          <p:nvPr/>
        </p:nvSpPr>
        <p:spPr>
          <a:xfrm>
            <a:off x="8940800" y="5461000"/>
            <a:ext cx="222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tiktokenizer.vercel.app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ADD0F0-543A-F340-8FDC-3DE40B8250EC}"/>
              </a:ext>
            </a:extLst>
          </p:cNvPr>
          <p:cNvSpPr txBox="1"/>
          <p:nvPr/>
        </p:nvSpPr>
        <p:spPr>
          <a:xfrm>
            <a:off x="8940800" y="57150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Visualizar en vivo · demo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D449C4-CEEB-9646-8750-1CB7F4BF5DCE}"/>
              </a:ext>
            </a:extLst>
          </p:cNvPr>
          <p:cNvSpPr txBox="1"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1F3A68"/>
                </a:solidFill>
                <a:latin typeface="Inter"/>
              </a:rPr>
              <a:t>Al dev le importa una cosa: poder contar tokens antes de enviar.</a:t>
            </a:r>
            <a:endParaRPr lang="en-PE" sz="13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8167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D1DB59-CC4F-5148-B62A-920BDFA7D129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2 · TOKENS Y CONTEXTO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83BEE-A251-054A-AF21-904B65BE4159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El "language tax"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877FC-1792-3E46-AA88-67DFBA213667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4A7FC1"/>
                </a:solidFill>
                <a:latin typeface="Inter"/>
              </a:rPr>
              <a:t>La misma frase cuesta muy distinto número de tokens según el idioma · Petrov et al., NeurIPS 2023</a:t>
            </a:r>
            <a:endParaRPr lang="en-PE" sz="13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18ACB2-7306-9945-9656-2C6EFF9769D6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E68CE-83F4-4F4E-B11E-C59CEB3CF0D3}"/>
              </a:ext>
            </a:extLst>
          </p:cNvPr>
          <p:cNvSpPr txBox="1"/>
          <p:nvPr/>
        </p:nvSpPr>
        <p:spPr>
          <a:xfrm>
            <a:off x="762000" y="2324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Inglés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3D5E6-6983-324C-9BBD-0E896364B91C}"/>
              </a:ext>
            </a:extLst>
          </p:cNvPr>
          <p:cNvSpPr/>
          <p:nvPr/>
        </p:nvSpPr>
        <p:spPr>
          <a:xfrm>
            <a:off x="3556000" y="2222500"/>
            <a:ext cx="762000" cy="4572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0E818-E504-6E4E-8C6F-358260B07133}"/>
              </a:ext>
            </a:extLst>
          </p:cNvPr>
          <p:cNvSpPr txBox="1"/>
          <p:nvPr/>
        </p:nvSpPr>
        <p:spPr>
          <a:xfrm>
            <a:off x="4445000" y="23241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1×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D12EA-5C99-8249-A5B7-D1BF271E5F9A}"/>
              </a:ext>
            </a:extLst>
          </p:cNvPr>
          <p:cNvSpPr txBox="1"/>
          <p:nvPr/>
        </p:nvSpPr>
        <p:spPr>
          <a:xfrm>
            <a:off x="762000" y="2959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Español / francés / alemán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7D1AA-9DCE-3C47-85D5-465C9901C203}"/>
              </a:ext>
            </a:extLst>
          </p:cNvPr>
          <p:cNvSpPr/>
          <p:nvPr/>
        </p:nvSpPr>
        <p:spPr>
          <a:xfrm>
            <a:off x="3556000" y="2857500"/>
            <a:ext cx="762000" cy="457200"/>
          </a:xfrm>
          <a:prstGeom prst="rect">
            <a:avLst/>
          </a:prstGeom>
          <a:solidFill>
            <a:srgbClr val="4A7F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BB906-A28D-5B4B-B750-87D26535A9D2}"/>
              </a:ext>
            </a:extLst>
          </p:cNvPr>
          <p:cNvSpPr txBox="1"/>
          <p:nvPr/>
        </p:nvSpPr>
        <p:spPr>
          <a:xfrm>
            <a:off x="4445000" y="29591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1.4×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E27E4-B69E-3A4B-9AF3-EF6BEB263D85}"/>
              </a:ext>
            </a:extLst>
          </p:cNvPr>
          <p:cNvSpPr txBox="1"/>
          <p:nvPr/>
        </p:nvSpPr>
        <p:spPr>
          <a:xfrm>
            <a:off x="762000" y="3594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Ruso / árabe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EEDD0-5933-244E-BC1D-FB5D93FB3559}"/>
              </a:ext>
            </a:extLst>
          </p:cNvPr>
          <p:cNvSpPr/>
          <p:nvPr/>
        </p:nvSpPr>
        <p:spPr>
          <a:xfrm>
            <a:off x="3556000" y="3492500"/>
            <a:ext cx="762000" cy="457200"/>
          </a:xfrm>
          <a:prstGeom prst="rect">
            <a:avLst/>
          </a:prstGeom>
          <a:solidFill>
            <a:srgbClr val="6B8C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2E530-0844-0C4A-B60D-89E9E7733D08}"/>
              </a:ext>
            </a:extLst>
          </p:cNvPr>
          <p:cNvSpPr txBox="1"/>
          <p:nvPr/>
        </p:nvSpPr>
        <p:spPr>
          <a:xfrm>
            <a:off x="4445000" y="35941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2.75×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93CE5-C056-CF40-80DC-A3677B5BF57F}"/>
              </a:ext>
            </a:extLst>
          </p:cNvPr>
          <p:cNvSpPr txBox="1"/>
          <p:nvPr/>
        </p:nvSpPr>
        <p:spPr>
          <a:xfrm>
            <a:off x="762000" y="4229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Hindi / tamil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44939-D12E-AC45-99C4-2A09DAA3DCF5}"/>
              </a:ext>
            </a:extLst>
          </p:cNvPr>
          <p:cNvSpPr/>
          <p:nvPr/>
        </p:nvSpPr>
        <p:spPr>
          <a:xfrm>
            <a:off x="3556000" y="4127500"/>
            <a:ext cx="1422400" cy="457200"/>
          </a:xfrm>
          <a:prstGeom prst="rect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C8C08-DE13-3E4F-B3D7-967D96E99F8A}"/>
              </a:ext>
            </a:extLst>
          </p:cNvPr>
          <p:cNvSpPr txBox="1"/>
          <p:nvPr/>
        </p:nvSpPr>
        <p:spPr>
          <a:xfrm>
            <a:off x="5105400" y="42291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6×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9B343-212F-844C-A1CB-D2DA40388801}"/>
              </a:ext>
            </a:extLst>
          </p:cNvPr>
          <p:cNvSpPr txBox="1"/>
          <p:nvPr/>
        </p:nvSpPr>
        <p:spPr>
          <a:xfrm>
            <a:off x="762000" y="4864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Birmano / shan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7692C-A572-D74A-896B-C61F7AF50755}"/>
              </a:ext>
            </a:extLst>
          </p:cNvPr>
          <p:cNvSpPr/>
          <p:nvPr/>
        </p:nvSpPr>
        <p:spPr>
          <a:xfrm>
            <a:off x="3556000" y="4762500"/>
            <a:ext cx="2963333" cy="457200"/>
          </a:xfrm>
          <a:prstGeom prst="rect">
            <a:avLst/>
          </a:prstGeom>
          <a:solidFill>
            <a:srgbClr val="A8C0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F2E34-809C-114D-A678-F20C6C7EBD32}"/>
              </a:ext>
            </a:extLst>
          </p:cNvPr>
          <p:cNvSpPr txBox="1"/>
          <p:nvPr/>
        </p:nvSpPr>
        <p:spPr>
          <a:xfrm>
            <a:off x="6646333" y="48641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12.5×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8674A6-D8EB-294A-8574-D3E42B94C713}"/>
              </a:ext>
            </a:extLst>
          </p:cNvPr>
          <p:cNvSpPr/>
          <p:nvPr/>
        </p:nvSpPr>
        <p:spPr>
          <a:xfrm>
            <a:off x="8255000" y="2222500"/>
            <a:ext cx="3175000" cy="3683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86089D-32D4-3240-A35C-AD0B8EB0314C}"/>
              </a:ext>
            </a:extLst>
          </p:cNvPr>
          <p:cNvSpPr txBox="1"/>
          <p:nvPr/>
        </p:nvSpPr>
        <p:spPr>
          <a:xfrm>
            <a:off x="8509000" y="2476500"/>
            <a:ext cx="279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IMPLICACIÓN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4D3F23-7679-4242-8300-839C424490DF}"/>
              </a:ext>
            </a:extLst>
          </p:cNvPr>
          <p:cNvSpPr txBox="1"/>
          <p:nvPr/>
        </p:nvSpPr>
        <p:spPr>
          <a:xfrm>
            <a:off x="8509000" y="27305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Inter"/>
              </a:rPr>
              <a:t>Para plataformas en español</a:t>
            </a:r>
            <a:endParaRPr lang="en-PE" sz="15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5B0E2A-2CFC-7B49-A4A6-DF0D2795CD97}"/>
              </a:ext>
            </a:extLst>
          </p:cNvPr>
          <p:cNvSpPr txBox="1"/>
          <p:nvPr/>
        </p:nvSpPr>
        <p:spPr>
          <a:xfrm>
            <a:off x="8509000" y="33020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Cada conversación cuesta ~40% más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96539E-EE2F-944C-8922-8E3DD20C9C83}"/>
              </a:ext>
            </a:extLst>
          </p:cNvPr>
          <p:cNvSpPr txBox="1"/>
          <p:nvPr/>
        </p:nvSpPr>
        <p:spPr>
          <a:xfrm>
            <a:off x="8509000" y="40640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La ventana de contexto se consume más rápido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11040-D520-8544-BFAD-83461B490584}"/>
              </a:ext>
            </a:extLst>
          </p:cNvPr>
          <p:cNvSpPr txBox="1"/>
          <p:nvPr/>
        </p:nvSpPr>
        <p:spPr>
          <a:xfrm>
            <a:off x="8509000" y="4889500"/>
            <a:ext cx="279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Coste por usuario varía 3–7× según idioma en SaaS multilingüe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38F9FA-596B-454B-8267-43E9F57630A7}"/>
              </a:ext>
            </a:extLst>
          </p:cNvPr>
          <p:cNvSpPr txBox="1"/>
          <p:nvPr/>
        </p:nvSpPr>
        <p:spPr>
          <a:xfrm>
            <a:off x="762000" y="6223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1F3A68"/>
                </a:solidFill>
                <a:latin typeface="Inter"/>
              </a:rPr>
              <a:t>Con o200k_base (GPT-4o+) el gap se redujo ~20%, pero no desaparece. Para EscuelaIT y peru-elecciones, esto va al modelo financiero.</a:t>
            </a:r>
            <a:endParaRPr lang="en-PE" sz="13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6881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7E72A-E873-B444-ACF9-1F99EC83B75E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2 · TOKENS Y CONTEXTO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9AA14C-F47A-0147-B4C5-DFD036316995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Ventana de contexto: nominal vs efectivo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72557A-61A6-234D-BC5B-38655B7ED0B1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FDF3B-BE98-4B48-8C4B-6660C6C7EED6}"/>
              </a:ext>
            </a:extLst>
          </p:cNvPr>
          <p:cNvSpPr txBox="1"/>
          <p:nvPr/>
        </p:nvSpPr>
        <p:spPr>
          <a:xfrm>
            <a:off x="762000" y="2032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EVOLUCIÓN 2022 → 2026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C5AE7-60B8-2840-8176-4243C57E049B}"/>
              </a:ext>
            </a:extLst>
          </p:cNvPr>
          <p:cNvSpPr txBox="1"/>
          <p:nvPr/>
        </p:nvSpPr>
        <p:spPr>
          <a:xfrm>
            <a:off x="762000" y="25400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4A7FC1"/>
                </a:solidFill>
                <a:latin typeface="Inter"/>
              </a:rPr>
              <a:t>2022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D7F36-1AE6-6C48-AE7B-13A882B765F5}"/>
              </a:ext>
            </a:extLst>
          </p:cNvPr>
          <p:cNvSpPr txBox="1"/>
          <p:nvPr/>
        </p:nvSpPr>
        <p:spPr>
          <a:xfrm>
            <a:off x="1651000" y="2540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GPT-3.5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28FF10-E50E-194F-B861-03A8B854299F}"/>
              </a:ext>
            </a:extLst>
          </p:cNvPr>
          <p:cNvSpPr/>
          <p:nvPr/>
        </p:nvSpPr>
        <p:spPr>
          <a:xfrm>
            <a:off x="5080000" y="2489200"/>
            <a:ext cx="1016000" cy="3556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4K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FBD03-850F-3748-B5CD-22815241BE86}"/>
              </a:ext>
            </a:extLst>
          </p:cNvPr>
          <p:cNvSpPr txBox="1"/>
          <p:nvPr/>
        </p:nvSpPr>
        <p:spPr>
          <a:xfrm>
            <a:off x="762000" y="30988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4A7FC1"/>
                </a:solidFill>
                <a:latin typeface="Inter"/>
              </a:rPr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AA805-E619-F144-BCF1-FA699DCA5BE2}"/>
              </a:ext>
            </a:extLst>
          </p:cNvPr>
          <p:cNvSpPr txBox="1"/>
          <p:nvPr/>
        </p:nvSpPr>
        <p:spPr>
          <a:xfrm>
            <a:off x="1651000" y="30988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GPT-4-turbo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5EEA3A-C396-3249-B2A3-520F1E0855EB}"/>
              </a:ext>
            </a:extLst>
          </p:cNvPr>
          <p:cNvSpPr/>
          <p:nvPr/>
        </p:nvSpPr>
        <p:spPr>
          <a:xfrm>
            <a:off x="5080000" y="3048000"/>
            <a:ext cx="1016000" cy="3556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128K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0100E-ADBD-6645-A9FA-739EE76C9A0B}"/>
              </a:ext>
            </a:extLst>
          </p:cNvPr>
          <p:cNvSpPr txBox="1"/>
          <p:nvPr/>
        </p:nvSpPr>
        <p:spPr>
          <a:xfrm>
            <a:off x="762000" y="3657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4A7FC1"/>
                </a:solidFill>
                <a:latin typeface="Inter"/>
              </a:rPr>
              <a:t>2024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ABA5E-11E5-1D4B-BA85-AF4697E6A21D}"/>
              </a:ext>
            </a:extLst>
          </p:cNvPr>
          <p:cNvSpPr txBox="1"/>
          <p:nvPr/>
        </p:nvSpPr>
        <p:spPr>
          <a:xfrm>
            <a:off x="1651000" y="36576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Gemini 1.5 Pro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EB80E9-860A-6F45-8C93-ED88ECA0D96C}"/>
              </a:ext>
            </a:extLst>
          </p:cNvPr>
          <p:cNvSpPr/>
          <p:nvPr/>
        </p:nvSpPr>
        <p:spPr>
          <a:xfrm>
            <a:off x="5080000" y="3606800"/>
            <a:ext cx="1016000" cy="3556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1M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CDF63-44CF-A244-88B1-59D6725A6532}"/>
              </a:ext>
            </a:extLst>
          </p:cNvPr>
          <p:cNvSpPr txBox="1"/>
          <p:nvPr/>
        </p:nvSpPr>
        <p:spPr>
          <a:xfrm>
            <a:off x="762000" y="42164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4A7FC1"/>
                </a:solidFill>
                <a:latin typeface="Inter"/>
              </a:rPr>
              <a:t>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300B23-131A-7849-A684-2F56430CB4F3}"/>
              </a:ext>
            </a:extLst>
          </p:cNvPr>
          <p:cNvSpPr txBox="1"/>
          <p:nvPr/>
        </p:nvSpPr>
        <p:spPr>
          <a:xfrm>
            <a:off x="1651000" y="42164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Claude Sonnet enterprise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CD53C51-2B06-A24A-96C9-943D94CB7506}"/>
              </a:ext>
            </a:extLst>
          </p:cNvPr>
          <p:cNvSpPr/>
          <p:nvPr/>
        </p:nvSpPr>
        <p:spPr>
          <a:xfrm>
            <a:off x="5080000" y="4165600"/>
            <a:ext cx="1016000" cy="3556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C5AA0"/>
                </a:solidFill>
                <a:latin typeface="Inter"/>
              </a:rPr>
              <a:t>1M</a:t>
            </a:r>
            <a:endParaRPr lang="en-PE" sz="13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257A3B-D12D-BE48-A262-EC70082A6773}"/>
              </a:ext>
            </a:extLst>
          </p:cNvPr>
          <p:cNvSpPr txBox="1"/>
          <p:nvPr/>
        </p:nvSpPr>
        <p:spPr>
          <a:xfrm>
            <a:off x="762000" y="4775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0F1E3D"/>
                </a:solidFill>
                <a:latin typeface="Inter"/>
              </a:rPr>
              <a:t>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7ACF82-65D9-234D-9B1F-2B400254EC42}"/>
              </a:ext>
            </a:extLst>
          </p:cNvPr>
          <p:cNvSpPr txBox="1"/>
          <p:nvPr/>
        </p:nvSpPr>
        <p:spPr>
          <a:xfrm>
            <a:off x="1651000" y="47752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Llama 4 Scout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3DEF923-0A01-024E-B22C-3BFB38B50D7F}"/>
              </a:ext>
            </a:extLst>
          </p:cNvPr>
          <p:cNvSpPr/>
          <p:nvPr/>
        </p:nvSpPr>
        <p:spPr>
          <a:xfrm>
            <a:off x="5080000" y="4724400"/>
            <a:ext cx="1016000" cy="3556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"/>
              </a:rPr>
              <a:t>10M</a:t>
            </a:r>
            <a:endParaRPr lang="en-PE" sz="13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CE3D54-0B4F-484F-9E36-141E165C56AC}"/>
              </a:ext>
            </a:extLst>
          </p:cNvPr>
          <p:cNvSpPr/>
          <p:nvPr/>
        </p:nvSpPr>
        <p:spPr>
          <a:xfrm>
            <a:off x="6858000" y="2032000"/>
            <a:ext cx="4572000" cy="3302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F0FCA7-63A3-3F43-88B4-02D0BC950F16}"/>
              </a:ext>
            </a:extLst>
          </p:cNvPr>
          <p:cNvSpPr txBox="1"/>
          <p:nvPr/>
        </p:nvSpPr>
        <p:spPr>
          <a:xfrm>
            <a:off x="7162800" y="2286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PERO...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6AD692-DB05-0943-ABF4-4D1BCC7DC2D3}"/>
              </a:ext>
            </a:extLst>
          </p:cNvPr>
          <p:cNvSpPr txBox="1"/>
          <p:nvPr/>
        </p:nvSpPr>
        <p:spPr>
          <a:xfrm>
            <a:off x="7162800" y="25908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Inter"/>
              </a:rPr>
              <a:t>Que acepte 1M no significa que los use bien</a:t>
            </a:r>
            <a:endParaRPr lang="en-PE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D0FE70-D326-F843-8FB4-7E79F1B20BD8}"/>
              </a:ext>
            </a:extLst>
          </p:cNvPr>
          <p:cNvSpPr txBox="1"/>
          <p:nvPr/>
        </p:nvSpPr>
        <p:spPr>
          <a:xfrm>
            <a:off x="7162800" y="3429000"/>
            <a:ext cx="406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LOST IN THE MIDDLE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AEA5AE-8FF9-554E-BBC5-754C32F73341}"/>
              </a:ext>
            </a:extLst>
          </p:cNvPr>
          <p:cNvSpPr txBox="1"/>
          <p:nvPr/>
        </p:nvSpPr>
        <p:spPr>
          <a:xfrm>
            <a:off x="7162800" y="3632200"/>
            <a:ext cx="406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Liu et al., 2023 — la precisión cae ~20–30% en el medio del contexto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D530F0-7688-0B41-9E0C-460A3D7200B8}"/>
              </a:ext>
            </a:extLst>
          </p:cNvPr>
          <p:cNvSpPr txBox="1"/>
          <p:nvPr/>
        </p:nvSpPr>
        <p:spPr>
          <a:xfrm>
            <a:off x="7162800" y="4254500"/>
            <a:ext cx="406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RULER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B57F7E-AED3-C344-9AA6-BE17CCBB467C}"/>
              </a:ext>
            </a:extLst>
          </p:cNvPr>
          <p:cNvSpPr txBox="1"/>
          <p:nvPr/>
        </p:nvSpPr>
        <p:spPr>
          <a:xfrm>
            <a:off x="7162800" y="44577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NVIDIA, 2024 — la ventana efectiva suele ser 25–50% de la nominal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8C5DE5-FBFF-0245-89F0-0A49B56EA091}"/>
              </a:ext>
            </a:extLst>
          </p:cNvPr>
          <p:cNvSpPr/>
          <p:nvPr/>
        </p:nvSpPr>
        <p:spPr>
          <a:xfrm>
            <a:off x="762000" y="5715000"/>
            <a:ext cx="10668000" cy="88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E0080A-2100-2946-A327-EE2919E51B69}"/>
              </a:ext>
            </a:extLst>
          </p:cNvPr>
          <p:cNvSpPr/>
          <p:nvPr/>
        </p:nvSpPr>
        <p:spPr>
          <a:xfrm>
            <a:off x="762000" y="5715000"/>
            <a:ext cx="63500" cy="88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AAD7ED-E802-B042-B577-9E01BFC7C0B9}"/>
              </a:ext>
            </a:extLst>
          </p:cNvPr>
          <p:cNvSpPr txBox="1"/>
          <p:nvPr/>
        </p:nvSpPr>
        <p:spPr>
          <a:xfrm>
            <a:off x="1016000" y="59055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REGLA PRÁCTICA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264EA4-A89E-6A48-A528-DF9788BF9219}"/>
              </a:ext>
            </a:extLst>
          </p:cNvPr>
          <p:cNvSpPr txBox="1"/>
          <p:nvPr/>
        </p:nvSpPr>
        <p:spPr>
          <a:xfrm>
            <a:off x="1016000" y="61595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Si te venden 1M, diseña pensando en 250–500K útiles. Pon instrucciones críticas al principio y al final.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8793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531B4-9128-894B-8C29-AE4879D82F46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2 · TOKENS Y CONTEXTO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43654-39A8-1E46-B546-F30556F488BE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Prompt caching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A72C8-24F3-104D-85CA-F11F75758ACE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La palanca de coste número 1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A1C32-C888-3D49-B4CB-DD69E2B16F5A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D4914-BB57-F244-8D4A-D262DB4EC2AD}"/>
              </a:ext>
            </a:extLst>
          </p:cNvPr>
          <p:cNvSpPr txBox="1"/>
          <p:nvPr/>
        </p:nvSpPr>
        <p:spPr>
          <a:xfrm>
            <a:off x="762000" y="2133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LOS CUATRO GRANDES · IMPLEMENTACIONES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27AD65-5164-3243-AAD1-17EC50FABB35}"/>
              </a:ext>
            </a:extLst>
          </p:cNvPr>
          <p:cNvSpPr/>
          <p:nvPr/>
        </p:nvSpPr>
        <p:spPr>
          <a:xfrm>
            <a:off x="762000" y="2476500"/>
            <a:ext cx="6350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63CB8-085E-9648-88A5-5989C56B040C}"/>
              </a:ext>
            </a:extLst>
          </p:cNvPr>
          <p:cNvSpPr txBox="1"/>
          <p:nvPr/>
        </p:nvSpPr>
        <p:spPr>
          <a:xfrm>
            <a:off x="990600" y="25781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Anthropic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6E6070-0B4E-DE45-BC6B-733F29F98077}"/>
              </a:ext>
            </a:extLst>
          </p:cNvPr>
          <p:cNvSpPr/>
          <p:nvPr/>
        </p:nvSpPr>
        <p:spPr>
          <a:xfrm>
            <a:off x="2476500" y="2603500"/>
            <a:ext cx="1397000" cy="2794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"/>
              </a:rPr>
              <a:t>Explícito</a:t>
            </a:r>
            <a:endParaRPr lang="en-PE" sz="1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63C9C-3D69-4446-8E82-A3F345999F2C}"/>
              </a:ext>
            </a:extLst>
          </p:cNvPr>
          <p:cNvSpPr txBox="1"/>
          <p:nvPr/>
        </p:nvSpPr>
        <p:spPr>
          <a:xfrm>
            <a:off x="990600" y="28321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cache_control: ephemeral · hasta 4 breakpoints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C4AA0-B582-F64E-A540-4F24AA0CDF0A}"/>
              </a:ext>
            </a:extLst>
          </p:cNvPr>
          <p:cNvSpPr txBox="1"/>
          <p:nvPr/>
        </p:nvSpPr>
        <p:spPr>
          <a:xfrm>
            <a:off x="990600" y="31877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OpenAI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922655-FA32-F74F-B60B-A98F5DACE212}"/>
              </a:ext>
            </a:extLst>
          </p:cNvPr>
          <p:cNvSpPr/>
          <p:nvPr/>
        </p:nvSpPr>
        <p:spPr>
          <a:xfrm>
            <a:off x="2476500" y="3213100"/>
            <a:ext cx="1397000" cy="279400"/>
          </a:xfrm>
          <a:prstGeom prst="roundRect">
            <a:avLst/>
          </a:prstGeom>
          <a:solidFill>
            <a:srgbClr val="4A7F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"/>
              </a:rPr>
              <a:t>Automático</a:t>
            </a:r>
            <a:endParaRPr lang="en-PE" sz="1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048F5-B1B9-8347-B4F2-0ACD0521A2CD}"/>
              </a:ext>
            </a:extLst>
          </p:cNvPr>
          <p:cNvSpPr txBox="1"/>
          <p:nvPr/>
        </p:nvSpPr>
        <p:spPr>
          <a:xfrm>
            <a:off x="990600" y="34417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Prefijos ≥1024 tokens desde 2024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D7003A-3040-CE4A-AF46-28FAC19B711B}"/>
              </a:ext>
            </a:extLst>
          </p:cNvPr>
          <p:cNvSpPr/>
          <p:nvPr/>
        </p:nvSpPr>
        <p:spPr>
          <a:xfrm>
            <a:off x="762000" y="3695700"/>
            <a:ext cx="6350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A92E1-8E3A-8946-B4E8-9767C0A26188}"/>
              </a:ext>
            </a:extLst>
          </p:cNvPr>
          <p:cNvSpPr txBox="1"/>
          <p:nvPr/>
        </p:nvSpPr>
        <p:spPr>
          <a:xfrm>
            <a:off x="990600" y="37973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Google Gemini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EA7C4B6-13AA-DD40-B53B-97C97B15205F}"/>
              </a:ext>
            </a:extLst>
          </p:cNvPr>
          <p:cNvSpPr/>
          <p:nvPr/>
        </p:nvSpPr>
        <p:spPr>
          <a:xfrm>
            <a:off x="2476500" y="3822700"/>
            <a:ext cx="1397000" cy="2794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"/>
              </a:rPr>
              <a:t>Explícito</a:t>
            </a:r>
            <a:endParaRPr lang="en-PE" sz="1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8416E-5839-2C40-B935-4E8E448F1991}"/>
              </a:ext>
            </a:extLst>
          </p:cNvPr>
          <p:cNvSpPr txBox="1"/>
          <p:nvPr/>
        </p:nvSpPr>
        <p:spPr>
          <a:xfrm>
            <a:off x="990600" y="40513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cachedContents.create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0AD854-BBE2-A444-8953-B0DC9E0F6CDF}"/>
              </a:ext>
            </a:extLst>
          </p:cNvPr>
          <p:cNvSpPr txBox="1"/>
          <p:nvPr/>
        </p:nvSpPr>
        <p:spPr>
          <a:xfrm>
            <a:off x="990600" y="44069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DeepSeek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767B4BC-6D9B-5F4D-A518-585FD011DBB3}"/>
              </a:ext>
            </a:extLst>
          </p:cNvPr>
          <p:cNvSpPr/>
          <p:nvPr/>
        </p:nvSpPr>
        <p:spPr>
          <a:xfrm>
            <a:off x="2476500" y="4432300"/>
            <a:ext cx="1397000" cy="279400"/>
          </a:xfrm>
          <a:prstGeom prst="roundRect">
            <a:avLst/>
          </a:prstGeom>
          <a:solidFill>
            <a:srgbClr val="4A7F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"/>
              </a:rPr>
              <a:t>Automático en disco</a:t>
            </a:r>
            <a:endParaRPr lang="en-PE" sz="1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4B4262-46C1-2048-87F2-AAA5CC9ECBF2}"/>
              </a:ext>
            </a:extLst>
          </p:cNvPr>
          <p:cNvSpPr txBox="1"/>
          <p:nvPr/>
        </p:nvSpPr>
        <p:spPr>
          <a:xfrm>
            <a:off x="990600" y="46609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Reporta cache_hit / cache_miss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82670-D8AF-F641-B876-C2E6F6613C63}"/>
              </a:ext>
            </a:extLst>
          </p:cNvPr>
          <p:cNvSpPr/>
          <p:nvPr/>
        </p:nvSpPr>
        <p:spPr>
          <a:xfrm>
            <a:off x="7366000" y="2476500"/>
            <a:ext cx="4064000" cy="2667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AA920A-4DDA-E94F-A9AD-2763C7EABCE2}"/>
              </a:ext>
            </a:extLst>
          </p:cNvPr>
          <p:cNvSpPr txBox="1"/>
          <p:nvPr/>
        </p:nvSpPr>
        <p:spPr>
          <a:xfrm>
            <a:off x="7620000" y="2667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EJEMPLO CONCRETO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377E4-CA29-C34E-ABBB-098259260D9B}"/>
              </a:ext>
            </a:extLst>
          </p:cNvPr>
          <p:cNvSpPr txBox="1"/>
          <p:nvPr/>
        </p:nvSpPr>
        <p:spPr>
          <a:xfrm>
            <a:off x="7620000" y="2895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Inter"/>
              </a:rPr>
              <a:t>20 turnos · 50K tokens fijos</a:t>
            </a:r>
            <a:endParaRPr lang="en-PE" sz="1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87153-EA08-5347-AC99-3A226EE456A5}"/>
              </a:ext>
            </a:extLst>
          </p:cNvPr>
          <p:cNvSpPr txBox="1"/>
          <p:nvPr/>
        </p:nvSpPr>
        <p:spPr>
          <a:xfrm>
            <a:off x="7620000" y="33655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SIN CACHING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02D32E-7519-194E-8798-DCB871341C23}"/>
              </a:ext>
            </a:extLst>
          </p:cNvPr>
          <p:cNvSpPr txBox="1"/>
          <p:nvPr/>
        </p:nvSpPr>
        <p:spPr>
          <a:xfrm>
            <a:off x="7620000" y="355600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400" b="1">
                <a:solidFill>
                  <a:srgbClr val="E8EEF7"/>
                </a:solidFill>
                <a:latin typeface="Inter"/>
              </a:rPr>
              <a:t>$4.65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310AB6-F182-354D-8C8B-F757506D6AB2}"/>
              </a:ext>
            </a:extLst>
          </p:cNvPr>
          <p:cNvSpPr txBox="1"/>
          <p:nvPr/>
        </p:nvSpPr>
        <p:spPr>
          <a:xfrm>
            <a:off x="9525000" y="33655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FA3D1"/>
                </a:solidFill>
                <a:latin typeface="Inter"/>
              </a:rPr>
              <a:t>CON CACHING</a:t>
            </a:r>
            <a:endParaRPr lang="en-PE" sz="10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7E7CBB-D4C1-D54D-BE57-39754DB105BE}"/>
              </a:ext>
            </a:extLst>
          </p:cNvPr>
          <p:cNvSpPr txBox="1"/>
          <p:nvPr/>
        </p:nvSpPr>
        <p:spPr>
          <a:xfrm>
            <a:off x="9525000" y="355600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2400" b="1">
                <a:solidFill>
                  <a:srgbClr val="FFFFFF"/>
                </a:solidFill>
                <a:latin typeface="Inter"/>
              </a:rPr>
              <a:t>$1.52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D21639-8579-CE4D-A1DD-D7CF69184FBE}"/>
              </a:ext>
            </a:extLst>
          </p:cNvPr>
          <p:cNvSpPr/>
          <p:nvPr/>
        </p:nvSpPr>
        <p:spPr>
          <a:xfrm>
            <a:off x="7620000" y="4254500"/>
            <a:ext cx="3556000" cy="635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30D765-7D5D-2C4F-B5A3-7DEE3EEC4F34}"/>
              </a:ext>
            </a:extLst>
          </p:cNvPr>
          <p:cNvSpPr txBox="1"/>
          <p:nvPr/>
        </p:nvSpPr>
        <p:spPr>
          <a:xfrm>
            <a:off x="7620000" y="44196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Inter"/>
              </a:rPr>
              <a:t>AHORRO 67%</a:t>
            </a:r>
            <a:endParaRPr lang="en-P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F3A47B-9912-EB43-A6E5-2C5F7F552F03}"/>
              </a:ext>
            </a:extLst>
          </p:cNvPr>
          <p:cNvSpPr/>
          <p:nvPr/>
        </p:nvSpPr>
        <p:spPr>
          <a:xfrm>
            <a:off x="762000" y="5461000"/>
            <a:ext cx="10668000" cy="952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E321BE-5588-BF4A-B0BF-78982420B31A}"/>
              </a:ext>
            </a:extLst>
          </p:cNvPr>
          <p:cNvSpPr/>
          <p:nvPr/>
        </p:nvSpPr>
        <p:spPr>
          <a:xfrm>
            <a:off x="762000" y="5461000"/>
            <a:ext cx="63500" cy="952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0AAA5-2307-DE46-A532-2874CE2C4794}"/>
              </a:ext>
            </a:extLst>
          </p:cNvPr>
          <p:cNvSpPr txBox="1"/>
          <p:nvPr/>
        </p:nvSpPr>
        <p:spPr>
          <a:xfrm>
            <a:off x="1016000" y="56515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REGLA DEL PULGAR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A25D0-DAD4-E64E-B4CF-62B6C70A7245}"/>
              </a:ext>
            </a:extLst>
          </p:cNvPr>
          <p:cNvSpPr txBox="1"/>
          <p:nvPr/>
        </p:nvSpPr>
        <p:spPr>
          <a:xfrm>
            <a:off x="1016000" y="59055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Si el mismo prefijo se reutiliza ≥3 veces en 5 minutos, cachéalo.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9956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76CD8A-800D-3D43-ACE1-9168204A0A95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3B8F4-CC96-D145-A705-2DE73F7C5322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Mapa del ecosistema LLM 2026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BC255-4379-894C-B20A-41CE2139E1C9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Seis capas. Cada una impone un contrato distinto: API, pricing, compliance, latencia.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67756-8013-4B4E-8C80-12C08FC1E782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04305-0C4C-F44E-99D4-6108ECCB7702}"/>
              </a:ext>
            </a:extLst>
          </p:cNvPr>
          <p:cNvSpPr/>
          <p:nvPr/>
        </p:nvSpPr>
        <p:spPr>
          <a:xfrm>
            <a:off x="762000" y="21590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D2187-C708-AD48-B166-E862E68E5EB5}"/>
              </a:ext>
            </a:extLst>
          </p:cNvPr>
          <p:cNvSpPr/>
          <p:nvPr/>
        </p:nvSpPr>
        <p:spPr>
          <a:xfrm>
            <a:off x="762000" y="21590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8AA6-B6AD-304B-A027-C9017A66CEC5}"/>
              </a:ext>
            </a:extLst>
          </p:cNvPr>
          <p:cNvSpPr txBox="1"/>
          <p:nvPr/>
        </p:nvSpPr>
        <p:spPr>
          <a:xfrm>
            <a:off x="1016000" y="23368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AD9AF-1C85-684B-8D3C-5AD21B6B1A9E}"/>
              </a:ext>
            </a:extLst>
          </p:cNvPr>
          <p:cNvSpPr txBox="1"/>
          <p:nvPr/>
        </p:nvSpPr>
        <p:spPr>
          <a:xfrm>
            <a:off x="1714500" y="22606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Labs frontier propietarios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1A46C-F49B-F341-A2FA-6FD7036AA450}"/>
              </a:ext>
            </a:extLst>
          </p:cNvPr>
          <p:cNvSpPr txBox="1"/>
          <p:nvPr/>
        </p:nvSpPr>
        <p:spPr>
          <a:xfrm>
            <a:off x="1714500" y="25146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Anthropic · OpenAI · Google · xAI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3278BA-E9B3-FE44-9FA5-DB3F0E095C23}"/>
              </a:ext>
            </a:extLst>
          </p:cNvPr>
          <p:cNvSpPr/>
          <p:nvPr/>
        </p:nvSpPr>
        <p:spPr>
          <a:xfrm>
            <a:off x="8636000" y="23368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Cerrados · API-first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5D28D-D4D8-4B40-930B-47DD9DF5E692}"/>
              </a:ext>
            </a:extLst>
          </p:cNvPr>
          <p:cNvSpPr/>
          <p:nvPr/>
        </p:nvSpPr>
        <p:spPr>
          <a:xfrm>
            <a:off x="762000" y="28702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501A56-DF93-124E-8C79-04653D3FEBBA}"/>
              </a:ext>
            </a:extLst>
          </p:cNvPr>
          <p:cNvSpPr/>
          <p:nvPr/>
        </p:nvSpPr>
        <p:spPr>
          <a:xfrm>
            <a:off x="762000" y="28702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564A40-655B-8643-B6EC-FB823684BB57}"/>
              </a:ext>
            </a:extLst>
          </p:cNvPr>
          <p:cNvSpPr txBox="1"/>
          <p:nvPr/>
        </p:nvSpPr>
        <p:spPr>
          <a:xfrm>
            <a:off x="1016000" y="30480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AFBBCF-178E-1C49-9542-479FC9612637}"/>
              </a:ext>
            </a:extLst>
          </p:cNvPr>
          <p:cNvSpPr txBox="1"/>
          <p:nvPr/>
        </p:nvSpPr>
        <p:spPr>
          <a:xfrm>
            <a:off x="1714500" y="29718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Labs chinos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4B2AB-0440-1743-9562-7050C71F5F0E}"/>
              </a:ext>
            </a:extLst>
          </p:cNvPr>
          <p:cNvSpPr txBox="1"/>
          <p:nvPr/>
        </p:nvSpPr>
        <p:spPr>
          <a:xfrm>
            <a:off x="1714500" y="32258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DeepSeek · Alibaba · Moonshot · Z.ai · MiniMax · ByteDance · Zhipu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2AAB88-4786-E549-8106-DBCBF0C71CAA}"/>
              </a:ext>
            </a:extLst>
          </p:cNvPr>
          <p:cNvSpPr/>
          <p:nvPr/>
        </p:nvSpPr>
        <p:spPr>
          <a:xfrm>
            <a:off x="8636000" y="30480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Frontera de facto · precios disruptivos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46C836-F03F-ED48-890B-3F966B96F6D8}"/>
              </a:ext>
            </a:extLst>
          </p:cNvPr>
          <p:cNvSpPr/>
          <p:nvPr/>
        </p:nvSpPr>
        <p:spPr>
          <a:xfrm>
            <a:off x="762000" y="35814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B3AC76-C834-2248-A3DB-9E6DB8A8018D}"/>
              </a:ext>
            </a:extLst>
          </p:cNvPr>
          <p:cNvSpPr/>
          <p:nvPr/>
        </p:nvSpPr>
        <p:spPr>
          <a:xfrm>
            <a:off x="762000" y="35814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7B569-5A10-1849-BC9C-705FA2688D8C}"/>
              </a:ext>
            </a:extLst>
          </p:cNvPr>
          <p:cNvSpPr txBox="1"/>
          <p:nvPr/>
        </p:nvSpPr>
        <p:spPr>
          <a:xfrm>
            <a:off x="1016000" y="37592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6CDC9-A79F-5B41-8C05-CCCCEED61733}"/>
              </a:ext>
            </a:extLst>
          </p:cNvPr>
          <p:cNvSpPr txBox="1"/>
          <p:nvPr/>
        </p:nvSpPr>
        <p:spPr>
          <a:xfrm>
            <a:off x="1714500" y="36830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0F1E3D"/>
                </a:solidFill>
                <a:latin typeface="Inter"/>
              </a:rPr>
              <a:t>Open-weights</a:t>
            </a:r>
            <a:endParaRPr lang="en-PE" sz="1500" b="1" dirty="0">
              <a:solidFill>
                <a:srgbClr val="0F1E3D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191A5-A784-DB4A-BA2E-F3A084D5282C}"/>
              </a:ext>
            </a:extLst>
          </p:cNvPr>
          <p:cNvSpPr txBox="1"/>
          <p:nvPr/>
        </p:nvSpPr>
        <p:spPr>
          <a:xfrm>
            <a:off x="1714500" y="3937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Meta (Llama) · Mistral · Cohere · AI2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FEE989-9FEE-A84D-98D9-C7FC6967451A}"/>
              </a:ext>
            </a:extLst>
          </p:cNvPr>
          <p:cNvSpPr/>
          <p:nvPr/>
        </p:nvSpPr>
        <p:spPr>
          <a:xfrm>
            <a:off x="8636000" y="37592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Pesos descargables · licencia usable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117FC0-B6AF-7943-A53D-DC463F26D55C}"/>
              </a:ext>
            </a:extLst>
          </p:cNvPr>
          <p:cNvSpPr/>
          <p:nvPr/>
        </p:nvSpPr>
        <p:spPr>
          <a:xfrm>
            <a:off x="762000" y="42926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77F3F8-105C-FF43-8564-96B86C60E95E}"/>
              </a:ext>
            </a:extLst>
          </p:cNvPr>
          <p:cNvSpPr/>
          <p:nvPr/>
        </p:nvSpPr>
        <p:spPr>
          <a:xfrm>
            <a:off x="762000" y="42926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28F419-DCC8-CD48-9B37-B58CEA77DE69}"/>
              </a:ext>
            </a:extLst>
          </p:cNvPr>
          <p:cNvSpPr txBox="1"/>
          <p:nvPr/>
        </p:nvSpPr>
        <p:spPr>
          <a:xfrm>
            <a:off x="1016000" y="44704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0B827-DC9E-2040-879C-8BC3CF709926}"/>
              </a:ext>
            </a:extLst>
          </p:cNvPr>
          <p:cNvSpPr txBox="1"/>
          <p:nvPr/>
        </p:nvSpPr>
        <p:spPr>
          <a:xfrm>
            <a:off x="1714500" y="43942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Infra de inferencia especializada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9EA681-F2C7-394A-B37E-F3F90DA3B247}"/>
              </a:ext>
            </a:extLst>
          </p:cNvPr>
          <p:cNvSpPr txBox="1"/>
          <p:nvPr/>
        </p:nvSpPr>
        <p:spPr>
          <a:xfrm>
            <a:off x="1714500" y="46482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Groq · Cerebras · SambaNova · Together · Fireworks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43E3719-011E-C843-9ACE-5E84C8D9D1AD}"/>
              </a:ext>
            </a:extLst>
          </p:cNvPr>
          <p:cNvSpPr/>
          <p:nvPr/>
        </p:nvSpPr>
        <p:spPr>
          <a:xfrm>
            <a:off x="8636000" y="44704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Velocidad · throughput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E88F46-AE67-E545-AD35-51FFFDED3360}"/>
              </a:ext>
            </a:extLst>
          </p:cNvPr>
          <p:cNvSpPr/>
          <p:nvPr/>
        </p:nvSpPr>
        <p:spPr>
          <a:xfrm>
            <a:off x="762000" y="50038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B2B414-E800-DE4C-A430-EF36C89AE8EE}"/>
              </a:ext>
            </a:extLst>
          </p:cNvPr>
          <p:cNvSpPr/>
          <p:nvPr/>
        </p:nvSpPr>
        <p:spPr>
          <a:xfrm>
            <a:off x="762000" y="50038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6B051C-69F2-E44A-9FE2-6433B0DFFE0B}"/>
              </a:ext>
            </a:extLst>
          </p:cNvPr>
          <p:cNvSpPr txBox="1"/>
          <p:nvPr/>
        </p:nvSpPr>
        <p:spPr>
          <a:xfrm>
            <a:off x="1016000" y="51816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FE8710-3389-1444-8A80-32E1B44CF3E4}"/>
              </a:ext>
            </a:extLst>
          </p:cNvPr>
          <p:cNvSpPr txBox="1"/>
          <p:nvPr/>
        </p:nvSpPr>
        <p:spPr>
          <a:xfrm>
            <a:off x="1714500" y="51054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Hyperscalers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88A398-2DC4-7D4B-833B-03179831E8FD}"/>
              </a:ext>
            </a:extLst>
          </p:cNvPr>
          <p:cNvSpPr txBox="1"/>
          <p:nvPr/>
        </p:nvSpPr>
        <p:spPr>
          <a:xfrm>
            <a:off x="1714500" y="53594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AWS Bedrock · Azure AI Foundry · Google Vertex · Oracle OCI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BF6094B-C9C0-7A4B-8987-C9DA0BE5F39C}"/>
              </a:ext>
            </a:extLst>
          </p:cNvPr>
          <p:cNvSpPr/>
          <p:nvPr/>
        </p:nvSpPr>
        <p:spPr>
          <a:xfrm>
            <a:off x="8636000" y="51816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Compliance · facturación enterprise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34598D-469A-F94E-9FAB-945FF9CD6A7A}"/>
              </a:ext>
            </a:extLst>
          </p:cNvPr>
          <p:cNvSpPr/>
          <p:nvPr/>
        </p:nvSpPr>
        <p:spPr>
          <a:xfrm>
            <a:off x="762000" y="5715000"/>
            <a:ext cx="10668000" cy="6604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33CB28-CB74-304B-8C82-1E78F73CD0A2}"/>
              </a:ext>
            </a:extLst>
          </p:cNvPr>
          <p:cNvSpPr/>
          <p:nvPr/>
        </p:nvSpPr>
        <p:spPr>
          <a:xfrm>
            <a:off x="762000" y="5715000"/>
            <a:ext cx="63500" cy="660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C75E72-6CC0-7044-A7F2-98F5FAC8D24C}"/>
              </a:ext>
            </a:extLst>
          </p:cNvPr>
          <p:cNvSpPr txBox="1"/>
          <p:nvPr/>
        </p:nvSpPr>
        <p:spPr>
          <a:xfrm>
            <a:off x="1016000" y="58928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2179F1-281B-BC45-9FD3-67BA78A3FC4F}"/>
              </a:ext>
            </a:extLst>
          </p:cNvPr>
          <p:cNvSpPr txBox="1"/>
          <p:nvPr/>
        </p:nvSpPr>
        <p:spPr>
          <a:xfrm>
            <a:off x="1714500" y="58166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Self-hosting local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18FD1B-47B5-314A-9E7F-CB564B8811BB}"/>
              </a:ext>
            </a:extLst>
          </p:cNvPr>
          <p:cNvSpPr txBox="1"/>
          <p:nvPr/>
        </p:nvSpPr>
        <p:spPr>
          <a:xfrm>
            <a:off x="1714500" y="60706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Inter"/>
              </a:rPr>
              <a:t>Ollama · vLLM · llama.cpp · LM Studio · MLX</a:t>
            </a:r>
            <a:endParaRPr lang="en-PE" sz="11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DBD2D57-53E1-F743-9F02-87E5CBC72393}"/>
              </a:ext>
            </a:extLst>
          </p:cNvPr>
          <p:cNvSpPr/>
          <p:nvPr/>
        </p:nvSpPr>
        <p:spPr>
          <a:xfrm>
            <a:off x="8636000" y="5892800"/>
            <a:ext cx="2667000" cy="304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Soberanía · on-device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BBF294-578E-9C4D-9B07-2FB64A3F5AD9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F1E3D"/>
                </a:solidFill>
                <a:latin typeface="Inter"/>
              </a:rPr>
              <a:t>"Proveedor" no es sinónimo de "laboratorio". El arquitecto elige el modelo Y el canal.</a:t>
            </a:r>
            <a:endParaRPr lang="en-PE" sz="14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13512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ED053-B6CA-3C4F-8BC8-B5A939035E8E}"/>
              </a:ext>
            </a:extLst>
          </p:cNvPr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93A03-E9B8-B74C-82EE-9539713AF1F9}"/>
              </a:ext>
            </a:extLst>
          </p:cNvPr>
          <p:cNvSpPr txBox="1"/>
          <p:nvPr/>
        </p:nvSpPr>
        <p:spPr>
          <a:xfrm>
            <a:off x="762000" y="762000"/>
            <a:ext cx="635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E3D"/>
                </a:solidFill>
                <a:latin typeface="Inter"/>
              </a:rPr>
              <a:t>Top 9 frontera · abril 2026</a:t>
            </a:r>
            <a:endParaRPr lang="en-PE" sz="2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110D6-110E-E344-AF35-BC543294C76C}"/>
              </a:ext>
            </a:extLst>
          </p:cNvPr>
          <p:cNvSpPr txBox="1"/>
          <p:nvPr/>
        </p:nvSpPr>
        <p:spPr>
          <a:xfrm>
            <a:off x="762000" y="1219200"/>
            <a:ext cx="889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300" i="1">
                <a:solidFill>
                  <a:srgbClr val="4A7FC1"/>
                </a:solidFill>
                <a:latin typeface="Inter"/>
              </a:rPr>
              <a:t>4 🇺🇸 + 5 🇨🇳 · </a:t>
            </a:r>
            <a:r>
              <a:rPr lang="en-US" sz="1300" i="1">
                <a:solidFill>
                  <a:srgbClr val="4A7FC1"/>
                </a:solidFill>
                <a:latin typeface="Inter"/>
              </a:rPr>
              <a:t>un mercado verdaderamente multipolar</a:t>
            </a:r>
            <a:endParaRPr lang="en-PE" sz="13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24F483-EE69-BB47-BDBC-ED43F7E60E08}"/>
              </a:ext>
            </a:extLst>
          </p:cNvPr>
          <p:cNvSpPr/>
          <p:nvPr/>
        </p:nvSpPr>
        <p:spPr>
          <a:xfrm>
            <a:off x="9144000" y="863600"/>
            <a:ext cx="2286000" cy="406400"/>
          </a:xfrm>
          <a:prstGeom prst="round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563BD-36A8-1541-9907-829081EEF853}"/>
              </a:ext>
            </a:extLst>
          </p:cNvPr>
          <p:cNvSpPr txBox="1"/>
          <p:nvPr/>
        </p:nvSpPr>
        <p:spPr>
          <a:xfrm>
            <a:off x="9334500" y="9779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✓ Open-weights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047FE-E107-2049-B8AE-2E608C441777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49414F-43E2-934B-907C-7E8E0150F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08835"/>
              </p:ext>
            </p:extLst>
          </p:nvPr>
        </p:nvGraphicFramePr>
        <p:xfrm>
          <a:off x="508000" y="1714500"/>
          <a:ext cx="11176000" cy="450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8793251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974081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13985014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26584380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98472303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904390966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89692522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#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Empresa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Flagship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Contexto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Precio in/out $/M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OW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200" b="1">
                          <a:solidFill>
                            <a:srgbClr val="FFFFFF"/>
                          </a:solidFill>
                          <a:latin typeface="Inter"/>
                        </a:rPr>
                        <a:t>Fortaleza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55151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🇺🇸 Anthropic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Claude Opus 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200K / 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$5 / $25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A8C0DC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Agentic coding, 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1329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🇺🇸 OpenAI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GPT-5.4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1M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$1.25 / $10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A8C0DC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Ecosistema ancho, voz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80151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🇺🇸 Google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Gemini 3.1 Pro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1M (2M Vertex)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$1.25 / $10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A8C0DC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Long context real, 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64754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🇺🇸 xAI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Grok 4.20 v2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256K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$3 / $15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A8C0DC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Datos en vivo de X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9797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🇨🇳 DeepSeek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DeepSeek V3.2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128K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$0.27 / $1.10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2C5AA0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Precio disruptivo, MoE 671B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3921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🇨🇳 Alibaba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Qwen 3.6-Plus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1M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$0.40 / $1.20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2C5AA0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Agentic, multilingüe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0465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🇨🇳 Moonshot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Kimi K2.6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$1 / $3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2C5AA0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Agent swarm 100 subagentes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82346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🇨🇳 Z.ai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GLM-5.1 MoE 754B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$0.80 / $2.56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2C5AA0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#1 SWE-Bench Pro, 8h autónomas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4584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PE" sz="1100" b="1">
                          <a:solidFill>
                            <a:srgbClr val="2C5AA0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🇨🇳 MiniMax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 b="1">
                          <a:solidFill>
                            <a:srgbClr val="0F1E3D"/>
                          </a:solidFill>
                          <a:latin typeface="Inter"/>
                        </a:rPr>
                        <a:t>M2.7 MoE 230B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$0.30 / $1.50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E" sz="1400" b="1">
                          <a:solidFill>
                            <a:srgbClr val="2C5AA0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100">
                          <a:solidFill>
                            <a:srgbClr val="1F3A68"/>
                          </a:solidFill>
                          <a:latin typeface="Inter"/>
                        </a:rPr>
                        <a:t>Self-improving, 100 tok/s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9066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1896D67-5A91-EA49-8816-779C1AE2DBA7}"/>
              </a:ext>
            </a:extLst>
          </p:cNvPr>
          <p:cNvSpPr txBox="1"/>
          <p:nvPr/>
        </p:nvSpPr>
        <p:spPr>
          <a:xfrm>
            <a:off x="762000" y="65405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0F1E3D"/>
                </a:solidFill>
                <a:latin typeface="Inter"/>
              </a:rPr>
              <a:t>Diferencia de precio tier US vs DeepSeek: ~15–50×. Decisión existencial para apps sensibles al coste.</a:t>
            </a:r>
            <a:endParaRPr lang="en-PE" sz="12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30212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A087F-D40A-B547-95D1-7CED6BFEAAB9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4F462-7F6B-7345-A1B1-F5D60516A74A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Qué elegir según el caso de negocio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6AB75-CB4D-724B-A5B5-3D7ED467BAAD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Orientativo, no dogma. Decide con tu eval.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775E0E-BD80-A840-9050-4B33A2D462AF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B8C1D-03A6-0D49-8F06-5501D2A45387}"/>
              </a:ext>
            </a:extLst>
          </p:cNvPr>
          <p:cNvSpPr/>
          <p:nvPr/>
        </p:nvSpPr>
        <p:spPr>
          <a:xfrm>
            <a:off x="762000" y="2159000"/>
            <a:ext cx="10668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CC4D7-0F64-E849-8082-5E12FB0F26E4}"/>
              </a:ext>
            </a:extLst>
          </p:cNvPr>
          <p:cNvSpPr txBox="1"/>
          <p:nvPr/>
        </p:nvSpPr>
        <p:spPr>
          <a:xfrm>
            <a:off x="1016000" y="2336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Coding agent · dev tool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7F8DD-6A66-F24D-9D0B-739BBF06BBE0}"/>
              </a:ext>
            </a:extLst>
          </p:cNvPr>
          <p:cNvSpPr txBox="1"/>
          <p:nvPr/>
        </p:nvSpPr>
        <p:spPr>
          <a:xfrm>
            <a:off x="4191000" y="2260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Claude Opus · Qwen 3.6-Plus · GLM-5.1 · Kimi K2.6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2CA27-BFA0-8647-85B5-8D4A68030D1A}"/>
              </a:ext>
            </a:extLst>
          </p:cNvPr>
          <p:cNvSpPr txBox="1"/>
          <p:nvPr/>
        </p:nvSpPr>
        <p:spPr>
          <a:xfrm>
            <a:off x="4191000" y="2489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Líderes en SWE-Bench y agentic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83158-D96B-3945-AEDF-A31D43BDD72A}"/>
              </a:ext>
            </a:extLst>
          </p:cNvPr>
          <p:cNvSpPr txBox="1"/>
          <p:nvPr/>
        </p:nvSpPr>
        <p:spPr>
          <a:xfrm>
            <a:off x="3810000" y="2311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1EAB8-A195-7A4D-B6A2-A8290869EE20}"/>
              </a:ext>
            </a:extLst>
          </p:cNvPr>
          <p:cNvSpPr txBox="1"/>
          <p:nvPr/>
        </p:nvSpPr>
        <p:spPr>
          <a:xfrm>
            <a:off x="1016000" y="2971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Chatbot de alto volumen barato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FDF44-75C1-2148-9DC7-AEAC9908B95C}"/>
              </a:ext>
            </a:extLst>
          </p:cNvPr>
          <p:cNvSpPr txBox="1"/>
          <p:nvPr/>
        </p:nvSpPr>
        <p:spPr>
          <a:xfrm>
            <a:off x="4191000" y="289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DeepSeek V3.2 · GPT-5.4 nano · Gemini Flash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09732-B6B2-1C48-A6F1-78DFDCEE1BAC}"/>
              </a:ext>
            </a:extLst>
          </p:cNvPr>
          <p:cNvSpPr txBox="1"/>
          <p:nvPr/>
        </p:nvSpPr>
        <p:spPr>
          <a:xfrm>
            <a:off x="4191000" y="3124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Precio por M token mínimo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BEBC12-6EEA-C04D-A706-F37B5F0CF6AB}"/>
              </a:ext>
            </a:extLst>
          </p:cNvPr>
          <p:cNvSpPr txBox="1"/>
          <p:nvPr/>
        </p:nvSpPr>
        <p:spPr>
          <a:xfrm>
            <a:off x="3810000" y="2946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94203F-B05F-1F48-87C3-DADD474FC95C}"/>
              </a:ext>
            </a:extLst>
          </p:cNvPr>
          <p:cNvSpPr/>
          <p:nvPr/>
        </p:nvSpPr>
        <p:spPr>
          <a:xfrm>
            <a:off x="762000" y="3429000"/>
            <a:ext cx="10668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13DD1-1433-8642-AFFD-72C1329ECB5D}"/>
              </a:ext>
            </a:extLst>
          </p:cNvPr>
          <p:cNvSpPr txBox="1"/>
          <p:nvPr/>
        </p:nvSpPr>
        <p:spPr>
          <a:xfrm>
            <a:off x="1016000" y="3606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App legal/sanitaria en EU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3B04C-A06F-1841-83DA-3842AE631712}"/>
              </a:ext>
            </a:extLst>
          </p:cNvPr>
          <p:cNvSpPr txBox="1"/>
          <p:nvPr/>
        </p:nvSpPr>
        <p:spPr>
          <a:xfrm>
            <a:off x="4191000" y="3530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Mistral Large · Claude vía Bedrock EU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D80AA-2929-5E41-9D27-E50C64DCC155}"/>
              </a:ext>
            </a:extLst>
          </p:cNvPr>
          <p:cNvSpPr txBox="1"/>
          <p:nvPr/>
        </p:nvSpPr>
        <p:spPr>
          <a:xfrm>
            <a:off x="4191000" y="3759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GDPR + ZDR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08538-A4F0-EC4A-AC60-CD6BD764357B}"/>
              </a:ext>
            </a:extLst>
          </p:cNvPr>
          <p:cNvSpPr txBox="1"/>
          <p:nvPr/>
        </p:nvSpPr>
        <p:spPr>
          <a:xfrm>
            <a:off x="3810000" y="3581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BD70B4-D03A-0D43-BA6E-61412EC5B3EF}"/>
              </a:ext>
            </a:extLst>
          </p:cNvPr>
          <p:cNvSpPr txBox="1"/>
          <p:nvPr/>
        </p:nvSpPr>
        <p:spPr>
          <a:xfrm>
            <a:off x="1016000" y="4241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Video Q&amp;A (análisis, transcripción)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06335-5660-4D4E-81EB-A84AB1575A68}"/>
              </a:ext>
            </a:extLst>
          </p:cNvPr>
          <p:cNvSpPr txBox="1"/>
          <p:nvPr/>
        </p:nvSpPr>
        <p:spPr>
          <a:xfrm>
            <a:off x="4191000" y="416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Gemini 3.1 Pro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6ABEFD-0F4B-F941-9273-4CF1DFA144F1}"/>
              </a:ext>
            </a:extLst>
          </p:cNvPr>
          <p:cNvSpPr txBox="1"/>
          <p:nvPr/>
        </p:nvSpPr>
        <p:spPr>
          <a:xfrm>
            <a:off x="4191000" y="4394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Único con video nativo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171BCF-D661-CA43-9E0A-7AC885A56F5F}"/>
              </a:ext>
            </a:extLst>
          </p:cNvPr>
          <p:cNvSpPr txBox="1"/>
          <p:nvPr/>
        </p:nvSpPr>
        <p:spPr>
          <a:xfrm>
            <a:off x="3810000" y="4216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974727-2BB2-D149-96D2-AB29ADDC2A15}"/>
              </a:ext>
            </a:extLst>
          </p:cNvPr>
          <p:cNvSpPr/>
          <p:nvPr/>
        </p:nvSpPr>
        <p:spPr>
          <a:xfrm>
            <a:off x="762000" y="4699000"/>
            <a:ext cx="10668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72029-F416-0F4F-B2ED-66880BCAC81A}"/>
              </a:ext>
            </a:extLst>
          </p:cNvPr>
          <p:cNvSpPr txBox="1"/>
          <p:nvPr/>
        </p:nvSpPr>
        <p:spPr>
          <a:xfrm>
            <a:off x="1016000" y="4876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Voz en tiempo real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A17D84-7E60-0042-A654-B78D26D482A7}"/>
              </a:ext>
            </a:extLst>
          </p:cNvPr>
          <p:cNvSpPr txBox="1"/>
          <p:nvPr/>
        </p:nvSpPr>
        <p:spPr>
          <a:xfrm>
            <a:off x="4191000" y="4800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GPT-5.4 Realtime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C40E72-259F-AF42-8E20-6EAE842E2524}"/>
              </a:ext>
            </a:extLst>
          </p:cNvPr>
          <p:cNvSpPr txBox="1"/>
          <p:nvPr/>
        </p:nvSpPr>
        <p:spPr>
          <a:xfrm>
            <a:off x="4191000" y="5029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API madura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4F01E4-BB0F-744B-BAC9-93276847DC89}"/>
              </a:ext>
            </a:extLst>
          </p:cNvPr>
          <p:cNvSpPr txBox="1"/>
          <p:nvPr/>
        </p:nvSpPr>
        <p:spPr>
          <a:xfrm>
            <a:off x="3810000" y="4851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F8D79-61FA-7047-9CE9-8FC7B510A6BA}"/>
              </a:ext>
            </a:extLst>
          </p:cNvPr>
          <p:cNvSpPr txBox="1"/>
          <p:nvPr/>
        </p:nvSpPr>
        <p:spPr>
          <a:xfrm>
            <a:off x="1016000" y="5511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Datos en vivo · social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DC2443-C852-A347-BA08-D21910D86D1B}"/>
              </a:ext>
            </a:extLst>
          </p:cNvPr>
          <p:cNvSpPr txBox="1"/>
          <p:nvPr/>
        </p:nvSpPr>
        <p:spPr>
          <a:xfrm>
            <a:off x="4191000" y="543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Grok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785BCB-E305-1B4B-A31E-7F0E49880E83}"/>
              </a:ext>
            </a:extLst>
          </p:cNvPr>
          <p:cNvSpPr txBox="1"/>
          <p:nvPr/>
        </p:nvSpPr>
        <p:spPr>
          <a:xfrm>
            <a:off x="4191000" y="5664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Acceso nativo a X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7C576-B2AE-C546-901F-2FC54616396E}"/>
              </a:ext>
            </a:extLst>
          </p:cNvPr>
          <p:cNvSpPr txBox="1"/>
          <p:nvPr/>
        </p:nvSpPr>
        <p:spPr>
          <a:xfrm>
            <a:off x="3810000" y="5486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219933-5BC7-D346-AA63-D64FDC3413A6}"/>
              </a:ext>
            </a:extLst>
          </p:cNvPr>
          <p:cNvSpPr/>
          <p:nvPr/>
        </p:nvSpPr>
        <p:spPr>
          <a:xfrm>
            <a:off x="762000" y="5969000"/>
            <a:ext cx="10668000" cy="6096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3E349A-CBB2-1140-A2DD-1E37FFAD8202}"/>
              </a:ext>
            </a:extLst>
          </p:cNvPr>
          <p:cNvSpPr txBox="1"/>
          <p:nvPr/>
        </p:nvSpPr>
        <p:spPr>
          <a:xfrm>
            <a:off x="1016000" y="6146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Self-host soberano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92D5B3-588E-DB4F-A0A9-86F78287DA6F}"/>
              </a:ext>
            </a:extLst>
          </p:cNvPr>
          <p:cNvSpPr txBox="1"/>
          <p:nvPr/>
        </p:nvSpPr>
        <p:spPr>
          <a:xfrm>
            <a:off x="4191000" y="6070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C5AA0"/>
                </a:solidFill>
                <a:latin typeface="Inter"/>
              </a:rPr>
              <a:t>Qwen · DeepSeek · GLM · Kimi · MiniMax</a:t>
            </a:r>
            <a:endParaRPr lang="en-PE" sz="12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C547D4-CDF7-B945-AE4B-E47A7854AF28}"/>
              </a:ext>
            </a:extLst>
          </p:cNvPr>
          <p:cNvSpPr txBox="1"/>
          <p:nvPr/>
        </p:nvSpPr>
        <p:spPr>
          <a:xfrm>
            <a:off x="4191000" y="6299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Open-weights serios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D3CF14-4276-934C-B45D-D5636A0671A5}"/>
              </a:ext>
            </a:extLst>
          </p:cNvPr>
          <p:cNvSpPr txBox="1"/>
          <p:nvPr/>
        </p:nvSpPr>
        <p:spPr>
          <a:xfrm>
            <a:off x="3810000" y="6121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891291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B8D5-CE66-A547-B772-CDE288CB75F4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B29B9-426E-2444-AE75-025396F13FD8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El rey open-weights cambió de bando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E41C2-9045-1146-A3AD-C4D6648A3AED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2023–2024: Llama · 2026: Qwen, DeepSeek, Kimi, GLM, MiniMax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3FA394-4595-4941-A6B2-EE8C4B1D8142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1F67D-ACDD-484E-8233-857E8E9B535F}"/>
              </a:ext>
            </a:extLst>
          </p:cNvPr>
          <p:cNvSpPr/>
          <p:nvPr/>
        </p:nvSpPr>
        <p:spPr>
          <a:xfrm>
            <a:off x="762000" y="2159000"/>
            <a:ext cx="5207000" cy="419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2082F-D4B8-0A4A-8813-F0210D8EE6C8}"/>
              </a:ext>
            </a:extLst>
          </p:cNvPr>
          <p:cNvSpPr txBox="1"/>
          <p:nvPr/>
        </p:nvSpPr>
        <p:spPr>
          <a:xfrm>
            <a:off x="1066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META · LLAMA 4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4B5B8-B0B4-DA41-A2D7-284ECF288AEB}"/>
              </a:ext>
            </a:extLst>
          </p:cNvPr>
          <p:cNvSpPr txBox="1"/>
          <p:nvPr/>
        </p:nvSpPr>
        <p:spPr>
          <a:xfrm>
            <a:off x="1066800" y="26670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E3D"/>
                </a:solidFill>
                <a:latin typeface="Inter"/>
              </a:rPr>
              <a:t>Ecosistema y licencia US-friendly</a:t>
            </a:r>
            <a:endParaRPr lang="en-PE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15D56-13AF-1340-B70A-42FF027D4885}"/>
              </a:ext>
            </a:extLst>
          </p:cNvPr>
          <p:cNvSpPr txBox="1"/>
          <p:nvPr/>
        </p:nvSpPr>
        <p:spPr>
          <a:xfrm>
            <a:off x="1066800" y="3175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ÚLTIMO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420BE1-75B8-AC48-9A58-712EEBE2F69E}"/>
              </a:ext>
            </a:extLst>
          </p:cNvPr>
          <p:cNvSpPr txBox="1"/>
          <p:nvPr/>
        </p:nvSpPr>
        <p:spPr>
          <a:xfrm>
            <a:off x="1066800" y="3352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Scout 109B · Maverick 400B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7AA75-8CFA-964F-844F-9E10F2F9908D}"/>
              </a:ext>
            </a:extLst>
          </p:cNvPr>
          <p:cNvSpPr txBox="1"/>
          <p:nvPr/>
        </p:nvSpPr>
        <p:spPr>
          <a:xfrm>
            <a:off x="1066800" y="3683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LICENCIA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D421D-C2D4-B74A-A844-F20EA282B52E}"/>
              </a:ext>
            </a:extLst>
          </p:cNvPr>
          <p:cNvSpPr txBox="1"/>
          <p:nvPr/>
        </p:nvSpPr>
        <p:spPr>
          <a:xfrm>
            <a:off x="1066800" y="3860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Llama Community (restricciones &gt;700M MAU)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D3C55-BF60-5B42-9984-CEA938D7989F}"/>
              </a:ext>
            </a:extLst>
          </p:cNvPr>
          <p:cNvSpPr txBox="1"/>
          <p:nvPr/>
        </p:nvSpPr>
        <p:spPr>
          <a:xfrm>
            <a:off x="1066800" y="4191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CALIDAD 2026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04997-7026-C84B-B3BE-8BD289EEBDDE}"/>
              </a:ext>
            </a:extLst>
          </p:cNvPr>
          <p:cNvSpPr txBox="1"/>
          <p:nvPr/>
        </p:nvSpPr>
        <p:spPr>
          <a:xfrm>
            <a:off x="1066800" y="4368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Perdió el liderazgo open en lanzamiento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246D7-6C3B-A742-89AC-E593CAB89CA6}"/>
              </a:ext>
            </a:extLst>
          </p:cNvPr>
          <p:cNvSpPr txBox="1"/>
          <p:nvPr/>
        </p:nvSpPr>
        <p:spPr>
          <a:xfrm>
            <a:off x="1066800" y="4699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MULTILINGÜE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715020-2661-9541-AE1C-ED4CF0F4F511}"/>
              </a:ext>
            </a:extLst>
          </p:cNvPr>
          <p:cNvSpPr txBox="1"/>
          <p:nvPr/>
        </p:nvSpPr>
        <p:spPr>
          <a:xfrm>
            <a:off x="1066800" y="4876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12 idiomas declarados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09B2A-30DE-0E42-B392-692F8DD7E63E}"/>
              </a:ext>
            </a:extLst>
          </p:cNvPr>
          <p:cNvSpPr txBox="1"/>
          <p:nvPr/>
        </p:nvSpPr>
        <p:spPr>
          <a:xfrm>
            <a:off x="1066800" y="5207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FINE-TUNES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0CEA95-564D-634E-8FAC-A5AA2D0EC54C}"/>
              </a:ext>
            </a:extLst>
          </p:cNvPr>
          <p:cNvSpPr txBox="1"/>
          <p:nvPr/>
        </p:nvSpPr>
        <p:spPr>
          <a:xfrm>
            <a:off x="1066800" y="5384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El más amplio (años de ventaja)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5DB7EE-B20B-A441-8692-80A1739FE48B}"/>
              </a:ext>
            </a:extLst>
          </p:cNvPr>
          <p:cNvSpPr txBox="1"/>
          <p:nvPr/>
        </p:nvSpPr>
        <p:spPr>
          <a:xfrm>
            <a:off x="1066800" y="5715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6B8CAE"/>
                </a:solidFill>
                <a:latin typeface="Inter"/>
              </a:rPr>
              <a:t>ENTRENAMIENTO</a:t>
            </a:r>
            <a:endParaRPr lang="en-PE" sz="9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8F2AE-5BD7-2040-B403-31AF82C8A71C}"/>
              </a:ext>
            </a:extLst>
          </p:cNvPr>
          <p:cNvSpPr txBox="1"/>
          <p:nvPr/>
        </p:nvSpPr>
        <p:spPr>
          <a:xfrm>
            <a:off x="1066800" y="5892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NVIDIA H100 clusters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441235-74F7-0349-9650-3C2B2146E3EB}"/>
              </a:ext>
            </a:extLst>
          </p:cNvPr>
          <p:cNvSpPr/>
          <p:nvPr/>
        </p:nvSpPr>
        <p:spPr>
          <a:xfrm>
            <a:off x="6223000" y="2159000"/>
            <a:ext cx="5207000" cy="4191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95A6D6-EB2B-0143-B3A2-0399EB9ED00D}"/>
              </a:ext>
            </a:extLst>
          </p:cNvPr>
          <p:cNvSpPr txBox="1"/>
          <p:nvPr/>
        </p:nvSpPr>
        <p:spPr>
          <a:xfrm>
            <a:off x="6527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OPEN-SOURCE CHINO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84F12A-BB27-F34B-8AA4-D336FB77666B}"/>
              </a:ext>
            </a:extLst>
          </p:cNvPr>
          <p:cNvSpPr txBox="1"/>
          <p:nvPr/>
        </p:nvSpPr>
        <p:spPr>
          <a:xfrm>
            <a:off x="6527800" y="26670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Inter"/>
              </a:rPr>
              <a:t>Frontera de calidad abierta</a:t>
            </a:r>
            <a:endParaRPr lang="en-PE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DF5DE4-5698-634C-9DA7-4CEE83F00632}"/>
              </a:ext>
            </a:extLst>
          </p:cNvPr>
          <p:cNvSpPr txBox="1"/>
          <p:nvPr/>
        </p:nvSpPr>
        <p:spPr>
          <a:xfrm>
            <a:off x="6527800" y="3175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FLAGSHIP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2EB7A2-C707-A247-933C-D8D0CAD2BD94}"/>
              </a:ext>
            </a:extLst>
          </p:cNvPr>
          <p:cNvSpPr txBox="1"/>
          <p:nvPr/>
        </p:nvSpPr>
        <p:spPr>
          <a:xfrm>
            <a:off x="6527800" y="3352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Qwen 3.6-Plus · DeepSeek V3.2 · GLM-5.1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BF7EF1-6827-9646-B016-C04D28955798}"/>
              </a:ext>
            </a:extLst>
          </p:cNvPr>
          <p:cNvSpPr txBox="1"/>
          <p:nvPr/>
        </p:nvSpPr>
        <p:spPr>
          <a:xfrm>
            <a:off x="6527800" y="3683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LICENCIA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AB7A0-9679-CB44-954D-470927FC7E18}"/>
              </a:ext>
            </a:extLst>
          </p:cNvPr>
          <p:cNvSpPr txBox="1"/>
          <p:nvPr/>
        </p:nvSpPr>
        <p:spPr>
          <a:xfrm>
            <a:off x="6527800" y="3860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Apache 2.0 / MIT — comercial libre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4D6664-322B-4A4E-94B4-AFD45B9B2468}"/>
              </a:ext>
            </a:extLst>
          </p:cNvPr>
          <p:cNvSpPr txBox="1"/>
          <p:nvPr/>
        </p:nvSpPr>
        <p:spPr>
          <a:xfrm>
            <a:off x="6527800" y="4191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CALIDAD 2026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5E1E2C-A2A9-BC40-8684-EFA3A2B549DA}"/>
              </a:ext>
            </a:extLst>
          </p:cNvPr>
          <p:cNvSpPr txBox="1"/>
          <p:nvPr/>
        </p:nvSpPr>
        <p:spPr>
          <a:xfrm>
            <a:off x="6527800" y="4368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GLM-5.1 #1 SWE-Bench Pro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D957B2-18F1-B445-8604-17D84B7E678A}"/>
              </a:ext>
            </a:extLst>
          </p:cNvPr>
          <p:cNvSpPr txBox="1"/>
          <p:nvPr/>
        </p:nvSpPr>
        <p:spPr>
          <a:xfrm>
            <a:off x="6527800" y="4699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MULTILINGÜE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DBA830-BE9E-AF44-88F6-E69AEB444C54}"/>
              </a:ext>
            </a:extLst>
          </p:cNvPr>
          <p:cNvSpPr txBox="1"/>
          <p:nvPr/>
        </p:nvSpPr>
        <p:spPr>
          <a:xfrm>
            <a:off x="6527800" y="4876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Chino + inglés fuertes · Qwen destaca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1245D2-FC97-6A4F-8BAF-BACEB42ABE25}"/>
              </a:ext>
            </a:extLst>
          </p:cNvPr>
          <p:cNvSpPr txBox="1"/>
          <p:nvPr/>
        </p:nvSpPr>
        <p:spPr>
          <a:xfrm>
            <a:off x="6527800" y="5207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FINE-TUNES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F7FADA-69CD-4646-98D4-C4B29F2B4B97}"/>
              </a:ext>
            </a:extLst>
          </p:cNvPr>
          <p:cNvSpPr txBox="1"/>
          <p:nvPr/>
        </p:nvSpPr>
        <p:spPr>
          <a:xfrm>
            <a:off x="6527800" y="5384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Creciendo rápido (Coder, Math, VL)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F883BD-D199-E041-8ECF-1FD2E0F8C4DD}"/>
              </a:ext>
            </a:extLst>
          </p:cNvPr>
          <p:cNvSpPr txBox="1"/>
          <p:nvPr/>
        </p:nvSpPr>
        <p:spPr>
          <a:xfrm>
            <a:off x="6527800" y="5715000"/>
            <a:ext cx="469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7FA3D1"/>
                </a:solidFill>
                <a:latin typeface="Inter"/>
              </a:rPr>
              <a:t>ENTRENAMIENTO</a:t>
            </a:r>
            <a:endParaRPr lang="en-PE" sz="9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D6FD9B-416D-0B4A-B249-95F847B2D8F0}"/>
              </a:ext>
            </a:extLst>
          </p:cNvPr>
          <p:cNvSpPr txBox="1"/>
          <p:nvPr/>
        </p:nvSpPr>
        <p:spPr>
          <a:xfrm>
            <a:off x="6527800" y="5892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Mixto — GLM-5 100% Huawei Ascend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C4B2A8-AF4A-E744-9389-C02C383509D1}"/>
              </a:ext>
            </a:extLst>
          </p:cNvPr>
          <p:cNvSpPr/>
          <p:nvPr/>
        </p:nvSpPr>
        <p:spPr>
          <a:xfrm>
            <a:off x="762000" y="6540500"/>
            <a:ext cx="10668000" cy="25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D04FF2-5706-4649-A2AA-6104FD03B838}"/>
              </a:ext>
            </a:extLst>
          </p:cNvPr>
          <p:cNvSpPr txBox="1"/>
          <p:nvPr/>
        </p:nvSpPr>
        <p:spPr>
          <a:xfrm>
            <a:off x="762000" y="65405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⚠ Uso empresarial OK en Occidente. Evitar API oficial china para PII. Export controls potenciales con Llama.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93676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5CCE5A-3013-4547-A539-63769EDF5798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52244-E7BE-DE45-963D-D0653F0A6F2F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Chat vs API: no son la misma cosa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99ECC-960C-FE46-9892-99A0CE134A55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El error conceptual más frecuente en alumnos nuevos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9BDFF-5156-C445-A3B3-02EE9D6E5E42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8647E-0619-CC4C-B2A9-94FBC3A240E4}"/>
              </a:ext>
            </a:extLst>
          </p:cNvPr>
          <p:cNvSpPr/>
          <p:nvPr/>
        </p:nvSpPr>
        <p:spPr>
          <a:xfrm>
            <a:off x="762000" y="2159000"/>
            <a:ext cx="5207000" cy="3810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687A9-D469-B942-A4D7-CE10BB32451A}"/>
              </a:ext>
            </a:extLst>
          </p:cNvPr>
          <p:cNvSpPr txBox="1"/>
          <p:nvPr/>
        </p:nvSpPr>
        <p:spPr>
          <a:xfrm>
            <a:off x="1066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CHAT (producto)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0078A-1745-2247-A357-28C73153DF25}"/>
              </a:ext>
            </a:extLst>
          </p:cNvPr>
          <p:cNvSpPr txBox="1"/>
          <p:nvPr/>
        </p:nvSpPr>
        <p:spPr>
          <a:xfrm>
            <a:off x="1066800" y="26670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F1E3D"/>
                </a:solidFill>
                <a:latin typeface="Inter"/>
              </a:rPr>
              <a:t>Capa 1+2+3 completa del proveedor</a:t>
            </a:r>
            <a:endParaRPr lang="en-PE" sz="17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543294-EB98-8D4C-AF5E-CADC2E3D3C49}"/>
              </a:ext>
            </a:extLst>
          </p:cNvPr>
          <p:cNvSpPr/>
          <p:nvPr/>
        </p:nvSpPr>
        <p:spPr>
          <a:xfrm>
            <a:off x="1066800" y="3441700"/>
            <a:ext cx="127000" cy="1270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8278C-4137-8049-8A22-CAC79D613132}"/>
              </a:ext>
            </a:extLst>
          </p:cNvPr>
          <p:cNvSpPr txBox="1"/>
          <p:nvPr/>
        </p:nvSpPr>
        <p:spPr>
          <a:xfrm>
            <a:off x="1295400" y="3365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Generar imágenes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226DC3-EC56-7A40-B104-643E2C8FACED}"/>
              </a:ext>
            </a:extLst>
          </p:cNvPr>
          <p:cNvSpPr/>
          <p:nvPr/>
        </p:nvSpPr>
        <p:spPr>
          <a:xfrm>
            <a:off x="1066800" y="3873500"/>
            <a:ext cx="127000" cy="1270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CDD48-4C84-4243-96B6-ADB6141EEB72}"/>
              </a:ext>
            </a:extLst>
          </p:cNvPr>
          <p:cNvSpPr txBox="1"/>
          <p:nvPr/>
        </p:nvSpPr>
        <p:spPr>
          <a:xfrm>
            <a:off x="1295400" y="37973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Buscar en la web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452821-9B4A-3644-9396-4396F911E7FD}"/>
              </a:ext>
            </a:extLst>
          </p:cNvPr>
          <p:cNvSpPr/>
          <p:nvPr/>
        </p:nvSpPr>
        <p:spPr>
          <a:xfrm>
            <a:off x="1066800" y="4305300"/>
            <a:ext cx="127000" cy="1270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EAE2F9-58C0-FC43-A3C2-40552FF62B3A}"/>
              </a:ext>
            </a:extLst>
          </p:cNvPr>
          <p:cNvSpPr txBox="1"/>
          <p:nvPr/>
        </p:nvSpPr>
        <p:spPr>
          <a:xfrm>
            <a:off x="1295400" y="42291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Subir PDFs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3E133E-8ECF-FC4A-AA78-2003FA05A0C4}"/>
              </a:ext>
            </a:extLst>
          </p:cNvPr>
          <p:cNvSpPr/>
          <p:nvPr/>
        </p:nvSpPr>
        <p:spPr>
          <a:xfrm>
            <a:off x="1066800" y="4737100"/>
            <a:ext cx="127000" cy="1270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DF478-DA73-8641-AEBB-09C05B5AD35A}"/>
              </a:ext>
            </a:extLst>
          </p:cNvPr>
          <p:cNvSpPr txBox="1"/>
          <p:nvPr/>
        </p:nvSpPr>
        <p:spPr>
          <a:xfrm>
            <a:off x="1295400" y="46609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Exportar gráficos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FE5C5C-B045-2E4E-B84A-6F09D3A61A08}"/>
              </a:ext>
            </a:extLst>
          </p:cNvPr>
          <p:cNvSpPr/>
          <p:nvPr/>
        </p:nvSpPr>
        <p:spPr>
          <a:xfrm>
            <a:off x="1066800" y="5168900"/>
            <a:ext cx="127000" cy="1270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2CFF7-26F9-E949-8C17-4E58D00EA5C5}"/>
              </a:ext>
            </a:extLst>
          </p:cNvPr>
          <p:cNvSpPr txBox="1"/>
          <p:nvPr/>
        </p:nvSpPr>
        <p:spPr>
          <a:xfrm>
            <a:off x="1295400" y="5092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Tareas multi-paso con tools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CB619-A63B-884A-A6EA-04099C7875A8}"/>
              </a:ext>
            </a:extLst>
          </p:cNvPr>
          <p:cNvSpPr/>
          <p:nvPr/>
        </p:nvSpPr>
        <p:spPr>
          <a:xfrm>
            <a:off x="6223000" y="2159000"/>
            <a:ext cx="5207000" cy="3810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33661D-28D1-A442-A675-3541432DD653}"/>
              </a:ext>
            </a:extLst>
          </p:cNvPr>
          <p:cNvSpPr txBox="1"/>
          <p:nvPr/>
        </p:nvSpPr>
        <p:spPr>
          <a:xfrm>
            <a:off x="6527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API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33BD31-7BCE-3A4B-858E-3600ECB79B29}"/>
              </a:ext>
            </a:extLst>
          </p:cNvPr>
          <p:cNvSpPr txBox="1"/>
          <p:nvPr/>
        </p:nvSpPr>
        <p:spPr>
          <a:xfrm>
            <a:off x="6527800" y="2667000"/>
            <a:ext cx="469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Inter"/>
              </a:rPr>
              <a:t>Solo capa 3 — tú montas las demás</a:t>
            </a:r>
            <a:endParaRPr lang="en-PE" sz="17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413215-C643-854E-8685-CA9C0BEC928C}"/>
              </a:ext>
            </a:extLst>
          </p:cNvPr>
          <p:cNvSpPr/>
          <p:nvPr/>
        </p:nvSpPr>
        <p:spPr>
          <a:xfrm>
            <a:off x="6527800" y="3441700"/>
            <a:ext cx="127000" cy="1270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C1CEA6-9378-C340-A54C-7372D7C9F731}"/>
              </a:ext>
            </a:extLst>
          </p:cNvPr>
          <p:cNvSpPr txBox="1"/>
          <p:nvPr/>
        </p:nvSpPr>
        <p:spPr>
          <a:xfrm>
            <a:off x="6756400" y="3365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Recibe texto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6F3060-973B-1946-B584-A17D10D32415}"/>
              </a:ext>
            </a:extLst>
          </p:cNvPr>
          <p:cNvSpPr/>
          <p:nvPr/>
        </p:nvSpPr>
        <p:spPr>
          <a:xfrm>
            <a:off x="6527800" y="3873500"/>
            <a:ext cx="127000" cy="1270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F43E9B-91F7-0A4B-A087-DEEF7DF473E1}"/>
              </a:ext>
            </a:extLst>
          </p:cNvPr>
          <p:cNvSpPr txBox="1"/>
          <p:nvPr/>
        </p:nvSpPr>
        <p:spPr>
          <a:xfrm>
            <a:off x="6756400" y="37973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Devuelve texto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7127A6F-2F37-3740-A38E-8DBBF4175527}"/>
              </a:ext>
            </a:extLst>
          </p:cNvPr>
          <p:cNvSpPr/>
          <p:nvPr/>
        </p:nvSpPr>
        <p:spPr>
          <a:xfrm>
            <a:off x="6527800" y="4305300"/>
            <a:ext cx="127000" cy="1270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760DA-DA62-BD49-8A6B-A27042FE629A}"/>
              </a:ext>
            </a:extLst>
          </p:cNvPr>
          <p:cNvSpPr txBox="1"/>
          <p:nvPr/>
        </p:nvSpPr>
        <p:spPr>
          <a:xfrm>
            <a:off x="6756400" y="42291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Razona sobre lo que le das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88C741C-5FA6-0746-8FCE-8F7382003C06}"/>
              </a:ext>
            </a:extLst>
          </p:cNvPr>
          <p:cNvSpPr/>
          <p:nvPr/>
        </p:nvSpPr>
        <p:spPr>
          <a:xfrm>
            <a:off x="6527800" y="4737100"/>
            <a:ext cx="127000" cy="1270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5261C4-42F0-0C4E-A005-AD158AD35689}"/>
              </a:ext>
            </a:extLst>
          </p:cNvPr>
          <p:cNvSpPr txBox="1"/>
          <p:nvPr/>
        </p:nvSpPr>
        <p:spPr>
          <a:xfrm>
            <a:off x="6756400" y="46609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Tú construyes búsqueda, RAG, tools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BCDF3A-8D1F-994A-8F75-5E9782A15A28}"/>
              </a:ext>
            </a:extLst>
          </p:cNvPr>
          <p:cNvSpPr/>
          <p:nvPr/>
        </p:nvSpPr>
        <p:spPr>
          <a:xfrm>
            <a:off x="6527800" y="5168900"/>
            <a:ext cx="127000" cy="1270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AF7A6E-061C-894A-967B-74DAE56D04B8}"/>
              </a:ext>
            </a:extLst>
          </p:cNvPr>
          <p:cNvSpPr txBox="1"/>
          <p:nvPr/>
        </p:nvSpPr>
        <p:spPr>
          <a:xfrm>
            <a:off x="6756400" y="5092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8EEF7"/>
                </a:solidFill>
                <a:latin typeface="Inter"/>
              </a:rPr>
              <a:t>Tú orquestas el loop</a:t>
            </a:r>
            <a:endParaRPr lang="en-PE" sz="14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0E99CE-E2DD-1547-A0CF-7C1B1A0983ED}"/>
              </a:ext>
            </a:extLst>
          </p:cNvPr>
          <p:cNvSpPr/>
          <p:nvPr/>
        </p:nvSpPr>
        <p:spPr>
          <a:xfrm>
            <a:off x="762000" y="6159500"/>
            <a:ext cx="10668000" cy="571500"/>
          </a:xfrm>
          <a:prstGeom prst="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72BDC0-C3A9-6147-8229-0FC96609B2A8}"/>
              </a:ext>
            </a:extLst>
          </p:cNvPr>
          <p:cNvSpPr/>
          <p:nvPr/>
        </p:nvSpPr>
        <p:spPr>
          <a:xfrm>
            <a:off x="762000" y="6159500"/>
            <a:ext cx="63500" cy="571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360DF6-2EB0-4940-9B60-FB98714355AB}"/>
              </a:ext>
            </a:extLst>
          </p:cNvPr>
          <p:cNvSpPr txBox="1"/>
          <p:nvPr/>
        </p:nvSpPr>
        <p:spPr>
          <a:xfrm>
            <a:off x="1016000" y="6324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Lo que ves en el chat NO es lo que te da la API. Lo que el chat hace por ti, en la API lo haces tú.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70052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A78827-FECF-1C49-9690-BA7A8C872C6A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27BCD-B4FD-AB48-AF97-BDBE01178198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API vs self-host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EACEE-5C34-B04B-8E57-CE80E225FC31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Cuándo cada uno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82E7A-43F8-DC4D-B670-8D5CFFEEEA6E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2556A-4B5F-5E43-A254-ABC880B97D00}"/>
              </a:ext>
            </a:extLst>
          </p:cNvPr>
          <p:cNvSpPr/>
          <p:nvPr/>
        </p:nvSpPr>
        <p:spPr>
          <a:xfrm>
            <a:off x="762000" y="2159000"/>
            <a:ext cx="5207000" cy="419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9FDA8F-8C55-194F-8627-191C1A121BC3}"/>
              </a:ext>
            </a:extLst>
          </p:cNvPr>
          <p:cNvSpPr/>
          <p:nvPr/>
        </p:nvSpPr>
        <p:spPr>
          <a:xfrm>
            <a:off x="762000" y="2159000"/>
            <a:ext cx="63500" cy="4191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70C77-C439-DB4F-A7FE-25E9F49E593D}"/>
              </a:ext>
            </a:extLst>
          </p:cNvPr>
          <p:cNvSpPr txBox="1"/>
          <p:nvPr/>
        </p:nvSpPr>
        <p:spPr>
          <a:xfrm>
            <a:off x="1066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CUÁNDO SÍ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AEE9AE-2FA4-4743-91F3-79F949CCFA72}"/>
              </a:ext>
            </a:extLst>
          </p:cNvPr>
          <p:cNvSpPr txBox="1"/>
          <p:nvPr/>
        </p:nvSpPr>
        <p:spPr>
          <a:xfrm>
            <a:off x="1066800" y="2667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E3D"/>
                </a:solidFill>
                <a:latin typeface="Inter"/>
              </a:rPr>
              <a:t>Self-host tiene sentido</a:t>
            </a:r>
            <a:endParaRPr lang="en-PE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3F15B4-7EBD-4447-B096-381D01B2CD97}"/>
              </a:ext>
            </a:extLst>
          </p:cNvPr>
          <p:cNvSpPr/>
          <p:nvPr/>
        </p:nvSpPr>
        <p:spPr>
          <a:xfrm>
            <a:off x="1066800" y="33909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5A514-5581-A548-B8B6-77BABB895472}"/>
              </a:ext>
            </a:extLst>
          </p:cNvPr>
          <p:cNvSpPr txBox="1"/>
          <p:nvPr/>
        </p:nvSpPr>
        <p:spPr>
          <a:xfrm>
            <a:off x="1270000" y="3302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Compliance estricto · datos clínicos, defensa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DF60B2-0340-6540-82BE-6F9B5D28B278}"/>
              </a:ext>
            </a:extLst>
          </p:cNvPr>
          <p:cNvSpPr/>
          <p:nvPr/>
        </p:nvSpPr>
        <p:spPr>
          <a:xfrm>
            <a:off x="1066800" y="37973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EC158-ECA3-FB4C-AE93-B7369A7A0133}"/>
              </a:ext>
            </a:extLst>
          </p:cNvPr>
          <p:cNvSpPr txBox="1"/>
          <p:nvPr/>
        </p:nvSpPr>
        <p:spPr>
          <a:xfrm>
            <a:off x="1270000" y="3708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Coste a escala · &gt;50–100M tokens/día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6745DE-A9EB-F843-91BA-5E45C41E1D52}"/>
              </a:ext>
            </a:extLst>
          </p:cNvPr>
          <p:cNvSpPr/>
          <p:nvPr/>
        </p:nvSpPr>
        <p:spPr>
          <a:xfrm>
            <a:off x="1066800" y="42037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AB9F4F-3BE5-EA44-917F-4AF680C1341B}"/>
              </a:ext>
            </a:extLst>
          </p:cNvPr>
          <p:cNvSpPr txBox="1"/>
          <p:nvPr/>
        </p:nvSpPr>
        <p:spPr>
          <a:xfrm>
            <a:off x="1270000" y="4114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Latencia ultra-baja · edge, robótica, &lt;50 ms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57C090-33FD-5F4D-979C-5BC5FF1EC5C2}"/>
              </a:ext>
            </a:extLst>
          </p:cNvPr>
          <p:cNvSpPr/>
          <p:nvPr/>
        </p:nvSpPr>
        <p:spPr>
          <a:xfrm>
            <a:off x="1066800" y="46101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76695-8BB9-4E44-B033-C3FF0F2620FE}"/>
              </a:ext>
            </a:extLst>
          </p:cNvPr>
          <p:cNvSpPr txBox="1"/>
          <p:nvPr/>
        </p:nvSpPr>
        <p:spPr>
          <a:xfrm>
            <a:off x="1270000" y="4521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Soberanía de datos · sector público europeo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A61D67-2AEE-CC41-BD5D-73B0F6EE215A}"/>
              </a:ext>
            </a:extLst>
          </p:cNvPr>
          <p:cNvSpPr/>
          <p:nvPr/>
        </p:nvSpPr>
        <p:spPr>
          <a:xfrm>
            <a:off x="1066800" y="50165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92AEF8-B24A-6C4A-B9F3-84A5B24CCEF1}"/>
              </a:ext>
            </a:extLst>
          </p:cNvPr>
          <p:cNvSpPr txBox="1"/>
          <p:nvPr/>
        </p:nvSpPr>
        <p:spPr>
          <a:xfrm>
            <a:off x="1270000" y="4927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Fine-tuning profundo de dominio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271298-CF6C-2245-995C-6F35FF5F3397}"/>
              </a:ext>
            </a:extLst>
          </p:cNvPr>
          <p:cNvSpPr/>
          <p:nvPr/>
        </p:nvSpPr>
        <p:spPr>
          <a:xfrm>
            <a:off x="1066800" y="54229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36120E-D863-B741-B668-278B42E560B0}"/>
              </a:ext>
            </a:extLst>
          </p:cNvPr>
          <p:cNvSpPr txBox="1"/>
          <p:nvPr/>
        </p:nvSpPr>
        <p:spPr>
          <a:xfrm>
            <a:off x="1270000" y="5334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Disponibilidad offline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AE47E3-F7D8-A64B-B5E8-7F6B3E59D471}"/>
              </a:ext>
            </a:extLst>
          </p:cNvPr>
          <p:cNvSpPr/>
          <p:nvPr/>
        </p:nvSpPr>
        <p:spPr>
          <a:xfrm>
            <a:off x="6223000" y="2159000"/>
            <a:ext cx="5207000" cy="4191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1804B-17C6-F445-9235-1FFFE98035B7}"/>
              </a:ext>
            </a:extLst>
          </p:cNvPr>
          <p:cNvSpPr txBox="1"/>
          <p:nvPr/>
        </p:nvSpPr>
        <p:spPr>
          <a:xfrm>
            <a:off x="6527800" y="24130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CUÁNDO NO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6F6A0-2C78-C149-84EE-CBFEB7AB3B1D}"/>
              </a:ext>
            </a:extLst>
          </p:cNvPr>
          <p:cNvSpPr txBox="1"/>
          <p:nvPr/>
        </p:nvSpPr>
        <p:spPr>
          <a:xfrm>
            <a:off x="6527800" y="2667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Inter"/>
              </a:rPr>
              <a:t>La mayoría de los casos</a:t>
            </a:r>
            <a:endParaRPr lang="en-PE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1A1131-5D26-0C46-9BB1-C9B717244E6D}"/>
              </a:ext>
            </a:extLst>
          </p:cNvPr>
          <p:cNvSpPr/>
          <p:nvPr/>
        </p:nvSpPr>
        <p:spPr>
          <a:xfrm>
            <a:off x="6527800" y="33909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3B7131-692B-C046-A2B1-50E4837AE657}"/>
              </a:ext>
            </a:extLst>
          </p:cNvPr>
          <p:cNvSpPr txBox="1"/>
          <p:nvPr/>
        </p:nvSpPr>
        <p:spPr>
          <a:xfrm>
            <a:off x="6731000" y="3302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&lt;10M tokens/día — la factura API es pequeña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9E9661-48AE-DF4A-9829-230F3FD196BF}"/>
              </a:ext>
            </a:extLst>
          </p:cNvPr>
          <p:cNvSpPr/>
          <p:nvPr/>
        </p:nvSpPr>
        <p:spPr>
          <a:xfrm>
            <a:off x="6527800" y="37973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F0DA2E-D4B6-8A47-AB0C-CB2C297D8355}"/>
              </a:ext>
            </a:extLst>
          </p:cNvPr>
          <p:cNvSpPr txBox="1"/>
          <p:nvPr/>
        </p:nvSpPr>
        <p:spPr>
          <a:xfrm>
            <a:off x="6731000" y="3708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Sin experiencia GPU/Kubernetes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EE31F8-4F9B-2642-8CD9-64D9D17BA019}"/>
              </a:ext>
            </a:extLst>
          </p:cNvPr>
          <p:cNvSpPr/>
          <p:nvPr/>
        </p:nvSpPr>
        <p:spPr>
          <a:xfrm>
            <a:off x="6527800" y="42037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88C9B5-B0DC-1746-8AB5-B2A971A27B26}"/>
              </a:ext>
            </a:extLst>
          </p:cNvPr>
          <p:cNvSpPr txBox="1"/>
          <p:nvPr/>
        </p:nvSpPr>
        <p:spPr>
          <a:xfrm>
            <a:off x="6731000" y="4114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Necesitas frontier cerrado (GPT-5, Opus)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ED0064-30D2-C04A-98B2-81A76B5A7FB0}"/>
              </a:ext>
            </a:extLst>
          </p:cNvPr>
          <p:cNvSpPr/>
          <p:nvPr/>
        </p:nvSpPr>
        <p:spPr>
          <a:xfrm>
            <a:off x="6527800" y="46101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1CC7F1-555E-B846-99B3-6454CBBA3A21}"/>
              </a:ext>
            </a:extLst>
          </p:cNvPr>
          <p:cNvSpPr txBox="1"/>
          <p:nvPr/>
        </p:nvSpPr>
        <p:spPr>
          <a:xfrm>
            <a:off x="6731000" y="4521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Multimodal audio+video en tiempo real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8FBAE8D-9750-B74C-A543-965F4CBE0BB7}"/>
              </a:ext>
            </a:extLst>
          </p:cNvPr>
          <p:cNvSpPr/>
          <p:nvPr/>
        </p:nvSpPr>
        <p:spPr>
          <a:xfrm>
            <a:off x="6527800" y="50165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A1AF59-E198-5A46-BDA5-56B410D7E339}"/>
              </a:ext>
            </a:extLst>
          </p:cNvPr>
          <p:cNvSpPr txBox="1"/>
          <p:nvPr/>
        </p:nvSpPr>
        <p:spPr>
          <a:xfrm>
            <a:off x="6731000" y="4927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Equipo chico sin oncall/observabilidad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953DE3-E9B3-E443-AF75-4DE1AB01D436}"/>
              </a:ext>
            </a:extLst>
          </p:cNvPr>
          <p:cNvSpPr/>
          <p:nvPr/>
        </p:nvSpPr>
        <p:spPr>
          <a:xfrm>
            <a:off x="6527800" y="54229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413D19-7606-E948-A922-BA96B40A7EC0}"/>
              </a:ext>
            </a:extLst>
          </p:cNvPr>
          <p:cNvSpPr txBox="1"/>
          <p:nvPr/>
        </p:nvSpPr>
        <p:spPr>
          <a:xfrm>
            <a:off x="6731000" y="5334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Factura API mensual &lt;$30K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11B636-A0ED-BB4E-B58A-141E4BE773D1}"/>
              </a:ext>
            </a:extLst>
          </p:cNvPr>
          <p:cNvSpPr txBox="1"/>
          <p:nvPr/>
        </p:nvSpPr>
        <p:spPr>
          <a:xfrm>
            <a:off x="762000" y="65405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UMBRAL EMPÍRICO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37FCBC-5227-864B-A68D-19FE0AFF5185}"/>
              </a:ext>
            </a:extLst>
          </p:cNvPr>
          <p:cNvSpPr txBox="1"/>
          <p:nvPr/>
        </p:nvSpPr>
        <p:spPr>
          <a:xfrm>
            <a:off x="3175000" y="65278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Si tu factura API supera ~$30K/mes, mide el self-host.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33652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3E99D9-339A-0749-B145-CF2210926379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s-ES" sz="1100" b="1" dirty="0">
                <a:solidFill>
                  <a:srgbClr val="2C5AA0"/>
                </a:solidFill>
                <a:latin typeface="Inter"/>
              </a:rPr>
              <a:t>BLOQUE 3 · SELF-HOST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687B8-E41B-6A42-89BD-C0DDF2312B88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Tamaños de modelo y hardware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397E2-58A9-9647-BB8E-6BF7D7086944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4A7FC1"/>
                </a:solidFill>
                <a:latin typeface="Inter"/>
              </a:rPr>
              <a:t>La era del "necesitas un datacenter para hacer algo interesante" terminó.</a:t>
            </a:r>
            <a:endParaRPr lang="en-PE" sz="13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4E3BB-EE24-5D45-A9B8-98EDEE08B536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0FEBE2-97DB-B947-B22B-1CF5F1495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54212"/>
              </p:ext>
            </p:extLst>
          </p:nvPr>
        </p:nvGraphicFramePr>
        <p:xfrm>
          <a:off x="762000" y="2120900"/>
          <a:ext cx="10668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49925399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17780666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401858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275017109"/>
                    </a:ext>
                  </a:extLst>
                </a:gridCol>
              </a:tblGrid>
              <a:tr h="427048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FFFFFF"/>
                          </a:solidFill>
                          <a:latin typeface="Inter"/>
                        </a:rPr>
                        <a:t>Tamaño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FFFFFF"/>
                          </a:solidFill>
                          <a:latin typeface="Inter"/>
                        </a:rPr>
                        <a:t>Memoria FP16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FFFFFF"/>
                          </a:solidFill>
                          <a:latin typeface="Inter"/>
                        </a:rPr>
                        <a:t>Hardware mínimo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FFFFFF"/>
                          </a:solidFill>
                          <a:latin typeface="Inter"/>
                        </a:rPr>
                        <a:t>Producción</a:t>
                      </a:r>
                    </a:p>
                  </a:txBody>
                  <a:tcPr anchor="ctr"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84868"/>
                  </a:ext>
                </a:extLst>
              </a:tr>
              <a:tr h="449525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~14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RTX 4070 · MacBook M2 16GB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1× L4 / A10G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5121"/>
                  </a:ext>
                </a:extLst>
              </a:tr>
              <a:tr h="449525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13B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~26 GB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RTX 4090 · MacBook M3 32GB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1× A100 40GB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739037"/>
                  </a:ext>
                </a:extLst>
              </a:tr>
              <a:tr h="449525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40B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~80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2× RTX 4090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1× A100 80GB / H100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226956"/>
                  </a:ext>
                </a:extLst>
              </a:tr>
              <a:tr h="449525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70B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~140 GB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2× A100 80GB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2× H100 / 1× H200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969096"/>
                  </a:ext>
                </a:extLst>
              </a:tr>
              <a:tr h="449525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400B MoE (Llama 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 dirty="0">
                          <a:solidFill>
                            <a:srgbClr val="1F3A68"/>
                          </a:solidFill>
                          <a:latin typeface="Inter"/>
                        </a:rPr>
                        <a:t>~800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8× H100 NVL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cluster dedicado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374444"/>
                  </a:ext>
                </a:extLst>
              </a:tr>
              <a:tr h="449527">
                <a:tc>
                  <a:txBody>
                    <a:bodyPr/>
                    <a:lstStyle/>
                    <a:p>
                      <a:pPr algn="l"/>
                      <a:r>
                        <a:rPr lang="en-PE" sz="1300" b="1">
                          <a:solidFill>
                            <a:srgbClr val="0F1E3D"/>
                          </a:solidFill>
                          <a:latin typeface="Inter"/>
                        </a:rPr>
                        <a:t>671B MoE (DeepSeek V3)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~1.3 TB / ~380 GB FP8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>
                          <a:solidFill>
                            <a:srgbClr val="1F3A68"/>
                          </a:solidFill>
                          <a:latin typeface="Inter"/>
                        </a:rPr>
                        <a:t>8× H200 / 16× H100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E" sz="1300" b="0" dirty="0">
                          <a:solidFill>
                            <a:srgbClr val="1F3A68"/>
                          </a:solidFill>
                          <a:latin typeface="Inter"/>
                        </a:rPr>
                        <a:t>cuantización obligatoria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9274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98B1498-4967-9B42-9839-9D19C0200556}"/>
              </a:ext>
            </a:extLst>
          </p:cNvPr>
          <p:cNvSpPr/>
          <p:nvPr/>
        </p:nvSpPr>
        <p:spPr>
          <a:xfrm>
            <a:off x="762000" y="5715000"/>
            <a:ext cx="10668000" cy="1016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EF01C5-45B9-A14D-8C92-2B07AC7DA93E}"/>
              </a:ext>
            </a:extLst>
          </p:cNvPr>
          <p:cNvSpPr/>
          <p:nvPr/>
        </p:nvSpPr>
        <p:spPr>
          <a:xfrm>
            <a:off x="762000" y="5715000"/>
            <a:ext cx="63500" cy="1016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79F24-F14E-7C40-B42F-6EFE7F069DE0}"/>
              </a:ext>
            </a:extLst>
          </p:cNvPr>
          <p:cNvSpPr txBox="1"/>
          <p:nvPr/>
        </p:nvSpPr>
        <p:spPr>
          <a:xfrm>
            <a:off x="1016000" y="5905500"/>
            <a:ext cx="635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MACBOOK M-SERIES · EN TU LAPTOP HOY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5B807-B267-0C42-8B0E-B756C56B06D1}"/>
              </a:ext>
            </a:extLst>
          </p:cNvPr>
          <p:cNvSpPr txBox="1"/>
          <p:nvPr/>
        </p:nvSpPr>
        <p:spPr>
          <a:xfrm>
            <a:off x="1016000" y="61595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16 GB → modelos 7–8B cuantizados · 32 GB → 13B–30B · 64–128 GB (M3/M4 Max) → 70B cuantizado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F2F3E5-C362-1E44-9CA3-136DC4F624BC}"/>
              </a:ext>
            </a:extLst>
          </p:cNvPr>
          <p:cNvSpPr txBox="1"/>
          <p:nvPr/>
        </p:nvSpPr>
        <p:spPr>
          <a:xfrm>
            <a:off x="1016000" y="6451600"/>
            <a:ext cx="1041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Cuantización (Q4, Q5, Q8, FP8, AWQ) divide memoria 2–4× a cambio de 1–3 puntos de calidad.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68670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A68DE-CAA3-9546-AF0E-1CD0E8C31BEC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90958-B8E7-194E-89CA-A1ACC2B8C12E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Dónde descargar modelos libres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ED432-FE13-D744-AAAF-2C6FCA5946D4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5AE2B5-F256-7F4A-BBB2-C1E4A58CE4B8}"/>
              </a:ext>
            </a:extLst>
          </p:cNvPr>
          <p:cNvSpPr/>
          <p:nvPr/>
        </p:nvSpPr>
        <p:spPr>
          <a:xfrm>
            <a:off x="762000" y="1968500"/>
            <a:ext cx="5207000" cy="165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7EE90B-7622-5444-B56E-E63E8F8E2021}"/>
              </a:ext>
            </a:extLst>
          </p:cNvPr>
          <p:cNvSpPr/>
          <p:nvPr/>
        </p:nvSpPr>
        <p:spPr>
          <a:xfrm>
            <a:off x="762000" y="1968500"/>
            <a:ext cx="63500" cy="1651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99513-4665-DF48-BFD1-2CBD633785C2}"/>
              </a:ext>
            </a:extLst>
          </p:cNvPr>
          <p:cNvSpPr txBox="1"/>
          <p:nvPr/>
        </p:nvSpPr>
        <p:spPr>
          <a:xfrm>
            <a:off x="1079500" y="21971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HUGGING FACE HUB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495BC-A524-0E45-BF0B-5041EBCD5D2A}"/>
              </a:ext>
            </a:extLst>
          </p:cNvPr>
          <p:cNvSpPr txBox="1"/>
          <p:nvPr/>
        </p:nvSpPr>
        <p:spPr>
          <a:xfrm>
            <a:off x="1079500" y="24257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El GitHub del ML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A51BC-1A0E-5E4F-858E-014C64F446FB}"/>
              </a:ext>
            </a:extLst>
          </p:cNvPr>
          <p:cNvSpPr txBox="1"/>
          <p:nvPr/>
        </p:nvSpPr>
        <p:spPr>
          <a:xfrm>
            <a:off x="1079500" y="28321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~1M modelos · safetensors originales + GGUF cuantizados por la comunidad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12A2D-58DB-1145-A0BB-BE40FDDA6CD2}"/>
              </a:ext>
            </a:extLst>
          </p:cNvPr>
          <p:cNvSpPr/>
          <p:nvPr/>
        </p:nvSpPr>
        <p:spPr>
          <a:xfrm>
            <a:off x="6223000" y="1968500"/>
            <a:ext cx="5207000" cy="1651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F269B-3F69-E549-8DCF-1AB3D4764636}"/>
              </a:ext>
            </a:extLst>
          </p:cNvPr>
          <p:cNvSpPr txBox="1"/>
          <p:nvPr/>
        </p:nvSpPr>
        <p:spPr>
          <a:xfrm>
            <a:off x="6540500" y="21971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OLLAMA LIBRARY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7A042-665E-EC40-A0A9-BC354E2908EE}"/>
              </a:ext>
            </a:extLst>
          </p:cNvPr>
          <p:cNvSpPr txBox="1"/>
          <p:nvPr/>
        </p:nvSpPr>
        <p:spPr>
          <a:xfrm>
            <a:off x="6540500" y="24257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Inter"/>
              </a:rPr>
              <a:t>El flujo fácil para empezar</a:t>
            </a:r>
            <a:endParaRPr lang="en-P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3718D-7ED8-6245-91BD-EEF90CE5CE74}"/>
              </a:ext>
            </a:extLst>
          </p:cNvPr>
          <p:cNvSpPr txBox="1"/>
          <p:nvPr/>
        </p:nvSpPr>
        <p:spPr>
          <a:xfrm>
            <a:off x="6540500" y="28321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~300 modelos curados · listos en una línea · servidor OpenAI-compat local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26F59-9E3D-0749-AD38-E932EC7154F4}"/>
              </a:ext>
            </a:extLst>
          </p:cNvPr>
          <p:cNvSpPr/>
          <p:nvPr/>
        </p:nvSpPr>
        <p:spPr>
          <a:xfrm>
            <a:off x="762000" y="3937000"/>
            <a:ext cx="10668000" cy="1861634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AD8B3-49B7-384C-9E62-7C3DB288CC2D}"/>
              </a:ext>
            </a:extLst>
          </p:cNvPr>
          <p:cNvSpPr txBox="1"/>
          <p:nvPr/>
        </p:nvSpPr>
        <p:spPr>
          <a:xfrm>
            <a:off x="1016000" y="40894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FA3D1"/>
                </a:solidFill>
                <a:latin typeface="Consolas"/>
                <a:cs typeface="Consolas"/>
              </a:rPr>
              <a:t># Opción 1 — librería oficial de Ollama</a:t>
            </a:r>
            <a:endParaRPr lang="en-PE" sz="1200">
              <a:solidFill>
                <a:srgbClr val="7FA3D1"/>
              </a:solidFill>
              <a:latin typeface="Consolas"/>
              <a:cs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FC5DE-1C9C-9546-A6F2-3D991E009E43}"/>
              </a:ext>
            </a:extLst>
          </p:cNvPr>
          <p:cNvSpPr txBox="1"/>
          <p:nvPr/>
        </p:nvSpPr>
        <p:spPr>
          <a:xfrm>
            <a:off x="1016000" y="4318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ollama pull qwen3-coder:30b &amp;&amp; ollama run qwen3-coder:30b</a:t>
            </a:r>
            <a:endParaRPr lang="en-PE" sz="13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A97B2-FBB5-EB49-91E3-21007A0D592D}"/>
              </a:ext>
            </a:extLst>
          </p:cNvPr>
          <p:cNvSpPr txBox="1"/>
          <p:nvPr/>
        </p:nvSpPr>
        <p:spPr>
          <a:xfrm>
            <a:off x="1016000" y="46736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FA3D1"/>
                </a:solidFill>
                <a:latin typeface="Consolas"/>
                <a:cs typeface="Consolas"/>
              </a:rPr>
              <a:t># Opción 2 — cualquier GGUF de HuggingFace directamente</a:t>
            </a:r>
            <a:endParaRPr lang="en-PE" sz="1200">
              <a:solidFill>
                <a:srgbClr val="7FA3D1"/>
              </a:solidFill>
              <a:latin typeface="Consolas"/>
              <a:cs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B042B-FC5F-6641-8D0B-46507C8B0FCD}"/>
              </a:ext>
            </a:extLst>
          </p:cNvPr>
          <p:cNvSpPr txBox="1"/>
          <p:nvPr/>
        </p:nvSpPr>
        <p:spPr>
          <a:xfrm>
            <a:off x="1016000" y="49022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ollama run hf.co/bartowski/GLM-5.1-GGUF:Q4_K_M</a:t>
            </a:r>
            <a:endParaRPr lang="en-PE" sz="13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BB603F-B7F6-A842-B6E6-966CAB34CEEB}"/>
              </a:ext>
            </a:extLst>
          </p:cNvPr>
          <p:cNvSpPr txBox="1"/>
          <p:nvPr/>
        </p:nvSpPr>
        <p:spPr>
          <a:xfrm>
            <a:off x="101600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FA3D1"/>
                </a:solidFill>
                <a:latin typeface="Consolas"/>
                <a:cs typeface="Consolas"/>
              </a:rPr>
              <a:t># Opción 3 — servidor OpenAI-compat local</a:t>
            </a:r>
            <a:endParaRPr lang="en-PE" sz="1200">
              <a:solidFill>
                <a:srgbClr val="7FA3D1"/>
              </a:solidFill>
              <a:latin typeface="Consolas"/>
              <a:cs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EF670A-8759-4241-BABF-65166549950B}"/>
              </a:ext>
            </a:extLst>
          </p:cNvPr>
          <p:cNvSpPr txBox="1"/>
          <p:nvPr/>
        </p:nvSpPr>
        <p:spPr>
          <a:xfrm>
            <a:off x="1016000" y="54864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ollama serve   # http://localhost:11434/v1</a:t>
            </a:r>
            <a:endParaRPr lang="en-PE" sz="13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E24D07-FCD9-724C-8CB9-88E15410DB62}"/>
              </a:ext>
            </a:extLst>
          </p:cNvPr>
          <p:cNvSpPr txBox="1"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F1E3D"/>
                </a:solidFill>
                <a:latin typeface="Inter"/>
              </a:rPr>
              <a:t>Con Ollama + un laptop moderno, en 5 minutos corres el mismo modelo frontier open-weights que la competencia china — sin cuenta, sin API key.</a:t>
            </a:r>
            <a:endParaRPr lang="en-PE" sz="14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00939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980D1-5B17-3646-A510-9A123BD9D9FA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3 ·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249AB-1B10-AF45-89AE-4FAB80CB7BA9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Benchmarks para comparar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13F34-588D-0340-B4FA-84F5AA9FD9DA}"/>
              </a:ext>
            </a:extLst>
          </p:cNvPr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3F2C4-778A-154C-8413-2B74597BDEE9}"/>
              </a:ext>
            </a:extLst>
          </p:cNvPr>
          <p:cNvSpPr/>
          <p:nvPr/>
        </p:nvSpPr>
        <p:spPr>
          <a:xfrm>
            <a:off x="762000" y="2032000"/>
            <a:ext cx="3429000" cy="215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861DB-E346-0949-A48B-88D20F329BBB}"/>
              </a:ext>
            </a:extLst>
          </p:cNvPr>
          <p:cNvSpPr/>
          <p:nvPr/>
        </p:nvSpPr>
        <p:spPr>
          <a:xfrm>
            <a:off x="762000" y="2032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9C855-8FA4-3B4A-8442-48C9CFBE4CAB}"/>
              </a:ext>
            </a:extLst>
          </p:cNvPr>
          <p:cNvSpPr txBox="1"/>
          <p:nvPr/>
        </p:nvSpPr>
        <p:spPr>
          <a:xfrm>
            <a:off x="1016000" y="22606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PRIMARIO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BA8C8-CF2A-2146-88D7-0E313FA856EC}"/>
              </a:ext>
            </a:extLst>
          </p:cNvPr>
          <p:cNvSpPr txBox="1"/>
          <p:nvPr/>
        </p:nvSpPr>
        <p:spPr>
          <a:xfrm>
            <a:off x="1016000" y="24638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0F1E3D"/>
                </a:solidFill>
                <a:latin typeface="Inter"/>
              </a:rPr>
              <a:t>LMArena</a:t>
            </a:r>
            <a:endParaRPr lang="en-PE" sz="19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BCCA0-A6C0-C644-B8F4-19A626FD1402}"/>
              </a:ext>
            </a:extLst>
          </p:cNvPr>
          <p:cNvSpPr txBox="1"/>
          <p:nvPr/>
        </p:nvSpPr>
        <p:spPr>
          <a:xfrm>
            <a:off x="1016000" y="2895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Consolas"/>
                <a:cs typeface="Consolas"/>
              </a:rPr>
              <a:t>lmarena.ai</a:t>
            </a:r>
            <a:endParaRPr lang="en-PE" sz="12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F8B73-0806-A445-9B86-9DA3DF7F363D}"/>
              </a:ext>
            </a:extLst>
          </p:cNvPr>
          <p:cNvSpPr txBox="1"/>
          <p:nvPr/>
        </p:nvSpPr>
        <p:spPr>
          <a:xfrm>
            <a:off x="1016000" y="32004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Ranking por votos humanos ciegos. La verdad de mercado en conversación general.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CE6E69-D8D4-EF49-8B34-6BD93F855091}"/>
              </a:ext>
            </a:extLst>
          </p:cNvPr>
          <p:cNvSpPr/>
          <p:nvPr/>
        </p:nvSpPr>
        <p:spPr>
          <a:xfrm>
            <a:off x="4381500" y="2032000"/>
            <a:ext cx="3429000" cy="215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421C1-DFEB-7E45-88E0-F73A3E75C1A5}"/>
              </a:ext>
            </a:extLst>
          </p:cNvPr>
          <p:cNvSpPr/>
          <p:nvPr/>
        </p:nvSpPr>
        <p:spPr>
          <a:xfrm>
            <a:off x="4381500" y="2032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61AF9-D6CF-844A-BDD9-FAE8CC567808}"/>
              </a:ext>
            </a:extLst>
          </p:cNvPr>
          <p:cNvSpPr txBox="1"/>
          <p:nvPr/>
        </p:nvSpPr>
        <p:spPr>
          <a:xfrm>
            <a:off x="4635500" y="22606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PRIMARIO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4ACE88-F921-D449-BBC8-4580B231D8FF}"/>
              </a:ext>
            </a:extLst>
          </p:cNvPr>
          <p:cNvSpPr txBox="1"/>
          <p:nvPr/>
        </p:nvSpPr>
        <p:spPr>
          <a:xfrm>
            <a:off x="4635500" y="24638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0F1E3D"/>
                </a:solidFill>
                <a:latin typeface="Inter"/>
              </a:rPr>
              <a:t>Artificial Analysis</a:t>
            </a:r>
            <a:endParaRPr lang="en-PE" sz="19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DCEC6-EDB8-6944-B5E9-589304656991}"/>
              </a:ext>
            </a:extLst>
          </p:cNvPr>
          <p:cNvSpPr txBox="1"/>
          <p:nvPr/>
        </p:nvSpPr>
        <p:spPr>
          <a:xfrm>
            <a:off x="4635500" y="2895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Consolas"/>
                <a:cs typeface="Consolas"/>
              </a:rPr>
              <a:t>artificialanalysis.ai</a:t>
            </a:r>
            <a:endParaRPr lang="en-PE" sz="12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4E123-AAF5-EC43-85F7-89EFC2D5A098}"/>
              </a:ext>
            </a:extLst>
          </p:cNvPr>
          <p:cNvSpPr txBox="1"/>
          <p:nvPr/>
        </p:nvSpPr>
        <p:spPr>
          <a:xfrm>
            <a:off x="4635500" y="32004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Calidad, precio, latencia, throughput. Actualizado semanalmente. Fuente útil para decisiones.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D3974-E5E9-9444-9A43-E8E05CF31B2C}"/>
              </a:ext>
            </a:extLst>
          </p:cNvPr>
          <p:cNvSpPr/>
          <p:nvPr/>
        </p:nvSpPr>
        <p:spPr>
          <a:xfrm>
            <a:off x="8001000" y="2032000"/>
            <a:ext cx="3429000" cy="215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2A2A1-401D-C047-97F7-BC61795CAB05}"/>
              </a:ext>
            </a:extLst>
          </p:cNvPr>
          <p:cNvSpPr/>
          <p:nvPr/>
        </p:nvSpPr>
        <p:spPr>
          <a:xfrm>
            <a:off x="8001000" y="2032000"/>
            <a:ext cx="3429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B3B650-6BFB-EE44-A3DC-DCF4B11A3CB2}"/>
              </a:ext>
            </a:extLst>
          </p:cNvPr>
          <p:cNvSpPr txBox="1"/>
          <p:nvPr/>
        </p:nvSpPr>
        <p:spPr>
          <a:xfrm>
            <a:off x="8255000" y="22606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PRIMARIO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EF7AA9-04E2-754D-874D-815F4B7EB5D2}"/>
              </a:ext>
            </a:extLst>
          </p:cNvPr>
          <p:cNvSpPr txBox="1"/>
          <p:nvPr/>
        </p:nvSpPr>
        <p:spPr>
          <a:xfrm>
            <a:off x="8255000" y="24638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0F1E3D"/>
                </a:solidFill>
                <a:latin typeface="Inter"/>
              </a:rPr>
              <a:t>SWE-bench Verified</a:t>
            </a:r>
            <a:endParaRPr lang="en-PE" sz="19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EB83C9-BE3D-6F40-9E0E-1B74C7D385FD}"/>
              </a:ext>
            </a:extLst>
          </p:cNvPr>
          <p:cNvSpPr txBox="1"/>
          <p:nvPr/>
        </p:nvSpPr>
        <p:spPr>
          <a:xfrm>
            <a:off x="8255000" y="28956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Consolas"/>
                <a:cs typeface="Consolas"/>
              </a:rPr>
              <a:t>swebench.com</a:t>
            </a:r>
            <a:endParaRPr lang="en-PE" sz="12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A8F0E4-E330-914B-B745-67E4A808EA6E}"/>
              </a:ext>
            </a:extLst>
          </p:cNvPr>
          <p:cNvSpPr txBox="1"/>
          <p:nvPr/>
        </p:nvSpPr>
        <p:spPr>
          <a:xfrm>
            <a:off x="8255000" y="32004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Issues reales de GitHub con tests. El benchmark más relevante para coding agéntico.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51655-3EF0-8841-AA57-5BB94B51588B}"/>
              </a:ext>
            </a:extLst>
          </p:cNvPr>
          <p:cNvSpPr txBox="1"/>
          <p:nvPr/>
        </p:nvSpPr>
        <p:spPr>
          <a:xfrm>
            <a:off x="762000" y="45085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OTROS QUE CONVIENE NOMBRAR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912589D-E9C8-8944-9E38-C91BBA8B169C}"/>
              </a:ext>
            </a:extLst>
          </p:cNvPr>
          <p:cNvSpPr/>
          <p:nvPr/>
        </p:nvSpPr>
        <p:spPr>
          <a:xfrm>
            <a:off x="762000" y="4826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977E1-ECBB-104F-B657-B8F4D2D06F15}"/>
              </a:ext>
            </a:extLst>
          </p:cNvPr>
          <p:cNvSpPr txBox="1"/>
          <p:nvPr/>
        </p:nvSpPr>
        <p:spPr>
          <a:xfrm>
            <a:off x="939800" y="4876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MMLU / MMLU-Pro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A4E534-8699-AC4A-B81E-4A936E379B7B}"/>
              </a:ext>
            </a:extLst>
          </p:cNvPr>
          <p:cNvSpPr txBox="1"/>
          <p:nvPr/>
        </p:nvSpPr>
        <p:spPr>
          <a:xfrm>
            <a:off x="939800" y="5080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conocimiento académico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C12C1B8-71D7-4C47-B708-5C50E55F9E35}"/>
              </a:ext>
            </a:extLst>
          </p:cNvPr>
          <p:cNvSpPr/>
          <p:nvPr/>
        </p:nvSpPr>
        <p:spPr>
          <a:xfrm>
            <a:off x="3429000" y="4826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42F2CB-8261-7A4B-B7B0-8ABCD97B6A77}"/>
              </a:ext>
            </a:extLst>
          </p:cNvPr>
          <p:cNvSpPr txBox="1"/>
          <p:nvPr/>
        </p:nvSpPr>
        <p:spPr>
          <a:xfrm>
            <a:off x="3606800" y="4876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GPQA Diamond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FA70A0-8F13-E341-8088-685BC0B3F7EF}"/>
              </a:ext>
            </a:extLst>
          </p:cNvPr>
          <p:cNvSpPr txBox="1"/>
          <p:nvPr/>
        </p:nvSpPr>
        <p:spPr>
          <a:xfrm>
            <a:off x="3606800" y="5080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PhD-level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8065081-49B0-6C4C-B077-2A1D986DEDD7}"/>
              </a:ext>
            </a:extLst>
          </p:cNvPr>
          <p:cNvSpPr/>
          <p:nvPr/>
        </p:nvSpPr>
        <p:spPr>
          <a:xfrm>
            <a:off x="6096000" y="4826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F8825-38E7-5449-ADB8-06A29738640E}"/>
              </a:ext>
            </a:extLst>
          </p:cNvPr>
          <p:cNvSpPr txBox="1"/>
          <p:nvPr/>
        </p:nvSpPr>
        <p:spPr>
          <a:xfrm>
            <a:off x="6273800" y="4876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AIME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24459-2B7F-E240-9B59-1D00A8D6914E}"/>
              </a:ext>
            </a:extLst>
          </p:cNvPr>
          <p:cNvSpPr txBox="1"/>
          <p:nvPr/>
        </p:nvSpPr>
        <p:spPr>
          <a:xfrm>
            <a:off x="6273800" y="5080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matemáticas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4EA8F10-9FFA-8843-8112-BF32A8DEA944}"/>
              </a:ext>
            </a:extLst>
          </p:cNvPr>
          <p:cNvSpPr/>
          <p:nvPr/>
        </p:nvSpPr>
        <p:spPr>
          <a:xfrm>
            <a:off x="8763000" y="4826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BF8507-F542-A140-9335-EAE173630237}"/>
              </a:ext>
            </a:extLst>
          </p:cNvPr>
          <p:cNvSpPr txBox="1"/>
          <p:nvPr/>
        </p:nvSpPr>
        <p:spPr>
          <a:xfrm>
            <a:off x="8940800" y="4876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ARC-AGI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3D1D2E-2A16-CC47-AE35-D8FDCD87FEF9}"/>
              </a:ext>
            </a:extLst>
          </p:cNvPr>
          <p:cNvSpPr txBox="1"/>
          <p:nvPr/>
        </p:nvSpPr>
        <p:spPr>
          <a:xfrm>
            <a:off x="8940800" y="5080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razonamiento novel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2A08B63-03A8-FD4C-B97C-88F8576956C5}"/>
              </a:ext>
            </a:extLst>
          </p:cNvPr>
          <p:cNvSpPr/>
          <p:nvPr/>
        </p:nvSpPr>
        <p:spPr>
          <a:xfrm>
            <a:off x="762000" y="5461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4E3559-7344-6E47-A59C-A681238B9545}"/>
              </a:ext>
            </a:extLst>
          </p:cNvPr>
          <p:cNvSpPr txBox="1"/>
          <p:nvPr/>
        </p:nvSpPr>
        <p:spPr>
          <a:xfrm>
            <a:off x="939800" y="5511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MMMU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DB8555-1B9F-A844-99A0-A32EF5B7FDC7}"/>
              </a:ext>
            </a:extLst>
          </p:cNvPr>
          <p:cNvSpPr txBox="1"/>
          <p:nvPr/>
        </p:nvSpPr>
        <p:spPr>
          <a:xfrm>
            <a:off x="939800" y="5715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multimodal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E433434-7C2E-C043-85E9-0ED3282B7E26}"/>
              </a:ext>
            </a:extLst>
          </p:cNvPr>
          <p:cNvSpPr/>
          <p:nvPr/>
        </p:nvSpPr>
        <p:spPr>
          <a:xfrm>
            <a:off x="3429000" y="5461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57394A-EB64-2449-BF02-66C9A9B9206A}"/>
              </a:ext>
            </a:extLst>
          </p:cNvPr>
          <p:cNvSpPr txBox="1"/>
          <p:nvPr/>
        </p:nvSpPr>
        <p:spPr>
          <a:xfrm>
            <a:off x="3606800" y="5511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LiveBench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D6A68E-9B9C-0349-BAED-CF209088911C}"/>
              </a:ext>
            </a:extLst>
          </p:cNvPr>
          <p:cNvSpPr txBox="1"/>
          <p:nvPr/>
        </p:nvSpPr>
        <p:spPr>
          <a:xfrm>
            <a:off x="3606800" y="5715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resistente a contaminación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150E8CB-1571-6A4F-9BD4-D5FF841163B0}"/>
              </a:ext>
            </a:extLst>
          </p:cNvPr>
          <p:cNvSpPr/>
          <p:nvPr/>
        </p:nvSpPr>
        <p:spPr>
          <a:xfrm>
            <a:off x="6096000" y="5461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172385-7F80-724D-8C55-9CFF14AFF2D9}"/>
              </a:ext>
            </a:extLst>
          </p:cNvPr>
          <p:cNvSpPr txBox="1"/>
          <p:nvPr/>
        </p:nvSpPr>
        <p:spPr>
          <a:xfrm>
            <a:off x="6273800" y="5511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tau-bench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984B9B-A5C2-D64F-9A14-EBFD61CDFEF9}"/>
              </a:ext>
            </a:extLst>
          </p:cNvPr>
          <p:cNvSpPr txBox="1"/>
          <p:nvPr/>
        </p:nvSpPr>
        <p:spPr>
          <a:xfrm>
            <a:off x="6273800" y="5715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agentes con tools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8740CB6-B8B4-EF4A-866C-DFF269B33DD7}"/>
              </a:ext>
            </a:extLst>
          </p:cNvPr>
          <p:cNvSpPr/>
          <p:nvPr/>
        </p:nvSpPr>
        <p:spPr>
          <a:xfrm>
            <a:off x="8763000" y="5461000"/>
            <a:ext cx="2476500" cy="50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E0C823-796F-7944-B4E7-1E045E8F0F48}"/>
              </a:ext>
            </a:extLst>
          </p:cNvPr>
          <p:cNvSpPr txBox="1"/>
          <p:nvPr/>
        </p:nvSpPr>
        <p:spPr>
          <a:xfrm>
            <a:off x="8940800" y="55118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HLE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68CE01-4CA8-B94F-A529-7E933645909B}"/>
              </a:ext>
            </a:extLst>
          </p:cNvPr>
          <p:cNvSpPr txBox="1"/>
          <p:nvPr/>
        </p:nvSpPr>
        <p:spPr>
          <a:xfrm>
            <a:off x="8940800" y="5715000"/>
            <a:ext cx="222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4A7FC1"/>
                </a:solidFill>
                <a:latin typeface="Inter"/>
              </a:rPr>
              <a:t>Humanity's Last Exam</a:t>
            </a:r>
            <a:endParaRPr lang="en-PE" sz="10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601ACA-24EF-0C41-B52B-543DAAF5AA97}"/>
              </a:ext>
            </a:extLst>
          </p:cNvPr>
          <p:cNvSpPr/>
          <p:nvPr/>
        </p:nvSpPr>
        <p:spPr>
          <a:xfrm>
            <a:off x="762000" y="6223000"/>
            <a:ext cx="10668000" cy="50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2CD7C5-9057-EC4D-BA75-771D69D01F96}"/>
              </a:ext>
            </a:extLst>
          </p:cNvPr>
          <p:cNvSpPr txBox="1"/>
          <p:nvPr/>
        </p:nvSpPr>
        <p:spPr>
          <a:xfrm>
            <a:off x="1016000" y="6350000"/>
            <a:ext cx="1041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Inter"/>
              </a:rPr>
              <a:t>No decidas por un solo benchmark. Cruza capacidad, preferencia humana, coste — y tu propio eval.</a:t>
            </a:r>
            <a:endParaRPr lang="en-PE" sz="1400" b="1" i="1">
              <a:solidFill>
                <a:srgbClr val="FFFFFF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117600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C982F-EE99-584E-BF47-6391ECE9B59C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4 · FRAMEWORKS Y PROTOCOLOS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04023-62F1-7444-BB6C-ACECD695673E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El ecosistema se estratificó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F64B8-1083-314E-9FF4-CB4D6F6E91CA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Cinco categorías · ya no todos compiten con todos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C5A65-1E46-4543-9EBF-EA28D6246D39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A536F-C598-1D4A-B7E2-7D8DA5D58BF4}"/>
              </a:ext>
            </a:extLst>
          </p:cNvPr>
          <p:cNvSpPr/>
          <p:nvPr/>
        </p:nvSpPr>
        <p:spPr>
          <a:xfrm>
            <a:off x="762000" y="2159000"/>
            <a:ext cx="10668000" cy="76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6B3ED-1B8A-2748-BA60-0D7D1A37D8E9}"/>
              </a:ext>
            </a:extLst>
          </p:cNvPr>
          <p:cNvSpPr/>
          <p:nvPr/>
        </p:nvSpPr>
        <p:spPr>
          <a:xfrm>
            <a:off x="762000" y="2159000"/>
            <a:ext cx="63500" cy="762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4E020-58A2-BA42-AEE4-39165FA6334D}"/>
              </a:ext>
            </a:extLst>
          </p:cNvPr>
          <p:cNvSpPr txBox="1"/>
          <p:nvPr/>
        </p:nvSpPr>
        <p:spPr>
          <a:xfrm>
            <a:off x="1016000" y="23495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07CFE-2B66-5442-9661-2B4651131954}"/>
              </a:ext>
            </a:extLst>
          </p:cNvPr>
          <p:cNvSpPr txBox="1"/>
          <p:nvPr/>
        </p:nvSpPr>
        <p:spPr>
          <a:xfrm>
            <a:off x="1714500" y="2311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Orquestación full-stack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468AE-8B82-4640-9035-6C2707F256FD}"/>
              </a:ext>
            </a:extLst>
          </p:cNvPr>
          <p:cNvSpPr txBox="1"/>
          <p:nvPr/>
        </p:nvSpPr>
        <p:spPr>
          <a:xfrm>
            <a:off x="1714500" y="2590800"/>
            <a:ext cx="939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LangChain + LangGraph · LlamaIndex · Haystack · Semantic Kernel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22D143-A9DF-1744-919D-D494131DC183}"/>
              </a:ext>
            </a:extLst>
          </p:cNvPr>
          <p:cNvSpPr/>
          <p:nvPr/>
        </p:nvSpPr>
        <p:spPr>
          <a:xfrm>
            <a:off x="762000" y="2997200"/>
            <a:ext cx="10668000" cy="76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16064-0CE7-D645-8060-A780EFDA7F47}"/>
              </a:ext>
            </a:extLst>
          </p:cNvPr>
          <p:cNvSpPr/>
          <p:nvPr/>
        </p:nvSpPr>
        <p:spPr>
          <a:xfrm>
            <a:off x="762000" y="2997200"/>
            <a:ext cx="63500" cy="762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16CAFA-7936-624B-87E7-BB28A6DFAC16}"/>
              </a:ext>
            </a:extLst>
          </p:cNvPr>
          <p:cNvSpPr txBox="1"/>
          <p:nvPr/>
        </p:nvSpPr>
        <p:spPr>
          <a:xfrm>
            <a:off x="1016000" y="31877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29D9DB-B756-2E48-9B7B-EE365EF2505F}"/>
              </a:ext>
            </a:extLst>
          </p:cNvPr>
          <p:cNvSpPr txBox="1"/>
          <p:nvPr/>
        </p:nvSpPr>
        <p:spPr>
          <a:xfrm>
            <a:off x="1714500" y="314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Librerías ligeras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00A1F-34DC-F44F-8874-BE0AF9390684}"/>
              </a:ext>
            </a:extLst>
          </p:cNvPr>
          <p:cNvSpPr txBox="1"/>
          <p:nvPr/>
        </p:nvSpPr>
        <p:spPr>
          <a:xfrm>
            <a:off x="1714500" y="3429000"/>
            <a:ext cx="939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Pydantic AI · Instructor · DSPy · Mirascope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4FE102-D4E7-A34B-B0E1-BE2208EB36FC}"/>
              </a:ext>
            </a:extLst>
          </p:cNvPr>
          <p:cNvSpPr/>
          <p:nvPr/>
        </p:nvSpPr>
        <p:spPr>
          <a:xfrm>
            <a:off x="762000" y="3835400"/>
            <a:ext cx="10668000" cy="76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1AE025-ADC8-7E47-91E8-A6A284CBA7A8}"/>
              </a:ext>
            </a:extLst>
          </p:cNvPr>
          <p:cNvSpPr/>
          <p:nvPr/>
        </p:nvSpPr>
        <p:spPr>
          <a:xfrm>
            <a:off x="762000" y="3835400"/>
            <a:ext cx="63500" cy="762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8CA6B-BDB9-7E4F-A099-C34F8B575F83}"/>
              </a:ext>
            </a:extLst>
          </p:cNvPr>
          <p:cNvSpPr txBox="1"/>
          <p:nvPr/>
        </p:nvSpPr>
        <p:spPr>
          <a:xfrm>
            <a:off x="1016000" y="40259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45543A-E327-CF41-960C-90ABDB15C8F2}"/>
              </a:ext>
            </a:extLst>
          </p:cNvPr>
          <p:cNvSpPr txBox="1"/>
          <p:nvPr/>
        </p:nvSpPr>
        <p:spPr>
          <a:xfrm>
            <a:off x="1714500" y="39878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Frontend / full-stack web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69D33D-7B6E-C94A-8149-31A0296CF02D}"/>
              </a:ext>
            </a:extLst>
          </p:cNvPr>
          <p:cNvSpPr txBox="1"/>
          <p:nvPr/>
        </p:nvSpPr>
        <p:spPr>
          <a:xfrm>
            <a:off x="1714500" y="4267200"/>
            <a:ext cx="939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Vercel AI SDK (estándar en Next.js)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902B5F-2F71-514D-8E75-322308694251}"/>
              </a:ext>
            </a:extLst>
          </p:cNvPr>
          <p:cNvSpPr/>
          <p:nvPr/>
        </p:nvSpPr>
        <p:spPr>
          <a:xfrm>
            <a:off x="762000" y="4673600"/>
            <a:ext cx="10668000" cy="76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3EDE21-1769-3445-9487-F4866115EEFB}"/>
              </a:ext>
            </a:extLst>
          </p:cNvPr>
          <p:cNvSpPr/>
          <p:nvPr/>
        </p:nvSpPr>
        <p:spPr>
          <a:xfrm>
            <a:off x="762000" y="4673600"/>
            <a:ext cx="63500" cy="762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9C813E-BBF1-7741-A15D-ADAF756A5BD6}"/>
              </a:ext>
            </a:extLst>
          </p:cNvPr>
          <p:cNvSpPr txBox="1"/>
          <p:nvPr/>
        </p:nvSpPr>
        <p:spPr>
          <a:xfrm>
            <a:off x="1016000" y="48641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998710-637F-E54F-97ED-2CDF5097F8BA}"/>
              </a:ext>
            </a:extLst>
          </p:cNvPr>
          <p:cNvSpPr txBox="1"/>
          <p:nvPr/>
        </p:nvSpPr>
        <p:spPr>
          <a:xfrm>
            <a:off x="1714500" y="4826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Evaluación y observabilidad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430997-9C78-6243-8094-D12A68560017}"/>
              </a:ext>
            </a:extLst>
          </p:cNvPr>
          <p:cNvSpPr txBox="1"/>
          <p:nvPr/>
        </p:nvSpPr>
        <p:spPr>
          <a:xfrm>
            <a:off x="1714500" y="5105400"/>
            <a:ext cx="939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LangSmith · Langfuse (OSS) · Phoenix · Braintrust · Helicone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258327-F465-9647-9461-347FB79E6F7E}"/>
              </a:ext>
            </a:extLst>
          </p:cNvPr>
          <p:cNvSpPr/>
          <p:nvPr/>
        </p:nvSpPr>
        <p:spPr>
          <a:xfrm>
            <a:off x="762000" y="5511800"/>
            <a:ext cx="10668000" cy="76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894BC1-C70E-C742-BD03-BB73FF216207}"/>
              </a:ext>
            </a:extLst>
          </p:cNvPr>
          <p:cNvSpPr/>
          <p:nvPr/>
        </p:nvSpPr>
        <p:spPr>
          <a:xfrm>
            <a:off x="762000" y="5511800"/>
            <a:ext cx="63500" cy="762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98B486-6990-914C-8948-0C29B8F6183A}"/>
              </a:ext>
            </a:extLst>
          </p:cNvPr>
          <p:cNvSpPr txBox="1"/>
          <p:nvPr/>
        </p:nvSpPr>
        <p:spPr>
          <a:xfrm>
            <a:off x="1016000" y="57023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b="1">
                <a:solidFill>
                  <a:srgbClr val="A8C0DC"/>
                </a:solidFill>
                <a:latin typeface="Inte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E9B53-3480-7A49-B950-976F06178B31}"/>
              </a:ext>
            </a:extLst>
          </p:cNvPr>
          <p:cNvSpPr txBox="1"/>
          <p:nvPr/>
        </p:nvSpPr>
        <p:spPr>
          <a:xfrm>
            <a:off x="1714500" y="56642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Agent runtimes por proveedor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C96C63-DA45-A940-A598-0DA3529D098C}"/>
              </a:ext>
            </a:extLst>
          </p:cNvPr>
          <p:cNvSpPr txBox="1"/>
          <p:nvPr/>
        </p:nvSpPr>
        <p:spPr>
          <a:xfrm>
            <a:off x="1714500" y="5943600"/>
            <a:ext cx="939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Claude Agent SDK · OpenAI Agents SDK · Google ADK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DB0EAF-837A-D542-91AC-4445F7481FFD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F1E3D"/>
                </a:solidFill>
                <a:latin typeface="Inter"/>
              </a:rPr>
              <a:t>No hay framework ganador absoluto. El mercado eligió pluralidad.</a:t>
            </a:r>
            <a:endParaRPr lang="en-PE" sz="14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8814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6EDE07-3D4F-C645-8685-4CBDDBCE91AE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4 · FRAMEWORKS Y PROTOCOLOS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43866-EC35-7546-A1C7-6E1B23E66082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¿Necesito LangChain?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E7861-B06E-AE49-9E24-4B84FADEC811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Empieza sin framework. Añade cuando duela.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0F04A-804A-5848-BF1C-06F04FA78C61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23CFE0-5BB1-B04E-A3BE-6BEA1BEA44FE}"/>
              </a:ext>
            </a:extLst>
          </p:cNvPr>
          <p:cNvSpPr/>
          <p:nvPr/>
        </p:nvSpPr>
        <p:spPr>
          <a:xfrm>
            <a:off x="762000" y="2095500"/>
            <a:ext cx="5207000" cy="2413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A0141-4934-6945-A4A1-D1BE3B938D96}"/>
              </a:ext>
            </a:extLst>
          </p:cNvPr>
          <p:cNvSpPr txBox="1"/>
          <p:nvPr/>
        </p:nvSpPr>
        <p:spPr>
          <a:xfrm>
            <a:off x="1066800" y="23241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A FAVOR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73D2B-8598-9B46-93E1-E3FC945D7F94}"/>
              </a:ext>
            </a:extLst>
          </p:cNvPr>
          <p:cNvSpPr txBox="1"/>
          <p:nvPr/>
        </p:nvSpPr>
        <p:spPr>
          <a:xfrm>
            <a:off x="1066800" y="25527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0F1E3D"/>
                </a:solidFill>
                <a:latin typeface="Inter"/>
              </a:rPr>
              <a:t>Del framework</a:t>
            </a:r>
            <a:endParaRPr lang="en-PE" sz="17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187197-194E-AD4C-AD9B-16D62681B04D}"/>
              </a:ext>
            </a:extLst>
          </p:cNvPr>
          <p:cNvSpPr/>
          <p:nvPr/>
        </p:nvSpPr>
        <p:spPr>
          <a:xfrm>
            <a:off x="1066800" y="30861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87E0A-3BCB-1545-B61F-DD3D440028F3}"/>
              </a:ext>
            </a:extLst>
          </p:cNvPr>
          <p:cNvSpPr txBox="1"/>
          <p:nvPr/>
        </p:nvSpPr>
        <p:spPr>
          <a:xfrm>
            <a:off x="1270000" y="3009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Velocidad de prototipado (20 vs 300 líneas)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1C5A92-FA39-A24E-AC49-3F8C87BC5B20}"/>
              </a:ext>
            </a:extLst>
          </p:cNvPr>
          <p:cNvSpPr/>
          <p:nvPr/>
        </p:nvSpPr>
        <p:spPr>
          <a:xfrm>
            <a:off x="1066800" y="34417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DED07-9BF5-4C40-ADFE-28B1B0AC8252}"/>
              </a:ext>
            </a:extLst>
          </p:cNvPr>
          <p:cNvSpPr txBox="1"/>
          <p:nvPr/>
        </p:nvSpPr>
        <p:spPr>
          <a:xfrm>
            <a:off x="1270000" y="3365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Integraciones gratis (loaders, vector stores)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8475CD-F64A-E345-AAEC-F61337D86F46}"/>
              </a:ext>
            </a:extLst>
          </p:cNvPr>
          <p:cNvSpPr/>
          <p:nvPr/>
        </p:nvSpPr>
        <p:spPr>
          <a:xfrm>
            <a:off x="1066800" y="37973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692C7B-CE6C-8740-B917-AAA861606272}"/>
              </a:ext>
            </a:extLst>
          </p:cNvPr>
          <p:cNvSpPr txBox="1"/>
          <p:nvPr/>
        </p:nvSpPr>
        <p:spPr>
          <a:xfrm>
            <a:off x="1270000" y="3721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Patrones resueltos (retries, streaming, memoria)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B2CE88-C650-F04C-AEFD-9D15507B0C6E}"/>
              </a:ext>
            </a:extLst>
          </p:cNvPr>
          <p:cNvSpPr/>
          <p:nvPr/>
        </p:nvSpPr>
        <p:spPr>
          <a:xfrm>
            <a:off x="1066800" y="41529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9EACF4-88BA-2B4E-8112-617C6A66FAFB}"/>
              </a:ext>
            </a:extLst>
          </p:cNvPr>
          <p:cNvSpPr txBox="1"/>
          <p:nvPr/>
        </p:nvSpPr>
        <p:spPr>
          <a:xfrm>
            <a:off x="1270000" y="4076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0F1E3D"/>
                </a:solidFill>
                <a:latin typeface="Inter"/>
              </a:rPr>
              <a:t>Observabilidad enchufable</a:t>
            </a:r>
            <a:endParaRPr lang="en-PE" sz="12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158C04-7D32-2D48-B164-A47A9A320980}"/>
              </a:ext>
            </a:extLst>
          </p:cNvPr>
          <p:cNvSpPr/>
          <p:nvPr/>
        </p:nvSpPr>
        <p:spPr>
          <a:xfrm>
            <a:off x="6223000" y="2095500"/>
            <a:ext cx="5207000" cy="2413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E6AD1-759C-9C45-B723-514C53C2A63D}"/>
              </a:ext>
            </a:extLst>
          </p:cNvPr>
          <p:cNvSpPr txBox="1"/>
          <p:nvPr/>
        </p:nvSpPr>
        <p:spPr>
          <a:xfrm>
            <a:off x="6527800" y="23241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EN CONTRA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48154A-F6DF-9F47-B417-51151EA53BDC}"/>
              </a:ext>
            </a:extLst>
          </p:cNvPr>
          <p:cNvSpPr txBox="1"/>
          <p:nvPr/>
        </p:nvSpPr>
        <p:spPr>
          <a:xfrm>
            <a:off x="6527800" y="25527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Inter"/>
              </a:rPr>
              <a:t>Del framework</a:t>
            </a:r>
            <a:endParaRPr lang="en-PE" sz="17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3D300C4-A8C8-B049-A266-29BDB5FB4EBC}"/>
              </a:ext>
            </a:extLst>
          </p:cNvPr>
          <p:cNvSpPr/>
          <p:nvPr/>
        </p:nvSpPr>
        <p:spPr>
          <a:xfrm>
            <a:off x="6527800" y="30861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ED93AB-2392-F540-B16A-D3ED0B22B3F8}"/>
              </a:ext>
            </a:extLst>
          </p:cNvPr>
          <p:cNvSpPr txBox="1"/>
          <p:nvPr/>
        </p:nvSpPr>
        <p:spPr>
          <a:xfrm>
            <a:off x="6731000" y="3009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Abstracción leaky: debugeas dos capas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8F8777-EE00-A54C-B38F-5F8B5F9E6A8E}"/>
              </a:ext>
            </a:extLst>
          </p:cNvPr>
          <p:cNvSpPr/>
          <p:nvPr/>
        </p:nvSpPr>
        <p:spPr>
          <a:xfrm>
            <a:off x="6527800" y="34417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DDA1EB-56DA-A941-892E-AB22EFF31CA1}"/>
              </a:ext>
            </a:extLst>
          </p:cNvPr>
          <p:cNvSpPr txBox="1"/>
          <p:nvPr/>
        </p:nvSpPr>
        <p:spPr>
          <a:xfrm>
            <a:off x="6731000" y="3365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Upgrades rompen (LangChain 0.x lo demostró)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B5D920E-8740-C44D-990D-02E0A70C6248}"/>
              </a:ext>
            </a:extLst>
          </p:cNvPr>
          <p:cNvSpPr/>
          <p:nvPr/>
        </p:nvSpPr>
        <p:spPr>
          <a:xfrm>
            <a:off x="6527800" y="37973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48C0B-5772-E741-88BC-84876306FCF8}"/>
              </a:ext>
            </a:extLst>
          </p:cNvPr>
          <p:cNvSpPr txBox="1"/>
          <p:nvPr/>
        </p:nvSpPr>
        <p:spPr>
          <a:xfrm>
            <a:off x="6731000" y="3721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Esconde el prompt real (Hamel Husain)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75A525E-7C81-E24D-8C16-0CF703E0550E}"/>
              </a:ext>
            </a:extLst>
          </p:cNvPr>
          <p:cNvSpPr/>
          <p:nvPr/>
        </p:nvSpPr>
        <p:spPr>
          <a:xfrm>
            <a:off x="6527800" y="41529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A954A7-8BF4-624A-836B-A42E29CF259D}"/>
              </a:ext>
            </a:extLst>
          </p:cNvPr>
          <p:cNvSpPr txBox="1"/>
          <p:nvPr/>
        </p:nvSpPr>
        <p:spPr>
          <a:xfrm>
            <a:off x="6731000" y="4076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Deuda técnica para el que hereda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E162C2-78C7-904E-BCE9-A6E992E86111}"/>
              </a:ext>
            </a:extLst>
          </p:cNvPr>
          <p:cNvSpPr txBox="1"/>
          <p:nvPr/>
        </p:nvSpPr>
        <p:spPr>
          <a:xfrm>
            <a:off x="762000" y="47625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HEURÍSTICA DEL CURSO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C8B69F-E381-7942-8776-C7190E73E6CE}"/>
              </a:ext>
            </a:extLst>
          </p:cNvPr>
          <p:cNvSpPr/>
          <p:nvPr/>
        </p:nvSpPr>
        <p:spPr>
          <a:xfrm>
            <a:off x="762000" y="5105400"/>
            <a:ext cx="279400" cy="279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PE" sz="1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8ADB9C-5B3F-0D49-9794-A543F5E37B65}"/>
              </a:ext>
            </a:extLst>
          </p:cNvPr>
          <p:cNvSpPr txBox="1"/>
          <p:nvPr/>
        </p:nvSpPr>
        <p:spPr>
          <a:xfrm>
            <a:off x="1168400" y="5130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MVP · SDK oficial + Instructor/Pydantic + Langfuse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95E3C0-1E47-AB41-95D0-9C477F9C139F}"/>
              </a:ext>
            </a:extLst>
          </p:cNvPr>
          <p:cNvSpPr/>
          <p:nvPr/>
        </p:nvSpPr>
        <p:spPr>
          <a:xfrm>
            <a:off x="762000" y="5486400"/>
            <a:ext cx="279400" cy="279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PE" sz="1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6844A6-2CD8-5A4D-9354-2DC373DB44A1}"/>
              </a:ext>
            </a:extLst>
          </p:cNvPr>
          <p:cNvSpPr txBox="1"/>
          <p:nvPr/>
        </p:nvSpPr>
        <p:spPr>
          <a:xfrm>
            <a:off x="1168400" y="5511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RAG serio sobre muchos docs · añade LlamaIndex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513D1EB-1167-4748-93FA-4E69547F65E4}"/>
              </a:ext>
            </a:extLst>
          </p:cNvPr>
          <p:cNvSpPr/>
          <p:nvPr/>
        </p:nvSpPr>
        <p:spPr>
          <a:xfrm>
            <a:off x="762000" y="5867400"/>
            <a:ext cx="279400" cy="279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PE" sz="1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40E6E7-9EE3-3546-B267-08DD9767F937}"/>
              </a:ext>
            </a:extLst>
          </p:cNvPr>
          <p:cNvSpPr txBox="1"/>
          <p:nvPr/>
        </p:nvSpPr>
        <p:spPr>
          <a:xfrm>
            <a:off x="1168400" y="5892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Flujo con ramas, HITL, checkpoints · añade LangGraph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901A00-F04C-9946-9204-5217DA83831B}"/>
              </a:ext>
            </a:extLst>
          </p:cNvPr>
          <p:cNvSpPr/>
          <p:nvPr/>
        </p:nvSpPr>
        <p:spPr>
          <a:xfrm>
            <a:off x="762000" y="6248400"/>
            <a:ext cx="279400" cy="2794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PE" sz="1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59C86F-B7AD-5142-AD58-47246330CA0A}"/>
              </a:ext>
            </a:extLst>
          </p:cNvPr>
          <p:cNvSpPr txBox="1"/>
          <p:nvPr/>
        </p:nvSpPr>
        <p:spPr>
          <a:xfrm>
            <a:off x="1168400" y="6273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E3D"/>
                </a:solidFill>
                <a:latin typeface="Inter"/>
              </a:rPr>
              <a:t>App web con streaming · Vercel AI SDK desde día 0</a:t>
            </a:r>
            <a:endParaRPr lang="en-PE" sz="1400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03537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6FF4B-52AC-3749-99F3-28C6A6C7B218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4 · FRAMEWORKS Y PROTOCOLOS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BA37C-4DED-FB43-9526-0630579F79C4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MCP · Model Context Protocol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10E2A-88A2-CF4B-A28B-A9A5ED361F1C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El protocolo de tools · introducido por Anthropic · noviembre 2024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B0A907-56AF-894B-92D5-4375FCAE5394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BCF2BE-E487-F840-AF47-27BD5C7EDAE3}"/>
              </a:ext>
            </a:extLst>
          </p:cNvPr>
          <p:cNvSpPr/>
          <p:nvPr/>
        </p:nvSpPr>
        <p:spPr>
          <a:xfrm>
            <a:off x="762000" y="2159000"/>
            <a:ext cx="5207000" cy="1905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A7C9C-C2F6-5642-BC7F-7B5E8235723A}"/>
              </a:ext>
            </a:extLst>
          </p:cNvPr>
          <p:cNvSpPr txBox="1"/>
          <p:nvPr/>
        </p:nvSpPr>
        <p:spPr>
          <a:xfrm>
            <a:off x="1016000" y="23876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B8CAE"/>
                </a:solidFill>
                <a:latin typeface="Inter"/>
              </a:rPr>
              <a:t>ANTES</a:t>
            </a:r>
            <a:endParaRPr lang="en-PE" sz="11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B5CD0-7094-F349-8B35-363CFEDD0D2A}"/>
              </a:ext>
            </a:extLst>
          </p:cNvPr>
          <p:cNvSpPr txBox="1"/>
          <p:nvPr/>
        </p:nvSpPr>
        <p:spPr>
          <a:xfrm>
            <a:off x="1016000" y="2616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F1E3D"/>
                </a:solidFill>
                <a:latin typeface="Inter"/>
              </a:rPr>
              <a:t>M × N integraciones</a:t>
            </a:r>
            <a:endParaRPr lang="en-PE" sz="2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CF083-BD17-8640-B038-A8D6CB5D84A1}"/>
              </a:ext>
            </a:extLst>
          </p:cNvPr>
          <p:cNvSpPr txBox="1"/>
          <p:nvPr/>
        </p:nvSpPr>
        <p:spPr>
          <a:xfrm>
            <a:off x="1016000" y="3073400"/>
            <a:ext cx="469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Cada agente × cada tool = integración custom. 5 agentes × 10 tools = 50 conectores.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8D4277-4D6B-2547-8D5D-C7F8FA5FCF9E}"/>
              </a:ext>
            </a:extLst>
          </p:cNvPr>
          <p:cNvSpPr/>
          <p:nvPr/>
        </p:nvSpPr>
        <p:spPr>
          <a:xfrm>
            <a:off x="6223000" y="2159000"/>
            <a:ext cx="5207000" cy="1905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AB919-6057-F044-865E-D37042AA1D20}"/>
              </a:ext>
            </a:extLst>
          </p:cNvPr>
          <p:cNvSpPr txBox="1"/>
          <p:nvPr/>
        </p:nvSpPr>
        <p:spPr>
          <a:xfrm>
            <a:off x="6477000" y="23876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CON MCP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868F-7967-BB47-8D6D-AE6792D13C9B}"/>
              </a:ext>
            </a:extLst>
          </p:cNvPr>
          <p:cNvSpPr txBox="1"/>
          <p:nvPr/>
        </p:nvSpPr>
        <p:spPr>
          <a:xfrm>
            <a:off x="6477000" y="2616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Inter"/>
              </a:rPr>
              <a:t>M + N integraciones</a:t>
            </a:r>
            <a:endParaRPr lang="en-PE" sz="22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8E218-D7E4-2A41-98A9-F6A4E5DB2E76}"/>
              </a:ext>
            </a:extLst>
          </p:cNvPr>
          <p:cNvSpPr txBox="1"/>
          <p:nvPr/>
        </p:nvSpPr>
        <p:spPr>
          <a:xfrm>
            <a:off x="6477000" y="3073400"/>
            <a:ext cx="469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Igual que LSP con editores y lenguajes. 5 agentes + 10 servidores = 15 integraciones.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2A8EE-8C9C-4B40-BBC7-10D7E8755E9D}"/>
              </a:ext>
            </a:extLst>
          </p:cNvPr>
          <p:cNvSpPr txBox="1"/>
          <p:nvPr/>
        </p:nvSpPr>
        <p:spPr>
          <a:xfrm>
            <a:off x="762000" y="4318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ADOPCIÓN CROSS-VENDOR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A5F98-BE27-BB42-9AAF-91B4F7A57EC4}"/>
              </a:ext>
            </a:extLst>
          </p:cNvPr>
          <p:cNvSpPr/>
          <p:nvPr/>
        </p:nvSpPr>
        <p:spPr>
          <a:xfrm>
            <a:off x="762000" y="4635500"/>
            <a:ext cx="2540000" cy="381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343B7-2080-5E49-BBE2-5AF6A986373E}"/>
              </a:ext>
            </a:extLst>
          </p:cNvPr>
          <p:cNvSpPr txBox="1"/>
          <p:nvPr/>
        </p:nvSpPr>
        <p:spPr>
          <a:xfrm>
            <a:off x="889000" y="47244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F1E3D"/>
                </a:solidFill>
                <a:latin typeface="Inter"/>
              </a:rPr>
              <a:t>Anthropic (creador)</a:t>
            </a:r>
            <a:endParaRPr lang="en-PE" sz="11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3D7225-0582-E545-8C68-90B10CA91C57}"/>
              </a:ext>
            </a:extLst>
          </p:cNvPr>
          <p:cNvSpPr/>
          <p:nvPr/>
        </p:nvSpPr>
        <p:spPr>
          <a:xfrm>
            <a:off x="3492500" y="4635500"/>
            <a:ext cx="2540000" cy="381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37A9F-0728-E648-8578-4A7414F8CA68}"/>
              </a:ext>
            </a:extLst>
          </p:cNvPr>
          <p:cNvSpPr txBox="1"/>
          <p:nvPr/>
        </p:nvSpPr>
        <p:spPr>
          <a:xfrm>
            <a:off x="3619500" y="47244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F1E3D"/>
                </a:solidFill>
                <a:latin typeface="Inter"/>
              </a:rPr>
              <a:t>OpenAI (Agents SDK)</a:t>
            </a:r>
            <a:endParaRPr lang="en-PE" sz="11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C63061-4796-7F4A-836D-99FE969A5D80}"/>
              </a:ext>
            </a:extLst>
          </p:cNvPr>
          <p:cNvSpPr/>
          <p:nvPr/>
        </p:nvSpPr>
        <p:spPr>
          <a:xfrm>
            <a:off x="6223000" y="4635500"/>
            <a:ext cx="2540000" cy="381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CDE7B-2D3C-EA4E-AF89-2BF50A358BEA}"/>
              </a:ext>
            </a:extLst>
          </p:cNvPr>
          <p:cNvSpPr txBox="1"/>
          <p:nvPr/>
        </p:nvSpPr>
        <p:spPr>
          <a:xfrm>
            <a:off x="6350000" y="47244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F1E3D"/>
                </a:solidFill>
                <a:latin typeface="Inter"/>
              </a:rPr>
              <a:t>Google (ADK)</a:t>
            </a:r>
            <a:endParaRPr lang="en-PE" sz="11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3928EB4-BCA2-6F44-A959-EA6C8BA29461}"/>
              </a:ext>
            </a:extLst>
          </p:cNvPr>
          <p:cNvSpPr/>
          <p:nvPr/>
        </p:nvSpPr>
        <p:spPr>
          <a:xfrm>
            <a:off x="8953500" y="4635500"/>
            <a:ext cx="2540000" cy="381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219C7C-CF37-3647-9DF3-C07D4388BF9C}"/>
              </a:ext>
            </a:extLst>
          </p:cNvPr>
          <p:cNvSpPr txBox="1"/>
          <p:nvPr/>
        </p:nvSpPr>
        <p:spPr>
          <a:xfrm>
            <a:off x="9080500" y="47244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F1E3D"/>
                </a:solidFill>
                <a:latin typeface="Inter"/>
              </a:rPr>
              <a:t>Microsoft (Semantic Kernel, Copilot Studio)</a:t>
            </a:r>
            <a:endParaRPr lang="en-PE" sz="11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1A16A9-6353-E84F-A9BD-2D559B59FCD3}"/>
              </a:ext>
            </a:extLst>
          </p:cNvPr>
          <p:cNvSpPr txBox="1"/>
          <p:nvPr/>
        </p:nvSpPr>
        <p:spPr>
          <a:xfrm>
            <a:off x="762000" y="52705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SERVIDORES POPULARES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B11A092-7B7E-2B46-AD38-CA82AE3B4B13}"/>
              </a:ext>
            </a:extLst>
          </p:cNvPr>
          <p:cNvSpPr/>
          <p:nvPr/>
        </p:nvSpPr>
        <p:spPr>
          <a:xfrm>
            <a:off x="7620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filesystem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9DC4546-A0D6-094D-A208-9C780860FB05}"/>
              </a:ext>
            </a:extLst>
          </p:cNvPr>
          <p:cNvSpPr/>
          <p:nvPr/>
        </p:nvSpPr>
        <p:spPr>
          <a:xfrm>
            <a:off x="21082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git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EE5693-F2B0-BB4C-9D99-801F962FE39D}"/>
              </a:ext>
            </a:extLst>
          </p:cNvPr>
          <p:cNvSpPr/>
          <p:nvPr/>
        </p:nvSpPr>
        <p:spPr>
          <a:xfrm>
            <a:off x="34544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GitHub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924472F-BB6F-A74E-8D65-754507054400}"/>
              </a:ext>
            </a:extLst>
          </p:cNvPr>
          <p:cNvSpPr/>
          <p:nvPr/>
        </p:nvSpPr>
        <p:spPr>
          <a:xfrm>
            <a:off x="48006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GitLab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5C5A02B-0826-9F4B-A1D8-263CBC1E05D1}"/>
              </a:ext>
            </a:extLst>
          </p:cNvPr>
          <p:cNvSpPr/>
          <p:nvPr/>
        </p:nvSpPr>
        <p:spPr>
          <a:xfrm>
            <a:off x="61468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Slack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E7D8CA4-2F5E-6242-9082-41943C8C0899}"/>
              </a:ext>
            </a:extLst>
          </p:cNvPr>
          <p:cNvSpPr/>
          <p:nvPr/>
        </p:nvSpPr>
        <p:spPr>
          <a:xfrm>
            <a:off x="74930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Postgres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E1C3698-FEA7-E940-97BE-57FD556B54C4}"/>
              </a:ext>
            </a:extLst>
          </p:cNvPr>
          <p:cNvSpPr/>
          <p:nvPr/>
        </p:nvSpPr>
        <p:spPr>
          <a:xfrm>
            <a:off x="88392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SQLite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A5F8A03-6D06-094A-95CC-5F7C07EAE1C9}"/>
              </a:ext>
            </a:extLst>
          </p:cNvPr>
          <p:cNvSpPr/>
          <p:nvPr/>
        </p:nvSpPr>
        <p:spPr>
          <a:xfrm>
            <a:off x="10185400" y="55880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Google Drive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E1C603D-B9BD-C342-BC61-D1574353FE95}"/>
              </a:ext>
            </a:extLst>
          </p:cNvPr>
          <p:cNvSpPr/>
          <p:nvPr/>
        </p:nvSpPr>
        <p:spPr>
          <a:xfrm>
            <a:off x="7620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Linear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8ABF831-8DFA-1745-9CED-2F8137AFD867}"/>
              </a:ext>
            </a:extLst>
          </p:cNvPr>
          <p:cNvSpPr/>
          <p:nvPr/>
        </p:nvSpPr>
        <p:spPr>
          <a:xfrm>
            <a:off x="21082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Notion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111889-6846-F449-A6AB-55EA61C71A46}"/>
              </a:ext>
            </a:extLst>
          </p:cNvPr>
          <p:cNvSpPr/>
          <p:nvPr/>
        </p:nvSpPr>
        <p:spPr>
          <a:xfrm>
            <a:off x="34544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Jira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033D62B-CB08-6D47-9349-0DC69513E687}"/>
              </a:ext>
            </a:extLst>
          </p:cNvPr>
          <p:cNvSpPr/>
          <p:nvPr/>
        </p:nvSpPr>
        <p:spPr>
          <a:xfrm>
            <a:off x="48006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Sentry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CA158F0-F04A-A941-B447-4715FB461092}"/>
              </a:ext>
            </a:extLst>
          </p:cNvPr>
          <p:cNvSpPr/>
          <p:nvPr/>
        </p:nvSpPr>
        <p:spPr>
          <a:xfrm>
            <a:off x="61468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Stripe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F650C1C-6603-5645-9F9D-838DA324EEE1}"/>
              </a:ext>
            </a:extLst>
          </p:cNvPr>
          <p:cNvSpPr/>
          <p:nvPr/>
        </p:nvSpPr>
        <p:spPr>
          <a:xfrm>
            <a:off x="7493000" y="5994400"/>
            <a:ext cx="1244600" cy="3302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A8C0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Cloudflare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9AC603-980D-F043-B1E2-5AADD9822B38}"/>
              </a:ext>
            </a:extLst>
          </p:cNvPr>
          <p:cNvSpPr txBox="1"/>
          <p:nvPr/>
        </p:nvSpPr>
        <p:spPr>
          <a:xfrm>
            <a:off x="762000" y="6578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F1E3D"/>
                </a:solidFill>
                <a:latin typeface="Inter"/>
              </a:rPr>
              <a:t>Reduce el lock-in a cualquier framework concreto. El protocolo es el contrato.</a:t>
            </a:r>
            <a:endParaRPr lang="en-PE" sz="13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629622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B1653-10AC-4D47-89CB-630FE4939034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4 · FRAMEWORKS Y PROTOCOLOS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2F5BE2-C4E3-9A40-A43B-25E773C5E4D8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ACP · Agent Client Protocol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2F0D-66EC-2947-971D-2B2A065069C7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LSP para agentes · creado por Zed (2025) · adoptado por JetBrains y Cursor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1BCA3-6457-C341-A0F1-10C2AAE53ABF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AF8CD-36AD-9344-AE28-30385C4C8FC3}"/>
              </a:ext>
            </a:extLst>
          </p:cNvPr>
          <p:cNvSpPr txBox="1"/>
          <p:nvPr/>
        </p:nvSpPr>
        <p:spPr>
          <a:xfrm>
            <a:off x="762000" y="2159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LA IDEA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28965-DF9F-8742-9662-7AD74272E90F}"/>
              </a:ext>
            </a:extLst>
          </p:cNvPr>
          <p:cNvSpPr txBox="1"/>
          <p:nvPr/>
        </p:nvSpPr>
        <p:spPr>
          <a:xfrm>
            <a:off x="762000" y="2413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E3D"/>
                </a:solidFill>
                <a:latin typeface="Inter"/>
              </a:rPr>
              <a:t>Cualquier agente × cualquier IDE</a:t>
            </a:r>
            <a:endParaRPr lang="en-PE" sz="2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5AF7B-3F3A-0C42-AABC-A8ED56169EAF}"/>
              </a:ext>
            </a:extLst>
          </p:cNvPr>
          <p:cNvSpPr txBox="1"/>
          <p:nvPr/>
        </p:nvSpPr>
        <p:spPr>
          <a:xfrm>
            <a:off x="762000" y="292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3A68"/>
                </a:solidFill>
                <a:latin typeface="Inter"/>
              </a:rPr>
              <a:t>Así como LSP permite que cualquier editor soporte cualquier lenguaje, ACP permite que cualquier agente se integre con cualquier IDE sin integración ad-hoc.</a:t>
            </a:r>
            <a:endParaRPr lang="en-PE" sz="14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27451-B404-BC42-817A-677AB75C1538}"/>
              </a:ext>
            </a:extLst>
          </p:cNvPr>
          <p:cNvSpPr txBox="1"/>
          <p:nvPr/>
        </p:nvSpPr>
        <p:spPr>
          <a:xfrm>
            <a:off x="762000" y="3810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EJEMPLOS CONCRETOS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63E23F-7684-A94B-B244-7726421351CD}"/>
              </a:ext>
            </a:extLst>
          </p:cNvPr>
          <p:cNvSpPr/>
          <p:nvPr/>
        </p:nvSpPr>
        <p:spPr>
          <a:xfrm>
            <a:off x="762000" y="4127500"/>
            <a:ext cx="2540000" cy="4826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"/>
              </a:rPr>
              <a:t>Claude Code</a:t>
            </a:r>
            <a:endParaRPr lang="en-PE" sz="13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CB593-FE81-FB43-A3D3-48945352C5BC}"/>
              </a:ext>
            </a:extLst>
          </p:cNvPr>
          <p:cNvSpPr txBox="1"/>
          <p:nvPr/>
        </p:nvSpPr>
        <p:spPr>
          <a:xfrm>
            <a:off x="3492500" y="42545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como agente dentro de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A29CBBB-BFF8-9042-9139-8F5DC778E41D}"/>
              </a:ext>
            </a:extLst>
          </p:cNvPr>
          <p:cNvSpPr/>
          <p:nvPr/>
        </p:nvSpPr>
        <p:spPr>
          <a:xfrm>
            <a:off x="5969000" y="4127500"/>
            <a:ext cx="2540000" cy="482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2C5A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JetBrains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6D82E3-2307-A947-BB65-526DD80AE1B6}"/>
              </a:ext>
            </a:extLst>
          </p:cNvPr>
          <p:cNvSpPr/>
          <p:nvPr/>
        </p:nvSpPr>
        <p:spPr>
          <a:xfrm>
            <a:off x="762000" y="4762500"/>
            <a:ext cx="2540000" cy="4826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"/>
              </a:rPr>
              <a:t>Cursor CLI</a:t>
            </a:r>
            <a:endParaRPr lang="en-PE" sz="13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2F059-902B-6F4A-96E9-618EF4121EB5}"/>
              </a:ext>
            </a:extLst>
          </p:cNvPr>
          <p:cNvSpPr txBox="1"/>
          <p:nvPr/>
        </p:nvSpPr>
        <p:spPr>
          <a:xfrm>
            <a:off x="3492500" y="48895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como agente dentro de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BFDB732-F0B8-0A45-BC36-3A2DEDE882A5}"/>
              </a:ext>
            </a:extLst>
          </p:cNvPr>
          <p:cNvSpPr/>
          <p:nvPr/>
        </p:nvSpPr>
        <p:spPr>
          <a:xfrm>
            <a:off x="5969000" y="4762500"/>
            <a:ext cx="2540000" cy="482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2C5A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Zed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858FF6-7110-684F-ACFD-307F71087801}"/>
              </a:ext>
            </a:extLst>
          </p:cNvPr>
          <p:cNvSpPr/>
          <p:nvPr/>
        </p:nvSpPr>
        <p:spPr>
          <a:xfrm>
            <a:off x="762000" y="5651500"/>
            <a:ext cx="10668000" cy="1079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A3C9F3-B921-044C-A412-D42B346FA89E}"/>
              </a:ext>
            </a:extLst>
          </p:cNvPr>
          <p:cNvSpPr/>
          <p:nvPr/>
        </p:nvSpPr>
        <p:spPr>
          <a:xfrm>
            <a:off x="762000" y="5651500"/>
            <a:ext cx="63500" cy="1079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B39239-15C8-2844-86B9-4FC27C0681BD}"/>
              </a:ext>
            </a:extLst>
          </p:cNvPr>
          <p:cNvSpPr txBox="1"/>
          <p:nvPr/>
        </p:nvSpPr>
        <p:spPr>
          <a:xfrm>
            <a:off x="1016000" y="5816600"/>
            <a:ext cx="635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PATRÓN ARQUITECTÓNICO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04A5E-0308-E745-8C06-BD9B3AD4E5E2}"/>
              </a:ext>
            </a:extLst>
          </p:cNvPr>
          <p:cNvSpPr txBox="1"/>
          <p:nvPr/>
        </p:nvSpPr>
        <p:spPr>
          <a:xfrm>
            <a:off x="1016000" y="60579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Los IDEs de 2026 no son editores con IA. Son orquestadores de agentes intercambiables.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62FC0B-57D5-9844-8776-8D374244B2C1}"/>
              </a:ext>
            </a:extLst>
          </p:cNvPr>
          <p:cNvSpPr txBox="1"/>
          <p:nvPr/>
        </p:nvSpPr>
        <p:spPr>
          <a:xfrm>
            <a:off x="1016000" y="6388100"/>
            <a:ext cx="1041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El modelo mental "editor + plugins" queda obsoleto.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43558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9318F-8B41-E24B-98BC-2114E8ECBD6C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4 · FRAMEWORKS Y PROTOCOLOS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FCFA4-7B61-8542-BB16-E6B9CAA448AC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OAuth vs API key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4EB49-9DE6-E94E-A006-1EA68965FAC7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Cómo te conectas · decisión con implicación económica real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6B9F5E-F38B-5F43-B24C-69E03976E857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FF7ED-52D5-F645-A071-0ED41E7FAA71}"/>
              </a:ext>
            </a:extLst>
          </p:cNvPr>
          <p:cNvSpPr/>
          <p:nvPr/>
        </p:nvSpPr>
        <p:spPr>
          <a:xfrm>
            <a:off x="762000" y="2159000"/>
            <a:ext cx="5207000" cy="3302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9504C-7558-7743-93EF-9711D699FDFC}"/>
              </a:ext>
            </a:extLst>
          </p:cNvPr>
          <p:cNvSpPr txBox="1"/>
          <p:nvPr/>
        </p:nvSpPr>
        <p:spPr>
          <a:xfrm>
            <a:off x="1066800" y="23876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API KEY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2557A-4A34-CF4A-9219-B11BDD6D2130}"/>
              </a:ext>
            </a:extLst>
          </p:cNvPr>
          <p:cNvSpPr txBox="1"/>
          <p:nvPr/>
        </p:nvSpPr>
        <p:spPr>
          <a:xfrm>
            <a:off x="1066800" y="2616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Pay-as-you-go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183F4-707E-054E-9711-2A6E71B1C3AD}"/>
              </a:ext>
            </a:extLst>
          </p:cNvPr>
          <p:cNvSpPr txBox="1"/>
          <p:nvPr/>
        </p:nvSpPr>
        <p:spPr>
          <a:xfrm>
            <a:off x="1066800" y="3111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Consolas"/>
                <a:cs typeface="Consolas"/>
              </a:rPr>
              <a:t>ANTHROPIC_API_KEY</a:t>
            </a:r>
            <a:endParaRPr lang="en-PE" sz="12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28AFB-A634-4C4C-8780-6336063B453E}"/>
              </a:ext>
            </a:extLst>
          </p:cNvPr>
          <p:cNvSpPr txBox="1"/>
          <p:nvPr/>
        </p:nvSpPr>
        <p:spPr>
          <a:xfrm>
            <a:off x="1066800" y="33401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4A7FC1"/>
                </a:solidFill>
                <a:latin typeface="Consolas"/>
                <a:cs typeface="Consolas"/>
              </a:rPr>
              <a:t>OPENAI_API_KEY</a:t>
            </a:r>
            <a:endParaRPr lang="en-PE" sz="12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567E34-2A09-B747-900C-BCB3D368248B}"/>
              </a:ext>
            </a:extLst>
          </p:cNvPr>
          <p:cNvSpPr/>
          <p:nvPr/>
        </p:nvSpPr>
        <p:spPr>
          <a:xfrm>
            <a:off x="1066800" y="38227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B7779-FE26-B54A-B441-68B5A7B63EA2}"/>
              </a:ext>
            </a:extLst>
          </p:cNvPr>
          <p:cNvSpPr txBox="1"/>
          <p:nvPr/>
        </p:nvSpPr>
        <p:spPr>
          <a:xfrm>
            <a:off x="1270000" y="3746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Facturación por uso real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011967-4620-C24B-8C16-1D56C38EA7E8}"/>
              </a:ext>
            </a:extLst>
          </p:cNvPr>
          <p:cNvSpPr/>
          <p:nvPr/>
        </p:nvSpPr>
        <p:spPr>
          <a:xfrm>
            <a:off x="1066800" y="41783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FC9FE9-CED9-DF40-B3C8-B7F365FE65D2}"/>
              </a:ext>
            </a:extLst>
          </p:cNvPr>
          <p:cNvSpPr txBox="1"/>
          <p:nvPr/>
        </p:nvSpPr>
        <p:spPr>
          <a:xfrm>
            <a:off x="1270000" y="4102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Atribución de coste por proyecto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DECAA0-3190-A340-B6C1-2055311A7B2C}"/>
              </a:ext>
            </a:extLst>
          </p:cNvPr>
          <p:cNvSpPr/>
          <p:nvPr/>
        </p:nvSpPr>
        <p:spPr>
          <a:xfrm>
            <a:off x="1066800" y="45339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E768F-1D82-B141-AFD8-A5DC7CF73751}"/>
              </a:ext>
            </a:extLst>
          </p:cNvPr>
          <p:cNvSpPr txBox="1"/>
          <p:nvPr/>
        </p:nvSpPr>
        <p:spPr>
          <a:xfrm>
            <a:off x="1270000" y="4457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Negociación de volumen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12C2D0-E3A3-BE41-90E6-29699CE311F5}"/>
              </a:ext>
            </a:extLst>
          </p:cNvPr>
          <p:cNvSpPr/>
          <p:nvPr/>
        </p:nvSpPr>
        <p:spPr>
          <a:xfrm>
            <a:off x="1066800" y="4889500"/>
            <a:ext cx="101600" cy="101600"/>
          </a:xfrm>
          <a:prstGeom prst="ellipse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72EB4-AD20-8541-ABE9-CA4548953F0E}"/>
              </a:ext>
            </a:extLst>
          </p:cNvPr>
          <p:cNvSpPr txBox="1"/>
          <p:nvPr/>
        </p:nvSpPr>
        <p:spPr>
          <a:xfrm>
            <a:off x="12700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0F1E3D"/>
                </a:solidFill>
                <a:latin typeface="Inter"/>
              </a:rPr>
              <a:t>Estándar para producto B2C</a:t>
            </a:r>
            <a:endParaRPr lang="en-PE" sz="1300">
              <a:solidFill>
                <a:srgbClr val="0F1E3D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4259F-6E30-3D41-B12B-67F80965218C}"/>
              </a:ext>
            </a:extLst>
          </p:cNvPr>
          <p:cNvSpPr/>
          <p:nvPr/>
        </p:nvSpPr>
        <p:spPr>
          <a:xfrm>
            <a:off x="6223000" y="2159000"/>
            <a:ext cx="5207000" cy="3302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852F0-E4B8-8343-BB5A-49A9295B6EED}"/>
              </a:ext>
            </a:extLst>
          </p:cNvPr>
          <p:cNvSpPr txBox="1"/>
          <p:nvPr/>
        </p:nvSpPr>
        <p:spPr>
          <a:xfrm>
            <a:off x="6527800" y="23876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OAUTH · SUSCRIPCIÓN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2F9B2-B1C9-B442-9E0D-F7E7CEE44EAC}"/>
              </a:ext>
            </a:extLst>
          </p:cNvPr>
          <p:cNvSpPr txBox="1"/>
          <p:nvPr/>
        </p:nvSpPr>
        <p:spPr>
          <a:xfrm>
            <a:off x="6527800" y="26162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Inter"/>
              </a:rPr>
              <a:t>Cuenta consumer</a:t>
            </a:r>
            <a:endParaRPr lang="en-P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B76BB0-6986-7344-ACE5-62BD6A229FCA}"/>
              </a:ext>
            </a:extLst>
          </p:cNvPr>
          <p:cNvSpPr txBox="1"/>
          <p:nvPr/>
        </p:nvSpPr>
        <p:spPr>
          <a:xfrm>
            <a:off x="6527800" y="31115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7FA3D1"/>
                </a:solidFill>
                <a:latin typeface="Inter"/>
              </a:rPr>
              <a:t>Claude Pro en Claude Code</a:t>
            </a:r>
            <a:endParaRPr lang="en-PE" sz="1200" i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BCB146-BCCF-8E49-AFBE-A53C3F9E2E09}"/>
              </a:ext>
            </a:extLst>
          </p:cNvPr>
          <p:cNvSpPr txBox="1"/>
          <p:nvPr/>
        </p:nvSpPr>
        <p:spPr>
          <a:xfrm>
            <a:off x="6527800" y="33655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7FA3D1"/>
                </a:solidFill>
                <a:latin typeface="Inter"/>
              </a:rPr>
              <a:t>ChatGPT Plus en Codex CLI · SuperGrok en xAI CLI</a:t>
            </a:r>
            <a:endParaRPr lang="en-PE" sz="1200" i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37B4B97-4C60-F14C-A743-5FD026274E81}"/>
              </a:ext>
            </a:extLst>
          </p:cNvPr>
          <p:cNvSpPr/>
          <p:nvPr/>
        </p:nvSpPr>
        <p:spPr>
          <a:xfrm>
            <a:off x="6527800" y="38227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F77FD-B01A-7F45-8838-27030DFD0211}"/>
              </a:ext>
            </a:extLst>
          </p:cNvPr>
          <p:cNvSpPr txBox="1"/>
          <p:nvPr/>
        </p:nvSpPr>
        <p:spPr>
          <a:xfrm>
            <a:off x="6731000" y="3746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Límites por plan, no por token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C6D7E2-B5D2-7143-9E78-A43431AEC1B5}"/>
              </a:ext>
            </a:extLst>
          </p:cNvPr>
          <p:cNvSpPr/>
          <p:nvPr/>
        </p:nvSpPr>
        <p:spPr>
          <a:xfrm>
            <a:off x="6527800" y="41783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15D702-2DC5-B441-AB25-395D59DC1C35}"/>
              </a:ext>
            </a:extLst>
          </p:cNvPr>
          <p:cNvSpPr txBox="1"/>
          <p:nvPr/>
        </p:nvSpPr>
        <p:spPr>
          <a:xfrm>
            <a:off x="6731000" y="4102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Factura plana mensual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568E4D3-4804-D449-BED7-188ADF23AF43}"/>
              </a:ext>
            </a:extLst>
          </p:cNvPr>
          <p:cNvSpPr/>
          <p:nvPr/>
        </p:nvSpPr>
        <p:spPr>
          <a:xfrm>
            <a:off x="6527800" y="45339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C7C8B-DB83-684C-92C8-CF12DF5A125D}"/>
              </a:ext>
            </a:extLst>
          </p:cNvPr>
          <p:cNvSpPr txBox="1"/>
          <p:nvPr/>
        </p:nvSpPr>
        <p:spPr>
          <a:xfrm>
            <a:off x="6731000" y="4457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Ideal para developer individual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DCD602-40AE-5247-A8BB-AB71F5C6875F}"/>
              </a:ext>
            </a:extLst>
          </p:cNvPr>
          <p:cNvSpPr/>
          <p:nvPr/>
        </p:nvSpPr>
        <p:spPr>
          <a:xfrm>
            <a:off x="6527800" y="4889500"/>
            <a:ext cx="101600" cy="101600"/>
          </a:xfrm>
          <a:prstGeom prst="ellipse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13970-F47B-B64D-A1FC-27ED6F4A4CF9}"/>
              </a:ext>
            </a:extLst>
          </p:cNvPr>
          <p:cNvSpPr txBox="1"/>
          <p:nvPr/>
        </p:nvSpPr>
        <p:spPr>
          <a:xfrm>
            <a:off x="67310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Inter"/>
              </a:rPr>
              <a:t>Hasta 10× más barato que API</a:t>
            </a:r>
            <a:endParaRPr lang="en-PE" sz="13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DFCB97-2FFC-F341-81D1-AD273BEED5DD}"/>
              </a:ext>
            </a:extLst>
          </p:cNvPr>
          <p:cNvSpPr/>
          <p:nvPr/>
        </p:nvSpPr>
        <p:spPr>
          <a:xfrm>
            <a:off x="762000" y="5715000"/>
            <a:ext cx="10668000" cy="952500"/>
          </a:xfrm>
          <a:prstGeom prst="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84D584-E4F8-FD44-8767-5FD861B880DB}"/>
              </a:ext>
            </a:extLst>
          </p:cNvPr>
          <p:cNvSpPr txBox="1"/>
          <p:nvPr/>
        </p:nvSpPr>
        <p:spPr>
          <a:xfrm>
            <a:off x="1016000" y="5905500"/>
            <a:ext cx="635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PARA UN DEVELOPER INDIVIDUAL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B0F78C-4CD0-E747-94A0-FF39A91C35C8}"/>
              </a:ext>
            </a:extLst>
          </p:cNvPr>
          <p:cNvSpPr txBox="1"/>
          <p:nvPr/>
        </p:nvSpPr>
        <p:spPr>
          <a:xfrm>
            <a:off x="1016000" y="61595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Claude Pro + Claude Code ≈ $20/mes · API uso frecuente ≈ $200+/mes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81F3F1-E5E3-5C49-A23A-CC4893953FD8}"/>
              </a:ext>
            </a:extLst>
          </p:cNvPr>
          <p:cNvSpPr txBox="1"/>
          <p:nvPr/>
        </p:nvSpPr>
        <p:spPr>
          <a:xfrm>
            <a:off x="1016000" y="6438900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F3A68"/>
                </a:solidFill>
                <a:latin typeface="Inter"/>
              </a:rPr>
              <a:t>En el curso trabajamos con API keys — es lo que se usa en producto para usuarios finales.</a:t>
            </a:r>
            <a:endParaRPr lang="en-PE" sz="1200" i="1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7965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4792C-5AA5-244A-808D-4EBCB0173BC0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APIS DE CHAT COMPLETIONS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932C3-8AA0-AC45-A5F4-2F9620AB82D4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Anatomía de una llamada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F75BC-991E-6F43-9648-4A319C8F0969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Conceptualmente, una función pura.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48AC9-DD00-DA46-9133-F818E8E27A8A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6020B-2A39-A349-AE35-099FAF05B714}"/>
              </a:ext>
            </a:extLst>
          </p:cNvPr>
          <p:cNvSpPr/>
          <p:nvPr/>
        </p:nvSpPr>
        <p:spPr>
          <a:xfrm>
            <a:off x="762000" y="2095500"/>
            <a:ext cx="10668000" cy="5842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20C00-31DF-6C4B-9829-82CF1796BEB7}"/>
              </a:ext>
            </a:extLst>
          </p:cNvPr>
          <p:cNvSpPr txBox="1"/>
          <p:nvPr/>
        </p:nvSpPr>
        <p:spPr>
          <a:xfrm>
            <a:off x="1016000" y="22352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Consolas"/>
                <a:cs typeface="Consolas"/>
              </a:rPr>
              <a:t>f(model, messages, params) → { choices, usage, finish_reason }</a:t>
            </a:r>
            <a:endParaRPr lang="en-PE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CFBD3-BD6B-634B-BD31-437D8A12CC5E}"/>
              </a:ext>
            </a:extLst>
          </p:cNvPr>
          <p:cNvSpPr txBox="1"/>
          <p:nvPr/>
        </p:nvSpPr>
        <p:spPr>
          <a:xfrm>
            <a:off x="762000" y="28702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LOS CUATRO PARÁMETROS QUE IMPORTAN AL 90%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F4A78-4FAB-D540-8B42-8EE74409FB1C}"/>
              </a:ext>
            </a:extLst>
          </p:cNvPr>
          <p:cNvSpPr/>
          <p:nvPr/>
        </p:nvSpPr>
        <p:spPr>
          <a:xfrm>
            <a:off x="762000" y="3200400"/>
            <a:ext cx="5207000" cy="88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A4011-8C34-2847-B1AE-9FA4E353BD35}"/>
              </a:ext>
            </a:extLst>
          </p:cNvPr>
          <p:cNvSpPr/>
          <p:nvPr/>
        </p:nvSpPr>
        <p:spPr>
          <a:xfrm>
            <a:off x="762000" y="3200400"/>
            <a:ext cx="50800" cy="88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82BEF-EC47-4944-9AB9-9B86EBF9FCC6}"/>
              </a:ext>
            </a:extLst>
          </p:cNvPr>
          <p:cNvSpPr txBox="1"/>
          <p:nvPr/>
        </p:nvSpPr>
        <p:spPr>
          <a:xfrm>
            <a:off x="1016000" y="3327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Consolas"/>
                <a:cs typeface="Consolas"/>
              </a:rPr>
              <a:t>model</a:t>
            </a:r>
            <a:endParaRPr lang="en-PE" sz="15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AC3A0-2301-E34F-9606-3064BE99F5DB}"/>
              </a:ext>
            </a:extLst>
          </p:cNvPr>
          <p:cNvSpPr txBox="1"/>
          <p:nvPr/>
        </p:nvSpPr>
        <p:spPr>
          <a:xfrm>
            <a:off x="1016000" y="35814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identificador del modelo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B5DEA-7E17-D042-8681-4A6861DEEC53}"/>
              </a:ext>
            </a:extLst>
          </p:cNvPr>
          <p:cNvSpPr txBox="1"/>
          <p:nvPr/>
        </p:nvSpPr>
        <p:spPr>
          <a:xfrm>
            <a:off x="1016000" y="3810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gpt-5.4 · claude-opus-4-7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6EF48A-E12C-CD40-B840-1BC9E25869B1}"/>
              </a:ext>
            </a:extLst>
          </p:cNvPr>
          <p:cNvSpPr/>
          <p:nvPr/>
        </p:nvSpPr>
        <p:spPr>
          <a:xfrm>
            <a:off x="6159500" y="3200400"/>
            <a:ext cx="5207000" cy="88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8321D-D19E-1348-8E71-11B5E286A531}"/>
              </a:ext>
            </a:extLst>
          </p:cNvPr>
          <p:cNvSpPr/>
          <p:nvPr/>
        </p:nvSpPr>
        <p:spPr>
          <a:xfrm>
            <a:off x="6159500" y="3200400"/>
            <a:ext cx="50800" cy="88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92AAF-FEE7-F94D-A652-42A05CE6A2A9}"/>
              </a:ext>
            </a:extLst>
          </p:cNvPr>
          <p:cNvSpPr txBox="1"/>
          <p:nvPr/>
        </p:nvSpPr>
        <p:spPr>
          <a:xfrm>
            <a:off x="6413500" y="3327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Consolas"/>
                <a:cs typeface="Consolas"/>
              </a:rPr>
              <a:t>messages</a:t>
            </a:r>
            <a:endParaRPr lang="en-PE" sz="15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20392-A8B1-AC49-A580-188E7F662E2E}"/>
              </a:ext>
            </a:extLst>
          </p:cNvPr>
          <p:cNvSpPr txBox="1"/>
          <p:nvPr/>
        </p:nvSpPr>
        <p:spPr>
          <a:xfrm>
            <a:off x="6413500" y="35814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array de turnos con role + content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4569C-3276-3B47-A9B5-8647F9B54F6D}"/>
              </a:ext>
            </a:extLst>
          </p:cNvPr>
          <p:cNvSpPr txBox="1"/>
          <p:nvPr/>
        </p:nvSpPr>
        <p:spPr>
          <a:xfrm>
            <a:off x="6413500" y="3810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system · user · assistant · tool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E3B3D-BE7F-204C-8ECF-EEEA66F864CE}"/>
              </a:ext>
            </a:extLst>
          </p:cNvPr>
          <p:cNvSpPr/>
          <p:nvPr/>
        </p:nvSpPr>
        <p:spPr>
          <a:xfrm>
            <a:off x="762000" y="4216400"/>
            <a:ext cx="5207000" cy="88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A2096-BEDA-934E-97C4-1DB2DE5CBBDF}"/>
              </a:ext>
            </a:extLst>
          </p:cNvPr>
          <p:cNvSpPr/>
          <p:nvPr/>
        </p:nvSpPr>
        <p:spPr>
          <a:xfrm>
            <a:off x="762000" y="4216400"/>
            <a:ext cx="50800" cy="88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EB29D0-42C9-E942-9196-827BD4E16EEF}"/>
              </a:ext>
            </a:extLst>
          </p:cNvPr>
          <p:cNvSpPr txBox="1"/>
          <p:nvPr/>
        </p:nvSpPr>
        <p:spPr>
          <a:xfrm>
            <a:off x="1016000" y="4343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Consolas"/>
                <a:cs typeface="Consolas"/>
              </a:rPr>
              <a:t>temperature</a:t>
            </a:r>
            <a:endParaRPr lang="en-PE" sz="15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972D0-7B0E-3141-B870-63E6501812A7}"/>
              </a:ext>
            </a:extLst>
          </p:cNvPr>
          <p:cNvSpPr txBox="1"/>
          <p:nvPr/>
        </p:nvSpPr>
        <p:spPr>
          <a:xfrm>
            <a:off x="1016000" y="45974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aleatoriedad 0–2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64E0A-334B-CB4F-8B31-55B70FED3E04}"/>
              </a:ext>
            </a:extLst>
          </p:cNvPr>
          <p:cNvSpPr txBox="1"/>
          <p:nvPr/>
        </p:nvSpPr>
        <p:spPr>
          <a:xfrm>
            <a:off x="1016000" y="4826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0 determinista · 0.7 conversación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0A9EA1-D340-7C43-A1A6-7DE410B61A87}"/>
              </a:ext>
            </a:extLst>
          </p:cNvPr>
          <p:cNvSpPr/>
          <p:nvPr/>
        </p:nvSpPr>
        <p:spPr>
          <a:xfrm>
            <a:off x="6159500" y="4216400"/>
            <a:ext cx="5207000" cy="889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5C8253-E8E2-2844-9E7E-C9AE145D3BA1}"/>
              </a:ext>
            </a:extLst>
          </p:cNvPr>
          <p:cNvSpPr/>
          <p:nvPr/>
        </p:nvSpPr>
        <p:spPr>
          <a:xfrm>
            <a:off x="6159500" y="4216400"/>
            <a:ext cx="50800" cy="88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F46EE-C4B2-6047-9549-8CBE3CEE581F}"/>
              </a:ext>
            </a:extLst>
          </p:cNvPr>
          <p:cNvSpPr txBox="1"/>
          <p:nvPr/>
        </p:nvSpPr>
        <p:spPr>
          <a:xfrm>
            <a:off x="6413500" y="4343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Consolas"/>
                <a:cs typeface="Consolas"/>
              </a:rPr>
              <a:t>max_tokens</a:t>
            </a:r>
            <a:endParaRPr lang="en-PE" sz="15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4425B-CC49-EF45-B032-8D1F4D0D2189}"/>
              </a:ext>
            </a:extLst>
          </p:cNvPr>
          <p:cNvSpPr txBox="1"/>
          <p:nvPr/>
        </p:nvSpPr>
        <p:spPr>
          <a:xfrm>
            <a:off x="6413500" y="45974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tope de respuesta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7D09A-5AC1-5549-BF0C-677D5110CFC6}"/>
              </a:ext>
            </a:extLst>
          </p:cNvPr>
          <p:cNvSpPr txBox="1"/>
          <p:nvPr/>
        </p:nvSpPr>
        <p:spPr>
          <a:xfrm>
            <a:off x="6413500" y="4826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4A7FC1"/>
                </a:solidFill>
                <a:latin typeface="Inter"/>
              </a:rPr>
              <a:t>obligatorio en Anthropic</a:t>
            </a:r>
            <a:endParaRPr lang="en-PE" sz="11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AA6BD4-1D90-0644-B211-4BD1E7E30563}"/>
              </a:ext>
            </a:extLst>
          </p:cNvPr>
          <p:cNvSpPr txBox="1"/>
          <p:nvPr/>
        </p:nvSpPr>
        <p:spPr>
          <a:xfrm>
            <a:off x="762000" y="5334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LOS CUATRO ROLES EN MESSAGES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5FE109E-0B60-7C4C-8212-7A22EAB2AA00}"/>
              </a:ext>
            </a:extLst>
          </p:cNvPr>
          <p:cNvSpPr/>
          <p:nvPr/>
        </p:nvSpPr>
        <p:spPr>
          <a:xfrm>
            <a:off x="762000" y="5651500"/>
            <a:ext cx="2540000" cy="7620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62939A-BA10-5A4E-8CCE-B778619328AA}"/>
              </a:ext>
            </a:extLst>
          </p:cNvPr>
          <p:cNvSpPr txBox="1"/>
          <p:nvPr/>
        </p:nvSpPr>
        <p:spPr>
          <a:xfrm>
            <a:off x="939800" y="57531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system</a:t>
            </a:r>
            <a:endParaRPr lang="en-PE" sz="14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005881-E45A-2540-A98D-04C1A0D9E4A6}"/>
              </a:ext>
            </a:extLst>
          </p:cNvPr>
          <p:cNvSpPr txBox="1"/>
          <p:nvPr/>
        </p:nvSpPr>
        <p:spPr>
          <a:xfrm>
            <a:off x="939800" y="60325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E8EEF7"/>
                </a:solidFill>
                <a:latin typeface="Inter"/>
              </a:rPr>
              <a:t>instrucciones del rol del asistente</a:t>
            </a:r>
            <a:endParaRPr lang="en-PE" sz="10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CA600DF-C74A-9F42-BCBE-0BA32260D212}"/>
              </a:ext>
            </a:extLst>
          </p:cNvPr>
          <p:cNvSpPr/>
          <p:nvPr/>
        </p:nvSpPr>
        <p:spPr>
          <a:xfrm>
            <a:off x="3429000" y="5651500"/>
            <a:ext cx="2540000" cy="762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61E443-8673-264D-A34F-E834BDCAF5C3}"/>
              </a:ext>
            </a:extLst>
          </p:cNvPr>
          <p:cNvSpPr txBox="1"/>
          <p:nvPr/>
        </p:nvSpPr>
        <p:spPr>
          <a:xfrm>
            <a:off x="3606800" y="57531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Consolas"/>
                <a:cs typeface="Consolas"/>
              </a:rPr>
              <a:t>user</a:t>
            </a:r>
            <a:endParaRPr lang="en-PE" sz="14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BD71EB-523F-2947-917C-C4E65627F7D4}"/>
              </a:ext>
            </a:extLst>
          </p:cNvPr>
          <p:cNvSpPr txBox="1"/>
          <p:nvPr/>
        </p:nvSpPr>
        <p:spPr>
          <a:xfrm>
            <a:off x="3606800" y="60325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F3A68"/>
                </a:solidFill>
                <a:latin typeface="Inter"/>
              </a:rPr>
              <a:t>turno del humano</a:t>
            </a:r>
            <a:endParaRPr lang="en-PE" sz="10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1DC50EA-E379-D944-AD1D-393A4A33C60F}"/>
              </a:ext>
            </a:extLst>
          </p:cNvPr>
          <p:cNvSpPr/>
          <p:nvPr/>
        </p:nvSpPr>
        <p:spPr>
          <a:xfrm>
            <a:off x="6096000" y="5651500"/>
            <a:ext cx="2540000" cy="762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9438F8-5248-7145-875D-AA2509865958}"/>
              </a:ext>
            </a:extLst>
          </p:cNvPr>
          <p:cNvSpPr txBox="1"/>
          <p:nvPr/>
        </p:nvSpPr>
        <p:spPr>
          <a:xfrm>
            <a:off x="6273800" y="57531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Consolas"/>
                <a:cs typeface="Consolas"/>
              </a:rPr>
              <a:t>assistant</a:t>
            </a:r>
            <a:endParaRPr lang="en-PE" sz="14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DEE4CE-10E9-4242-B96B-C0796B3AA408}"/>
              </a:ext>
            </a:extLst>
          </p:cNvPr>
          <p:cNvSpPr txBox="1"/>
          <p:nvPr/>
        </p:nvSpPr>
        <p:spPr>
          <a:xfrm>
            <a:off x="6273800" y="60325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F3A68"/>
                </a:solidFill>
                <a:latin typeface="Inter"/>
              </a:rPr>
              <a:t>turno del modelo</a:t>
            </a:r>
            <a:endParaRPr lang="en-PE" sz="10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EC2FB3A-2A68-5043-8589-203E16111089}"/>
              </a:ext>
            </a:extLst>
          </p:cNvPr>
          <p:cNvSpPr/>
          <p:nvPr/>
        </p:nvSpPr>
        <p:spPr>
          <a:xfrm>
            <a:off x="8763000" y="5651500"/>
            <a:ext cx="2540000" cy="762000"/>
          </a:xfrm>
          <a:prstGeom prst="roundRect">
            <a:avLst/>
          </a:prstGeom>
          <a:solidFill>
            <a:srgbClr val="E8EE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ECE814-9BEA-DA4D-9BD5-C5A569DC4E2E}"/>
              </a:ext>
            </a:extLst>
          </p:cNvPr>
          <p:cNvSpPr txBox="1"/>
          <p:nvPr/>
        </p:nvSpPr>
        <p:spPr>
          <a:xfrm>
            <a:off x="8940800" y="57531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Consolas"/>
                <a:cs typeface="Consolas"/>
              </a:rPr>
              <a:t>tool</a:t>
            </a:r>
            <a:endParaRPr lang="en-PE" sz="1400" b="1">
              <a:solidFill>
                <a:srgbClr val="0F1E3D"/>
              </a:solidFill>
              <a:latin typeface="Consolas"/>
              <a:cs typeface="Consola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C11BC-0F0E-554A-AF97-DB99EC2B9C8F}"/>
              </a:ext>
            </a:extLst>
          </p:cNvPr>
          <p:cNvSpPr txBox="1"/>
          <p:nvPr/>
        </p:nvSpPr>
        <p:spPr>
          <a:xfrm>
            <a:off x="8940800" y="60325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F3A68"/>
                </a:solidFill>
                <a:latin typeface="Inter"/>
              </a:rPr>
              <a:t>resultado de tool ejecutada</a:t>
            </a:r>
            <a:endParaRPr lang="en-PE" sz="1000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20191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1E453-8B83-E34E-96B5-1752725C7518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APIS DE CHAT COMPLETIONS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3BFFE-FDA3-0946-8EBC-90896B277E22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Seis líneas para hablar con un LLM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1977D-D77E-0648-9A38-3296C0F66592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Una llamada a un LLM es una llamada HTTP cualquiera. No hay magia.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D7507F-8DA2-AA48-B589-545F28109F3A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6CAD47-BDF0-964E-A85D-467DDC65D43E}"/>
              </a:ext>
            </a:extLst>
          </p:cNvPr>
          <p:cNvSpPr/>
          <p:nvPr/>
        </p:nvSpPr>
        <p:spPr>
          <a:xfrm>
            <a:off x="762000" y="2095500"/>
            <a:ext cx="10668000" cy="3302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9026A-5132-3A4D-A47F-6E4973526356}"/>
              </a:ext>
            </a:extLst>
          </p:cNvPr>
          <p:cNvSpPr txBox="1"/>
          <p:nvPr/>
        </p:nvSpPr>
        <p:spPr>
          <a:xfrm>
            <a:off x="1016000" y="2286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FA3D1"/>
                </a:solidFill>
                <a:latin typeface="Consolas"/>
                <a:cs typeface="Consolas"/>
              </a:rPr>
              <a:t>from openai import OpenAI</a:t>
            </a:r>
            <a:endParaRPr lang="en-PE" sz="1300">
              <a:solidFill>
                <a:srgbClr val="7FA3D1"/>
              </a:solidFill>
              <a:latin typeface="Consolas"/>
              <a:cs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01B4A-AA92-3E49-BD04-F9C183B64316}"/>
              </a:ext>
            </a:extLst>
          </p:cNvPr>
          <p:cNvSpPr txBox="1"/>
          <p:nvPr/>
        </p:nvSpPr>
        <p:spPr>
          <a:xfrm>
            <a:off x="1016000" y="25146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client = OpenAI()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DB9C5-7049-3C48-97BF-F04FB998015D}"/>
              </a:ext>
            </a:extLst>
          </p:cNvPr>
          <p:cNvSpPr txBox="1"/>
          <p:nvPr/>
        </p:nvSpPr>
        <p:spPr>
          <a:xfrm>
            <a:off x="1016000" y="27432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3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C86974-C65A-F543-A205-325753108FDB}"/>
              </a:ext>
            </a:extLst>
          </p:cNvPr>
          <p:cNvSpPr txBox="1"/>
          <p:nvPr/>
        </p:nvSpPr>
        <p:spPr>
          <a:xfrm>
            <a:off x="1016000" y="2971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resp = client.chat.completions.create(</a:t>
            </a:r>
            <a:endParaRPr lang="en-PE" sz="130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C99E5-74B7-B945-8EAD-7348CB56F6FE}"/>
              </a:ext>
            </a:extLst>
          </p:cNvPr>
          <p:cNvSpPr txBox="1"/>
          <p:nvPr/>
        </p:nvSpPr>
        <p:spPr>
          <a:xfrm>
            <a:off x="1016000" y="32004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8C0DC"/>
                </a:solidFill>
                <a:latin typeface="Consolas"/>
                <a:cs typeface="Consolas"/>
              </a:rPr>
              <a:t>    model="gpt-5.4",</a:t>
            </a:r>
            <a:endParaRPr lang="en-PE" sz="13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CE25DE-7BA6-4B46-98EC-76D47B13F6E9}"/>
              </a:ext>
            </a:extLst>
          </p:cNvPr>
          <p:cNvSpPr txBox="1"/>
          <p:nvPr/>
        </p:nvSpPr>
        <p:spPr>
          <a:xfrm>
            <a:off x="1016000" y="3429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8C0DC"/>
                </a:solidFill>
                <a:latin typeface="Consolas"/>
                <a:cs typeface="Consolas"/>
              </a:rPr>
              <a:t>    messages=[</a:t>
            </a:r>
            <a:endParaRPr lang="en-PE" sz="13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ED76C6-87BD-2D47-9F16-4DA109E2AAF7}"/>
              </a:ext>
            </a:extLst>
          </p:cNvPr>
          <p:cNvSpPr txBox="1"/>
          <p:nvPr/>
        </p:nvSpPr>
        <p:spPr>
          <a:xfrm>
            <a:off x="1016000" y="36576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        {"role": "system", "content": "Eres un asistente experto en elecciones peruanas."},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03DE6-F379-234F-A20C-A18B07E5A3E7}"/>
              </a:ext>
            </a:extLst>
          </p:cNvPr>
          <p:cNvSpPr txBox="1"/>
          <p:nvPr/>
        </p:nvSpPr>
        <p:spPr>
          <a:xfrm>
            <a:off x="1016000" y="38862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        {"role": "user",   "content": "¿Quién va ganando en Lima?"}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EAD0BA-D57B-1042-95BD-7EFBF5E0FAB6}"/>
              </a:ext>
            </a:extLst>
          </p:cNvPr>
          <p:cNvSpPr txBox="1"/>
          <p:nvPr/>
        </p:nvSpPr>
        <p:spPr>
          <a:xfrm>
            <a:off x="1016000" y="4114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300">
                <a:solidFill>
                  <a:srgbClr val="A8C0DC"/>
                </a:solidFill>
                <a:latin typeface="Consolas"/>
                <a:cs typeface="Consolas"/>
              </a:rPr>
              <a:t>    ],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C6116-9604-2D44-9B9F-036C04C8A75B}"/>
              </a:ext>
            </a:extLst>
          </p:cNvPr>
          <p:cNvSpPr txBox="1"/>
          <p:nvPr/>
        </p:nvSpPr>
        <p:spPr>
          <a:xfrm>
            <a:off x="1016000" y="43434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8C0DC"/>
                </a:solidFill>
                <a:latin typeface="Consolas"/>
                <a:cs typeface="Consolas"/>
              </a:rPr>
              <a:t>    temperature=0.3,</a:t>
            </a:r>
            <a:endParaRPr lang="en-PE" sz="13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74A15C-5B59-274E-928E-7D18833D8C05}"/>
              </a:ext>
            </a:extLst>
          </p:cNvPr>
          <p:cNvSpPr txBox="1"/>
          <p:nvPr/>
        </p:nvSpPr>
        <p:spPr>
          <a:xfrm>
            <a:off x="1016000" y="4572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300">
                <a:solidFill>
                  <a:srgbClr val="FFFFFF"/>
                </a:solidFill>
                <a:latin typeface="Consolas"/>
                <a:cs typeface="Consolas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F22838-E790-2D40-877C-7DF623A89095}"/>
              </a:ext>
            </a:extLst>
          </p:cNvPr>
          <p:cNvSpPr txBox="1"/>
          <p:nvPr/>
        </p:nvSpPr>
        <p:spPr>
          <a:xfrm>
            <a:off x="1016000" y="48006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print(resp.choices[0].message.content)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1F04D4-B4D0-6C4A-9F5E-C4F9C02EA701}"/>
              </a:ext>
            </a:extLst>
          </p:cNvPr>
          <p:cNvSpPr txBox="1"/>
          <p:nvPr/>
        </p:nvSpPr>
        <p:spPr>
          <a:xfrm>
            <a:off x="1016000" y="50292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print(resp.usage.total_tokens)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F1C3C7-E9E7-4040-93D3-13824158B5EF}"/>
              </a:ext>
            </a:extLst>
          </p:cNvPr>
          <p:cNvSpPr/>
          <p:nvPr/>
        </p:nvSpPr>
        <p:spPr>
          <a:xfrm>
            <a:off x="762000" y="5651500"/>
            <a:ext cx="10668000" cy="1079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53D0F2-17D4-1948-A91F-E7CD89D2B0F2}"/>
              </a:ext>
            </a:extLst>
          </p:cNvPr>
          <p:cNvSpPr/>
          <p:nvPr/>
        </p:nvSpPr>
        <p:spPr>
          <a:xfrm>
            <a:off x="762000" y="5651500"/>
            <a:ext cx="63500" cy="1079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191A32-D27F-B645-BD72-D9607D80EC1F}"/>
              </a:ext>
            </a:extLst>
          </p:cNvPr>
          <p:cNvSpPr txBox="1"/>
          <p:nvPr/>
        </p:nvSpPr>
        <p:spPr>
          <a:xfrm>
            <a:off x="1016000" y="5816600"/>
            <a:ext cx="635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DÓNDE VIVE EL TRABAJO REAL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884BED-4396-8D4D-936F-02C434163F9E}"/>
              </a:ext>
            </a:extLst>
          </p:cNvPr>
          <p:cNvSpPr txBox="1"/>
          <p:nvPr/>
        </p:nvSpPr>
        <p:spPr>
          <a:xfrm>
            <a:off x="1016000" y="6070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Antes del create(): diseño del prompt, preparación del contexto.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4AF2A-1BE7-4743-9697-5366170BA4FA}"/>
              </a:ext>
            </a:extLst>
          </p:cNvPr>
          <p:cNvSpPr txBox="1"/>
          <p:nvPr/>
        </p:nvSpPr>
        <p:spPr>
          <a:xfrm>
            <a:off x="1016000" y="6375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F1E3D"/>
                </a:solidFill>
                <a:latin typeface="Inter"/>
              </a:rPr>
              <a:t>Después: parseo, validación, tool loop. Ahí vive la arquitectura.</a:t>
            </a:r>
            <a:endParaRPr lang="en-PE" sz="1400" b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84669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163C1-52DA-2047-9778-01E306C7B116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APIS DE CHAT COMPLETIONS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83324-A8EA-9941-91C5-43B46BBD8B3A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0F1E3D"/>
                </a:solidFill>
                <a:latin typeface="Inter"/>
              </a:rPr>
              <a:t>El </a:t>
            </a:r>
            <a:r>
              <a:rPr lang="en-US" sz="2800" b="1" dirty="0" err="1">
                <a:solidFill>
                  <a:srgbClr val="0F1E3D"/>
                </a:solidFill>
                <a:latin typeface="Inter"/>
              </a:rPr>
              <a:t>estándar</a:t>
            </a:r>
            <a:r>
              <a:rPr lang="en-US" sz="2800" b="1" dirty="0">
                <a:solidFill>
                  <a:srgbClr val="0F1E3D"/>
                </a:solidFill>
                <a:latin typeface="Inter"/>
              </a:rPr>
              <a:t> OpenAI-compatible</a:t>
            </a:r>
            <a:endParaRPr lang="en-PE" sz="2800" b="1" dirty="0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CACC7-16E6-924F-93E4-9EA77FE56780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4A7FC1"/>
                </a:solidFill>
                <a:latin typeface="Inter"/>
              </a:rPr>
              <a:t>Casi todo el ecosistema — excepto Anthropic y Google nativo — habla el mismo schema.</a:t>
            </a:r>
            <a:endParaRPr lang="en-PE" sz="13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34328-6B26-5D43-A28F-F880E819149A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39AEB5-889D-B445-9EAB-8D721217FB0D}"/>
              </a:ext>
            </a:extLst>
          </p:cNvPr>
          <p:cNvSpPr/>
          <p:nvPr/>
        </p:nvSpPr>
        <p:spPr>
          <a:xfrm>
            <a:off x="762000" y="21590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CCECE-33A9-F746-9B50-7AF57B5AEA14}"/>
              </a:ext>
            </a:extLst>
          </p:cNvPr>
          <p:cNvSpPr txBox="1"/>
          <p:nvPr/>
        </p:nvSpPr>
        <p:spPr>
          <a:xfrm>
            <a:off x="914400" y="22479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OpenAI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C4166-DDDF-A042-9684-D0DD7CB4E6CE}"/>
              </a:ext>
            </a:extLst>
          </p:cNvPr>
          <p:cNvSpPr txBox="1"/>
          <p:nvPr/>
        </p:nvSpPr>
        <p:spPr>
          <a:xfrm>
            <a:off x="2730500" y="22479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https://api.openai.com/v1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CB00F8-D825-824F-B8DA-A3E73AB7D237}"/>
              </a:ext>
            </a:extLst>
          </p:cNvPr>
          <p:cNvSpPr/>
          <p:nvPr/>
        </p:nvSpPr>
        <p:spPr>
          <a:xfrm>
            <a:off x="6096000" y="21590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7B845-21D7-F64A-9C5A-CDC7A5EABE12}"/>
              </a:ext>
            </a:extLst>
          </p:cNvPr>
          <p:cNvSpPr txBox="1"/>
          <p:nvPr/>
        </p:nvSpPr>
        <p:spPr>
          <a:xfrm>
            <a:off x="6248400" y="22479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DeepSeek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B983F-95D3-344A-9DA8-D80C78568355}"/>
              </a:ext>
            </a:extLst>
          </p:cNvPr>
          <p:cNvSpPr txBox="1"/>
          <p:nvPr/>
        </p:nvSpPr>
        <p:spPr>
          <a:xfrm>
            <a:off x="8064500" y="22479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https://api.deepseek.com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5C885F-4B82-5F44-BC45-3C3292514F38}"/>
              </a:ext>
            </a:extLst>
          </p:cNvPr>
          <p:cNvSpPr/>
          <p:nvPr/>
        </p:nvSpPr>
        <p:spPr>
          <a:xfrm>
            <a:off x="762000" y="25908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2F4C7-DD21-B447-9090-8C5FAED431E9}"/>
              </a:ext>
            </a:extLst>
          </p:cNvPr>
          <p:cNvSpPr txBox="1"/>
          <p:nvPr/>
        </p:nvSpPr>
        <p:spPr>
          <a:xfrm>
            <a:off x="914400" y="26797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Groq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FF3C0-A40C-4E4F-AA34-F2832B14F365}"/>
              </a:ext>
            </a:extLst>
          </p:cNvPr>
          <p:cNvSpPr txBox="1"/>
          <p:nvPr/>
        </p:nvSpPr>
        <p:spPr>
          <a:xfrm>
            <a:off x="2730500" y="26797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https://api.groq.com/openai/v1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4588E3-74DC-C24C-A765-03B2300867A2}"/>
              </a:ext>
            </a:extLst>
          </p:cNvPr>
          <p:cNvSpPr/>
          <p:nvPr/>
        </p:nvSpPr>
        <p:spPr>
          <a:xfrm>
            <a:off x="6096000" y="25908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F2FBBC-93D8-9A47-88C3-9396DC0BC7D2}"/>
              </a:ext>
            </a:extLst>
          </p:cNvPr>
          <p:cNvSpPr txBox="1"/>
          <p:nvPr/>
        </p:nvSpPr>
        <p:spPr>
          <a:xfrm>
            <a:off x="6248400" y="26797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Together AI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D82F98-6898-C742-94A7-1FAFE43DE803}"/>
              </a:ext>
            </a:extLst>
          </p:cNvPr>
          <p:cNvSpPr txBox="1"/>
          <p:nvPr/>
        </p:nvSpPr>
        <p:spPr>
          <a:xfrm>
            <a:off x="8064500" y="26797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https://api.together.xyz/v1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CB86A1-ADBA-3844-B499-342FC08813F3}"/>
              </a:ext>
            </a:extLst>
          </p:cNvPr>
          <p:cNvSpPr/>
          <p:nvPr/>
        </p:nvSpPr>
        <p:spPr>
          <a:xfrm>
            <a:off x="762000" y="30226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BA236-12AD-CB4F-AC1F-25CC0C1CBF9C}"/>
              </a:ext>
            </a:extLst>
          </p:cNvPr>
          <p:cNvSpPr txBox="1"/>
          <p:nvPr/>
        </p:nvSpPr>
        <p:spPr>
          <a:xfrm>
            <a:off x="914400" y="31115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Fireworks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62106-4EB2-4B46-AB1D-137CFC390367}"/>
              </a:ext>
            </a:extLst>
          </p:cNvPr>
          <p:cNvSpPr txBox="1"/>
          <p:nvPr/>
        </p:nvSpPr>
        <p:spPr>
          <a:xfrm>
            <a:off x="2730500" y="31115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https://api.fireworks.ai/inference/v1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360A8D-54EE-C045-A732-0E2FDC2D0A75}"/>
              </a:ext>
            </a:extLst>
          </p:cNvPr>
          <p:cNvSpPr/>
          <p:nvPr/>
        </p:nvSpPr>
        <p:spPr>
          <a:xfrm>
            <a:off x="6096000" y="30226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198BB-98F8-8345-A65B-82CA76F48591}"/>
              </a:ext>
            </a:extLst>
          </p:cNvPr>
          <p:cNvSpPr txBox="1"/>
          <p:nvPr/>
        </p:nvSpPr>
        <p:spPr>
          <a:xfrm>
            <a:off x="6248400" y="31115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Mistral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5211C7-FBD4-6E4C-AF44-24BAEA48EAFE}"/>
              </a:ext>
            </a:extLst>
          </p:cNvPr>
          <p:cNvSpPr txBox="1"/>
          <p:nvPr/>
        </p:nvSpPr>
        <p:spPr>
          <a:xfrm>
            <a:off x="8064500" y="31115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https://api.mistral.ai/v1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FBBC50-B362-5B47-A88B-35AA141BFD20}"/>
              </a:ext>
            </a:extLst>
          </p:cNvPr>
          <p:cNvSpPr/>
          <p:nvPr/>
        </p:nvSpPr>
        <p:spPr>
          <a:xfrm>
            <a:off x="762000" y="34544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17373B-3535-8D42-8557-D3DE23E2244D}"/>
              </a:ext>
            </a:extLst>
          </p:cNvPr>
          <p:cNvSpPr txBox="1"/>
          <p:nvPr/>
        </p:nvSpPr>
        <p:spPr>
          <a:xfrm>
            <a:off x="914400" y="35433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xAI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7A973B-1171-844F-9BBF-5EB41134D173}"/>
              </a:ext>
            </a:extLst>
          </p:cNvPr>
          <p:cNvSpPr txBox="1"/>
          <p:nvPr/>
        </p:nvSpPr>
        <p:spPr>
          <a:xfrm>
            <a:off x="2730500" y="35433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https://api.x.ai/v1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7C1B90-D658-684A-B7F9-FB8A2E1AF2CA}"/>
              </a:ext>
            </a:extLst>
          </p:cNvPr>
          <p:cNvSpPr/>
          <p:nvPr/>
        </p:nvSpPr>
        <p:spPr>
          <a:xfrm>
            <a:off x="6096000" y="34544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09D36E-4681-B84B-ADFF-C603127F2D55}"/>
              </a:ext>
            </a:extLst>
          </p:cNvPr>
          <p:cNvSpPr txBox="1"/>
          <p:nvPr/>
        </p:nvSpPr>
        <p:spPr>
          <a:xfrm>
            <a:off x="6248400" y="35433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Gemini (compat)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1891AA-8967-F44D-9708-9C2B3AA03C4F}"/>
              </a:ext>
            </a:extLst>
          </p:cNvPr>
          <p:cNvSpPr txBox="1"/>
          <p:nvPr/>
        </p:nvSpPr>
        <p:spPr>
          <a:xfrm>
            <a:off x="8064500" y="35433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https://generativelanguage.googleapis.com/v1beta/openai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09894C-05D1-144F-B25C-F07FC08C4E45}"/>
              </a:ext>
            </a:extLst>
          </p:cNvPr>
          <p:cNvSpPr/>
          <p:nvPr/>
        </p:nvSpPr>
        <p:spPr>
          <a:xfrm>
            <a:off x="762000" y="38862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6F01A-74AA-EA4F-A539-D77C4FC0643B}"/>
              </a:ext>
            </a:extLst>
          </p:cNvPr>
          <p:cNvSpPr txBox="1"/>
          <p:nvPr/>
        </p:nvSpPr>
        <p:spPr>
          <a:xfrm>
            <a:off x="914400" y="39751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Ollama local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375FBF-3C60-2A4F-A46C-D248ADBDAF12}"/>
              </a:ext>
            </a:extLst>
          </p:cNvPr>
          <p:cNvSpPr txBox="1"/>
          <p:nvPr/>
        </p:nvSpPr>
        <p:spPr>
          <a:xfrm>
            <a:off x="2730500" y="39751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http://localhost:11434/v1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7285CA-B519-8C44-A72E-D01B1BD36C82}"/>
              </a:ext>
            </a:extLst>
          </p:cNvPr>
          <p:cNvSpPr/>
          <p:nvPr/>
        </p:nvSpPr>
        <p:spPr>
          <a:xfrm>
            <a:off x="6096000" y="3886200"/>
            <a:ext cx="5207000" cy="3810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E71806-7165-244D-8A53-C6B7CC48BBC1}"/>
              </a:ext>
            </a:extLst>
          </p:cNvPr>
          <p:cNvSpPr txBox="1"/>
          <p:nvPr/>
        </p:nvSpPr>
        <p:spPr>
          <a:xfrm>
            <a:off x="6248400" y="39751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vLLM local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92ABA9-F4B3-F144-82E5-D8CB2512CFCA}"/>
              </a:ext>
            </a:extLst>
          </p:cNvPr>
          <p:cNvSpPr txBox="1"/>
          <p:nvPr/>
        </p:nvSpPr>
        <p:spPr>
          <a:xfrm>
            <a:off x="8064500" y="39751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http://host:8000/v1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006834-DE1D-6444-81D6-A6DD9D3E67AF}"/>
              </a:ext>
            </a:extLst>
          </p:cNvPr>
          <p:cNvSpPr/>
          <p:nvPr/>
        </p:nvSpPr>
        <p:spPr>
          <a:xfrm>
            <a:off x="762000" y="43180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745A5B-ADAA-BC43-92C5-B6799EA72797}"/>
              </a:ext>
            </a:extLst>
          </p:cNvPr>
          <p:cNvSpPr txBox="1"/>
          <p:nvPr/>
        </p:nvSpPr>
        <p:spPr>
          <a:xfrm>
            <a:off x="914400" y="44069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LM Studio local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15ADE4-572F-354A-B894-DBDA3D1A8477}"/>
              </a:ext>
            </a:extLst>
          </p:cNvPr>
          <p:cNvSpPr txBox="1"/>
          <p:nvPr/>
        </p:nvSpPr>
        <p:spPr>
          <a:xfrm>
            <a:off x="2730500" y="44069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http://localhost:1234/v1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78F230-0266-704E-96DE-9B7787B35770}"/>
              </a:ext>
            </a:extLst>
          </p:cNvPr>
          <p:cNvSpPr/>
          <p:nvPr/>
        </p:nvSpPr>
        <p:spPr>
          <a:xfrm>
            <a:off x="6096000" y="4318000"/>
            <a:ext cx="5207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A99DDD-C2EA-4E4E-82BD-EFFE9B537975}"/>
              </a:ext>
            </a:extLst>
          </p:cNvPr>
          <p:cNvSpPr txBox="1"/>
          <p:nvPr/>
        </p:nvSpPr>
        <p:spPr>
          <a:xfrm>
            <a:off x="6248400" y="44069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0F1E3D"/>
                </a:solidFill>
                <a:latin typeface="Inter"/>
              </a:rPr>
              <a:t>OpenRouter</a:t>
            </a:r>
            <a:endParaRPr lang="en-PE" sz="1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602A52-1D70-9B47-86D4-4931DF64D4DC}"/>
              </a:ext>
            </a:extLst>
          </p:cNvPr>
          <p:cNvSpPr txBox="1"/>
          <p:nvPr/>
        </p:nvSpPr>
        <p:spPr>
          <a:xfrm>
            <a:off x="8064500" y="44069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4A7FC1"/>
                </a:solidFill>
                <a:latin typeface="Consolas"/>
                <a:cs typeface="Consolas"/>
              </a:rPr>
              <a:t>https://openrouter.ai/api/v1</a:t>
            </a:r>
            <a:endParaRPr lang="en-PE" sz="1000">
              <a:solidFill>
                <a:srgbClr val="4A7FC1"/>
              </a:solidFill>
              <a:latin typeface="Consolas"/>
              <a:cs typeface="Consola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9D8C28-9677-2945-B9B7-B60783D10F4D}"/>
              </a:ext>
            </a:extLst>
          </p:cNvPr>
          <p:cNvSpPr txBox="1"/>
          <p:nvPr/>
        </p:nvSpPr>
        <p:spPr>
          <a:xfrm>
            <a:off x="762000" y="4699000"/>
            <a:ext cx="1016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CAVEATS HONESTOS · LO QUE SÍ CAMBIA ENTRE PROVEEDORES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E9D6217-50CE-1749-8B13-99D204228102}"/>
              </a:ext>
            </a:extLst>
          </p:cNvPr>
          <p:cNvSpPr/>
          <p:nvPr/>
        </p:nvSpPr>
        <p:spPr>
          <a:xfrm>
            <a:off x="1016000" y="5105400"/>
            <a:ext cx="101600" cy="101600"/>
          </a:xfrm>
          <a:prstGeom prst="ellipse">
            <a:avLst/>
          </a:prstGeom>
          <a:solidFill>
            <a:srgbClr val="6B8C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DE1643-B480-DB49-A1A2-42276E185456}"/>
              </a:ext>
            </a:extLst>
          </p:cNvPr>
          <p:cNvSpPr txBox="1"/>
          <p:nvPr/>
        </p:nvSpPr>
        <p:spPr>
          <a:xfrm>
            <a:off x="1206500" y="50292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response_format: json_schema (structured outputs) · OpenAI, Fireworks y algunos Together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624CDBF-CF21-6143-B967-7EE0F50015B3}"/>
              </a:ext>
            </a:extLst>
          </p:cNvPr>
          <p:cNvSpPr/>
          <p:nvPr/>
        </p:nvSpPr>
        <p:spPr>
          <a:xfrm>
            <a:off x="1016000" y="5384800"/>
            <a:ext cx="101600" cy="101600"/>
          </a:xfrm>
          <a:prstGeom prst="ellipse">
            <a:avLst/>
          </a:prstGeom>
          <a:solidFill>
            <a:srgbClr val="6B8C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B376C4-1459-524D-AEED-C66F4F6B5F1A}"/>
              </a:ext>
            </a:extLst>
          </p:cNvPr>
          <p:cNvSpPr txBox="1"/>
          <p:nvPr/>
        </p:nvSpPr>
        <p:spPr>
          <a:xfrm>
            <a:off x="1206500" y="5308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Tool calling · a veces acepta pero el modelo alucina argumentos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BF95728-9EE3-1540-81B4-1E9BB78CB02E}"/>
              </a:ext>
            </a:extLst>
          </p:cNvPr>
          <p:cNvSpPr/>
          <p:nvPr/>
        </p:nvSpPr>
        <p:spPr>
          <a:xfrm>
            <a:off x="1016000" y="5664200"/>
            <a:ext cx="101600" cy="101600"/>
          </a:xfrm>
          <a:prstGeom prst="ellipse">
            <a:avLst/>
          </a:prstGeom>
          <a:solidFill>
            <a:srgbClr val="6B8C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07609A-8878-FF46-815F-266154BAEFD0}"/>
              </a:ext>
            </a:extLst>
          </p:cNvPr>
          <p:cNvSpPr txBox="1"/>
          <p:nvPr/>
        </p:nvSpPr>
        <p:spPr>
          <a:xfrm>
            <a:off x="1206500" y="5588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logprobs, seed, logit_bias · soporte irregular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5048DF7-4E52-ED41-A438-18EEB19C8977}"/>
              </a:ext>
            </a:extLst>
          </p:cNvPr>
          <p:cNvSpPr/>
          <p:nvPr/>
        </p:nvSpPr>
        <p:spPr>
          <a:xfrm>
            <a:off x="1016000" y="5943600"/>
            <a:ext cx="101600" cy="101600"/>
          </a:xfrm>
          <a:prstGeom prst="ellipse">
            <a:avLst/>
          </a:prstGeom>
          <a:solidFill>
            <a:srgbClr val="6B8C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95736B-BFB1-CD45-964A-454D10EA5558}"/>
              </a:ext>
            </a:extLst>
          </p:cNvPr>
          <p:cNvSpPr txBox="1"/>
          <p:nvPr/>
        </p:nvSpPr>
        <p:spPr>
          <a:xfrm>
            <a:off x="1206500" y="5867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prompt_caching · específico de cada proveedor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CA7702C-109B-0347-A389-3A78EE4B5AFB}"/>
              </a:ext>
            </a:extLst>
          </p:cNvPr>
          <p:cNvSpPr/>
          <p:nvPr/>
        </p:nvSpPr>
        <p:spPr>
          <a:xfrm>
            <a:off x="762000" y="6350000"/>
            <a:ext cx="10668000" cy="50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C473FF-4C18-A34A-BA81-268A128C9A63}"/>
              </a:ext>
            </a:extLst>
          </p:cNvPr>
          <p:cNvSpPr txBox="1"/>
          <p:nvPr/>
        </p:nvSpPr>
        <p:spPr>
          <a:xfrm>
            <a:off x="1016000" y="6477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Inter"/>
              </a:rPr>
              <a:t>El happy path (messages + temperature + stream) es 100% portable. Cambiar de proveedor es cambiar dos líneas.</a:t>
            </a:r>
            <a:endParaRPr lang="en-PE" sz="1400" b="1">
              <a:solidFill>
                <a:srgbClr val="FFFFFF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87528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66063-F7C6-FE4C-80E0-FF0807B2F474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DEMO EN VIVO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32A95-AA12-634C-ACD9-0BBF4821D964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E3D"/>
                </a:solidFill>
                <a:latin typeface="Inter"/>
              </a:rPr>
              <a:t>Cambiar de proveedor en 3 líneas</a:t>
            </a:r>
            <a:endParaRPr lang="en-PE" sz="2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D766C-B84F-9D47-B80E-3EC5293A6A70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4A7FC1"/>
                </a:solidFill>
                <a:latin typeface="Inter"/>
              </a:rPr>
              <a:t>El momento wow. Mismo SDK, mismo código — distintos proveedores.</a:t>
            </a:r>
            <a:endParaRPr lang="en-PE" sz="13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8AB16-4FF3-7F42-BE7E-842114F0D3E3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ACF7E-8619-8A4B-83AD-FC09DC728B32}"/>
              </a:ext>
            </a:extLst>
          </p:cNvPr>
          <p:cNvSpPr/>
          <p:nvPr/>
        </p:nvSpPr>
        <p:spPr>
          <a:xfrm>
            <a:off x="762000" y="2159000"/>
            <a:ext cx="5207000" cy="177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1B56B-049C-CB46-8C54-9B1E15AC1A72}"/>
              </a:ext>
            </a:extLst>
          </p:cNvPr>
          <p:cNvSpPr/>
          <p:nvPr/>
        </p:nvSpPr>
        <p:spPr>
          <a:xfrm>
            <a:off x="762000" y="2159000"/>
            <a:ext cx="50800" cy="1778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FC60C-FC19-9D44-85BE-AD7658AF3EA0}"/>
              </a:ext>
            </a:extLst>
          </p:cNvPr>
          <p:cNvSpPr txBox="1"/>
          <p:nvPr/>
        </p:nvSpPr>
        <p:spPr>
          <a:xfrm>
            <a:off x="990600" y="23114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OPENAI (default)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F76A0-7DB1-9D4C-88CC-2512815F3E0A}"/>
              </a:ext>
            </a:extLst>
          </p:cNvPr>
          <p:cNvSpPr txBox="1"/>
          <p:nvPr/>
        </p:nvSpPr>
        <p:spPr>
          <a:xfrm>
            <a:off x="990600" y="2590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client = OpenAI()</a:t>
            </a:r>
            <a:endParaRPr lang="en-PE" sz="12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28E19-E7B8-8F45-9A8B-F942A29D4145}"/>
              </a:ext>
            </a:extLst>
          </p:cNvPr>
          <p:cNvSpPr txBox="1"/>
          <p:nvPr/>
        </p:nvSpPr>
        <p:spPr>
          <a:xfrm>
            <a:off x="990600" y="28575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A8C0DC"/>
                </a:solidFill>
                <a:latin typeface="Consolas"/>
                <a:cs typeface="Consolas"/>
              </a:rPr>
              <a:t># base_url implícito</a:t>
            </a:r>
            <a:endParaRPr lang="en-PE" sz="11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A1A7B-70F8-624E-A250-76811FB8489C}"/>
              </a:ext>
            </a:extLst>
          </p:cNvPr>
          <p:cNvSpPr/>
          <p:nvPr/>
        </p:nvSpPr>
        <p:spPr>
          <a:xfrm>
            <a:off x="6159500" y="2159000"/>
            <a:ext cx="5207000" cy="177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30D68D-0380-2F43-9B29-E006C1F30030}"/>
              </a:ext>
            </a:extLst>
          </p:cNvPr>
          <p:cNvSpPr/>
          <p:nvPr/>
        </p:nvSpPr>
        <p:spPr>
          <a:xfrm>
            <a:off x="6159500" y="2159000"/>
            <a:ext cx="50800" cy="1778000"/>
          </a:xfrm>
          <a:prstGeom prst="rect">
            <a:avLst/>
          </a:prstGeom>
          <a:solidFill>
            <a:srgbClr val="4A7F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191A0-6EB4-964C-82F2-CF7F8B4F0137}"/>
              </a:ext>
            </a:extLst>
          </p:cNvPr>
          <p:cNvSpPr txBox="1"/>
          <p:nvPr/>
        </p:nvSpPr>
        <p:spPr>
          <a:xfrm>
            <a:off x="6388100" y="23114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7FC1"/>
                </a:solidFill>
                <a:latin typeface="Inter"/>
              </a:rPr>
              <a:t>DEEPSEEK</a:t>
            </a:r>
            <a:endParaRPr lang="en-PE" sz="1100" b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BEB34-A082-F347-88EC-F86BD79C3CCF}"/>
              </a:ext>
            </a:extLst>
          </p:cNvPr>
          <p:cNvSpPr txBox="1"/>
          <p:nvPr/>
        </p:nvSpPr>
        <p:spPr>
          <a:xfrm>
            <a:off x="6388100" y="2590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client = OpenAI(</a:t>
            </a:r>
            <a:endParaRPr lang="en-PE" sz="12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1CE3D8-E3E8-1D46-B2BD-1414E85F14E6}"/>
              </a:ext>
            </a:extLst>
          </p:cNvPr>
          <p:cNvSpPr txBox="1"/>
          <p:nvPr/>
        </p:nvSpPr>
        <p:spPr>
          <a:xfrm>
            <a:off x="6388100" y="28575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A8C0DC"/>
                </a:solidFill>
                <a:latin typeface="Consolas"/>
                <a:cs typeface="Consolas"/>
              </a:rPr>
              <a:t>  api_key=os.environ["DEEPSEEK_API_KEY"],
  base_url="https://api.deepseek.com")</a:t>
            </a:r>
            <a:endParaRPr lang="en-PE" sz="11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F4BC3-4EB2-E745-89E3-F395F03374DA}"/>
              </a:ext>
            </a:extLst>
          </p:cNvPr>
          <p:cNvSpPr/>
          <p:nvPr/>
        </p:nvSpPr>
        <p:spPr>
          <a:xfrm>
            <a:off x="762000" y="4064000"/>
            <a:ext cx="5207000" cy="177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205230-1BCF-8F4B-ADFF-D1B6E5E1568B}"/>
              </a:ext>
            </a:extLst>
          </p:cNvPr>
          <p:cNvSpPr/>
          <p:nvPr/>
        </p:nvSpPr>
        <p:spPr>
          <a:xfrm>
            <a:off x="762000" y="4064000"/>
            <a:ext cx="50800" cy="1778000"/>
          </a:xfrm>
          <a:prstGeom prst="rect">
            <a:avLst/>
          </a:prstGeom>
          <a:solidFill>
            <a:srgbClr val="4A7F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48E13-3A40-9A42-9F7E-87343534FDB0}"/>
              </a:ext>
            </a:extLst>
          </p:cNvPr>
          <p:cNvSpPr txBox="1"/>
          <p:nvPr/>
        </p:nvSpPr>
        <p:spPr>
          <a:xfrm>
            <a:off x="990600" y="42164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A7FC1"/>
                </a:solidFill>
                <a:latin typeface="Inter"/>
              </a:rPr>
              <a:t>GROQ</a:t>
            </a:r>
            <a:endParaRPr lang="en-PE" sz="1100" b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DDA19-B6F8-314B-ABE5-073F36664BF7}"/>
              </a:ext>
            </a:extLst>
          </p:cNvPr>
          <p:cNvSpPr txBox="1"/>
          <p:nvPr/>
        </p:nvSpPr>
        <p:spPr>
          <a:xfrm>
            <a:off x="990600" y="4495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client = OpenAI(</a:t>
            </a:r>
            <a:endParaRPr lang="en-PE" sz="12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9E0E7-13DD-FD49-9E4E-AF3183FEBEFF}"/>
              </a:ext>
            </a:extLst>
          </p:cNvPr>
          <p:cNvSpPr txBox="1"/>
          <p:nvPr/>
        </p:nvSpPr>
        <p:spPr>
          <a:xfrm>
            <a:off x="990600" y="47625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A8C0DC"/>
                </a:solidFill>
                <a:latin typeface="Consolas"/>
                <a:cs typeface="Consolas"/>
              </a:rPr>
              <a:t>  api_key=os.environ["GROQ_API_KEY"],
  base_url="https://api.groq.com/openai/v1")</a:t>
            </a:r>
            <a:endParaRPr lang="en-PE" sz="11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D4E8D-CE7E-6642-ABCF-BF52E532520A}"/>
              </a:ext>
            </a:extLst>
          </p:cNvPr>
          <p:cNvSpPr/>
          <p:nvPr/>
        </p:nvSpPr>
        <p:spPr>
          <a:xfrm>
            <a:off x="6159500" y="4064000"/>
            <a:ext cx="5207000" cy="177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CBFDA8-CA5C-1943-B899-C9CD8AF2FF83}"/>
              </a:ext>
            </a:extLst>
          </p:cNvPr>
          <p:cNvSpPr/>
          <p:nvPr/>
        </p:nvSpPr>
        <p:spPr>
          <a:xfrm>
            <a:off x="6159500" y="4064000"/>
            <a:ext cx="50800" cy="1778000"/>
          </a:xfrm>
          <a:prstGeom prst="rect">
            <a:avLst/>
          </a:prstGeom>
          <a:solidFill>
            <a:srgbClr val="7FA3D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FC955F-94DC-3B41-BA40-25C2860E7C90}"/>
              </a:ext>
            </a:extLst>
          </p:cNvPr>
          <p:cNvSpPr txBox="1"/>
          <p:nvPr/>
        </p:nvSpPr>
        <p:spPr>
          <a:xfrm>
            <a:off x="6388100" y="42164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OLLAMA LOCAL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679DE1-CB02-0349-BB5F-D0F090BBFA37}"/>
              </a:ext>
            </a:extLst>
          </p:cNvPr>
          <p:cNvSpPr txBox="1"/>
          <p:nvPr/>
        </p:nvSpPr>
        <p:spPr>
          <a:xfrm>
            <a:off x="6388100" y="4495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client = OpenAI(</a:t>
            </a:r>
            <a:endParaRPr lang="en-PE" sz="12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90A39-1913-5B4D-B419-2708DBBC47F5}"/>
              </a:ext>
            </a:extLst>
          </p:cNvPr>
          <p:cNvSpPr txBox="1"/>
          <p:nvPr/>
        </p:nvSpPr>
        <p:spPr>
          <a:xfrm>
            <a:off x="6388100" y="47625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A8C0DC"/>
                </a:solidFill>
                <a:latin typeface="Consolas"/>
                <a:cs typeface="Consolas"/>
              </a:rPr>
              <a:t>  api_key="ollama",
  base_url="http://localhost:11434/v1")</a:t>
            </a:r>
            <a:endParaRPr lang="en-PE" sz="11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F59556-858E-D941-A122-484BED34D751}"/>
              </a:ext>
            </a:extLst>
          </p:cNvPr>
          <p:cNvSpPr/>
          <p:nvPr/>
        </p:nvSpPr>
        <p:spPr>
          <a:xfrm>
            <a:off x="762000" y="5778500"/>
            <a:ext cx="10668000" cy="5334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09E785-CC51-C849-8DCF-2E4795F6D369}"/>
              </a:ext>
            </a:extLst>
          </p:cNvPr>
          <p:cNvSpPr txBox="1"/>
          <p:nvPr/>
        </p:nvSpPr>
        <p:spPr>
          <a:xfrm>
            <a:off x="1016000" y="5892800"/>
            <a:ext cx="1041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E8EEF7"/>
                </a:solidFill>
                <a:latin typeface="Consolas"/>
                <a:cs typeface="Consolas"/>
              </a:rPr>
              <a:t># El código de uso es IDÉNTICO para los cuatro:</a:t>
            </a:r>
            <a:endParaRPr lang="en-PE" sz="11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38927-E0A8-B34A-B4C6-7474754D322B}"/>
              </a:ext>
            </a:extLst>
          </p:cNvPr>
          <p:cNvSpPr txBox="1"/>
          <p:nvPr/>
        </p:nvSpPr>
        <p:spPr>
          <a:xfrm>
            <a:off x="1016000" y="6070600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resp = client.chat.completions.create(model=..., messages=[...])</a:t>
            </a:r>
            <a:endParaRPr lang="en-PE" sz="13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35BF5A-5819-6A4F-A97D-12D1C1995F44}"/>
              </a:ext>
            </a:extLst>
          </p:cNvPr>
          <p:cNvSpPr txBox="1"/>
          <p:nvPr/>
        </p:nvSpPr>
        <p:spPr>
          <a:xfrm>
            <a:off x="762000" y="64135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EN peru-elecciones ES LITERAL: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51AC32-DBF0-9B4B-8899-23542A957A2B}"/>
              </a:ext>
            </a:extLst>
          </p:cNvPr>
          <p:cNvSpPr txBox="1"/>
          <p:nvPr/>
        </p:nvSpPr>
        <p:spPr>
          <a:xfrm>
            <a:off x="762000" y="66294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F1E3D"/>
                </a:solidFill>
                <a:latin typeface="Inter"/>
              </a:rPr>
              <a:t>Migrar de DeepSeek a Groq son dos variables en .env. El código Go queda intacto.</a:t>
            </a:r>
            <a:endParaRPr lang="en-PE" sz="1300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74183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762E47-4FA8-C04D-9954-57DE6CB14F9C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APIS DE CHAT COMPLETIONS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84C91-92C0-724F-A117-4B37AE1CB95A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Anthropic · la excepción notable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C1866-A8C8-E04E-8F1D-F36CF1917BAE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Claude NO es OpenAI-compatible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A28394-A7EC-D741-B42B-9169E35AC08E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E7E3C-3F93-D04D-8A9A-23EFDF7D6724}"/>
              </a:ext>
            </a:extLst>
          </p:cNvPr>
          <p:cNvSpPr txBox="1"/>
          <p:nvPr/>
        </p:nvSpPr>
        <p:spPr>
          <a:xfrm>
            <a:off x="762000" y="2159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DIFERENCIAS CLAVE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F34A4-1981-C448-A367-C814A71641A9}"/>
              </a:ext>
            </a:extLst>
          </p:cNvPr>
          <p:cNvSpPr/>
          <p:nvPr/>
        </p:nvSpPr>
        <p:spPr>
          <a:xfrm>
            <a:off x="762000" y="2476500"/>
            <a:ext cx="10668000" cy="4572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B952C-B006-6F46-9F7E-D0638B2EC649}"/>
              </a:ext>
            </a:extLst>
          </p:cNvPr>
          <p:cNvSpPr txBox="1"/>
          <p:nvPr/>
        </p:nvSpPr>
        <p:spPr>
          <a:xfrm>
            <a:off x="1016000" y="2590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Endpoint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C5B77-EBBA-574B-9A74-37A1776D91D3}"/>
              </a:ext>
            </a:extLst>
          </p:cNvPr>
          <p:cNvSpPr txBox="1"/>
          <p:nvPr/>
        </p:nvSpPr>
        <p:spPr>
          <a:xfrm>
            <a:off x="3429000" y="2590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/v1/chat/completions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1CA90-87E5-3047-9001-A5E876E8C10A}"/>
              </a:ext>
            </a:extLst>
          </p:cNvPr>
          <p:cNvSpPr txBox="1"/>
          <p:nvPr/>
        </p:nvSpPr>
        <p:spPr>
          <a:xfrm>
            <a:off x="7239000" y="2590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976E7-6347-6744-814F-06B529987AA1}"/>
              </a:ext>
            </a:extLst>
          </p:cNvPr>
          <p:cNvSpPr txBox="1"/>
          <p:nvPr/>
        </p:nvSpPr>
        <p:spPr>
          <a:xfrm>
            <a:off x="7493000" y="2590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/v1/messages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1742F-2176-9845-B86D-5040BCB1B462}"/>
              </a:ext>
            </a:extLst>
          </p:cNvPr>
          <p:cNvSpPr txBox="1"/>
          <p:nvPr/>
        </p:nvSpPr>
        <p:spPr>
          <a:xfrm>
            <a:off x="1016000" y="30734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System prompt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0AD84-53AB-9B40-956C-A10EF823F9F6}"/>
              </a:ext>
            </a:extLst>
          </p:cNvPr>
          <p:cNvSpPr txBox="1"/>
          <p:nvPr/>
        </p:nvSpPr>
        <p:spPr>
          <a:xfrm>
            <a:off x="3429000" y="307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mensaje dentro de messages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26505-FF9D-3F42-B8E1-19857E868B2C}"/>
              </a:ext>
            </a:extLst>
          </p:cNvPr>
          <p:cNvSpPr txBox="1"/>
          <p:nvPr/>
        </p:nvSpPr>
        <p:spPr>
          <a:xfrm>
            <a:off x="7239000" y="30734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A3F80-4C7D-6441-8CD5-575086E2CD32}"/>
              </a:ext>
            </a:extLst>
          </p:cNvPr>
          <p:cNvSpPr txBox="1"/>
          <p:nvPr/>
        </p:nvSpPr>
        <p:spPr>
          <a:xfrm>
            <a:off x="7493000" y="307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parámetro separado system=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1A51C3-5964-9445-98E8-FB41769473AC}"/>
              </a:ext>
            </a:extLst>
          </p:cNvPr>
          <p:cNvSpPr/>
          <p:nvPr/>
        </p:nvSpPr>
        <p:spPr>
          <a:xfrm>
            <a:off x="762000" y="3441700"/>
            <a:ext cx="10668000" cy="4572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30993-58E6-2E4C-924C-1CA4213EE522}"/>
              </a:ext>
            </a:extLst>
          </p:cNvPr>
          <p:cNvSpPr txBox="1"/>
          <p:nvPr/>
        </p:nvSpPr>
        <p:spPr>
          <a:xfrm>
            <a:off x="1016000" y="3556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Content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538622-9B00-F047-AA9F-3A693428ECF6}"/>
              </a:ext>
            </a:extLst>
          </p:cNvPr>
          <p:cNvSpPr txBox="1"/>
          <p:nvPr/>
        </p:nvSpPr>
        <p:spPr>
          <a:xfrm>
            <a:off x="3429000" y="355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string o array simple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8399D-7881-514C-AECD-C6860B6AAEDE}"/>
              </a:ext>
            </a:extLst>
          </p:cNvPr>
          <p:cNvSpPr txBox="1"/>
          <p:nvPr/>
        </p:nvSpPr>
        <p:spPr>
          <a:xfrm>
            <a:off x="7239000" y="35560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6B8999-2AAD-5C40-8E6A-EEA0D696FAC6}"/>
              </a:ext>
            </a:extLst>
          </p:cNvPr>
          <p:cNvSpPr txBox="1"/>
          <p:nvPr/>
        </p:nvSpPr>
        <p:spPr>
          <a:xfrm>
            <a:off x="7493000" y="355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siempre array de bloques tipados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2F41F-1C64-1040-A44B-2FBAAAB6318C}"/>
              </a:ext>
            </a:extLst>
          </p:cNvPr>
          <p:cNvSpPr txBox="1"/>
          <p:nvPr/>
        </p:nvSpPr>
        <p:spPr>
          <a:xfrm>
            <a:off x="1016000" y="4038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max_tokens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85D37-4BF1-8D46-9A77-8469118835D9}"/>
              </a:ext>
            </a:extLst>
          </p:cNvPr>
          <p:cNvSpPr txBox="1"/>
          <p:nvPr/>
        </p:nvSpPr>
        <p:spPr>
          <a:xfrm>
            <a:off x="3429000" y="40386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opcional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94DF4-1784-134F-B1FC-953AF81CE7C0}"/>
              </a:ext>
            </a:extLst>
          </p:cNvPr>
          <p:cNvSpPr txBox="1"/>
          <p:nvPr/>
        </p:nvSpPr>
        <p:spPr>
          <a:xfrm>
            <a:off x="7239000" y="40386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999C9-29B7-C44D-9C71-1A6271F7D76F}"/>
              </a:ext>
            </a:extLst>
          </p:cNvPr>
          <p:cNvSpPr txBox="1"/>
          <p:nvPr/>
        </p:nvSpPr>
        <p:spPr>
          <a:xfrm>
            <a:off x="7493000" y="40386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obligatorio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D04869-3B9C-004F-80DB-5C5298F472BE}"/>
              </a:ext>
            </a:extLst>
          </p:cNvPr>
          <p:cNvSpPr/>
          <p:nvPr/>
        </p:nvSpPr>
        <p:spPr>
          <a:xfrm>
            <a:off x="762000" y="4406900"/>
            <a:ext cx="10668000" cy="4572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74ED4C-EE2D-9A4F-BF9B-E4A535EC52F2}"/>
              </a:ext>
            </a:extLst>
          </p:cNvPr>
          <p:cNvSpPr txBox="1"/>
          <p:nvPr/>
        </p:nvSpPr>
        <p:spPr>
          <a:xfrm>
            <a:off x="1016000" y="45212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Header versión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78750-5D70-5C4C-8FB4-25B1A280BD79}"/>
              </a:ext>
            </a:extLst>
          </p:cNvPr>
          <p:cNvSpPr txBox="1"/>
          <p:nvPr/>
        </p:nvSpPr>
        <p:spPr>
          <a:xfrm>
            <a:off x="3429000" y="4521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no requiere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B84F9-5FC4-E144-AFF3-356E54173319}"/>
              </a:ext>
            </a:extLst>
          </p:cNvPr>
          <p:cNvSpPr txBox="1"/>
          <p:nvPr/>
        </p:nvSpPr>
        <p:spPr>
          <a:xfrm>
            <a:off x="7239000" y="45212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3F023-3983-5141-AA49-E8BA3CFBAFC0}"/>
              </a:ext>
            </a:extLst>
          </p:cNvPr>
          <p:cNvSpPr txBox="1"/>
          <p:nvPr/>
        </p:nvSpPr>
        <p:spPr>
          <a:xfrm>
            <a:off x="7493000" y="4521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anthropic-version requerido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5C6A3-E987-8B42-9C85-CEDD21D1FBCC}"/>
              </a:ext>
            </a:extLst>
          </p:cNvPr>
          <p:cNvSpPr txBox="1"/>
          <p:nvPr/>
        </p:nvSpPr>
        <p:spPr>
          <a:xfrm>
            <a:off x="1016000" y="5003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F1E3D"/>
                </a:solidFill>
                <a:latin typeface="Inter"/>
              </a:rPr>
              <a:t>Roles permitidos</a:t>
            </a:r>
            <a:endParaRPr lang="en-PE" sz="13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32219-CB63-0D4B-909A-E9FF82EDFA36}"/>
              </a:ext>
            </a:extLst>
          </p:cNvPr>
          <p:cNvSpPr txBox="1"/>
          <p:nvPr/>
        </p:nvSpPr>
        <p:spPr>
          <a:xfrm>
            <a:off x="3429000" y="5003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F3A68"/>
                </a:solidFill>
                <a:latin typeface="Consolas"/>
                <a:cs typeface="Consolas"/>
              </a:rPr>
              <a:t>system · user · assistant · tool</a:t>
            </a:r>
            <a:endParaRPr lang="en-PE" sz="1100">
              <a:solidFill>
                <a:srgbClr val="1F3A68"/>
              </a:solidFill>
              <a:latin typeface="Consolas"/>
              <a:cs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FB6FA3-C8FD-F547-AB57-F29A28C487B2}"/>
              </a:ext>
            </a:extLst>
          </p:cNvPr>
          <p:cNvSpPr txBox="1"/>
          <p:nvPr/>
        </p:nvSpPr>
        <p:spPr>
          <a:xfrm>
            <a:off x="7239000" y="5003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400" b="1">
                <a:solidFill>
                  <a:srgbClr val="A8C0DC"/>
                </a:solidFill>
                <a:latin typeface="Inter"/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8BC7FB-EE4C-7D4D-8E09-32C33EF4C7FC}"/>
              </a:ext>
            </a:extLst>
          </p:cNvPr>
          <p:cNvSpPr txBox="1"/>
          <p:nvPr/>
        </p:nvSpPr>
        <p:spPr>
          <a:xfrm>
            <a:off x="7493000" y="5003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Consolas"/>
                <a:cs typeface="Consolas"/>
              </a:rPr>
              <a:t>solo user · assistant (alternados)</a:t>
            </a:r>
            <a:endParaRPr lang="en-PE" sz="1100" b="1">
              <a:solidFill>
                <a:srgbClr val="2C5AA0"/>
              </a:solidFill>
              <a:latin typeface="Consolas"/>
              <a:cs typeface="Consola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2933D4-EF15-4A45-AA59-3C5D32CE4831}"/>
              </a:ext>
            </a:extLst>
          </p:cNvPr>
          <p:cNvSpPr txBox="1"/>
          <p:nvPr/>
        </p:nvSpPr>
        <p:spPr>
          <a:xfrm>
            <a:off x="3429000" y="22225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8CAE"/>
                </a:solidFill>
                <a:latin typeface="Inter"/>
              </a:rPr>
              <a:t>OpenAI-compat</a:t>
            </a:r>
            <a:endParaRPr lang="en-PE" sz="1000" b="1">
              <a:solidFill>
                <a:srgbClr val="6B8CAE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10309C-736A-FE4C-A902-B8124D5A49E8}"/>
              </a:ext>
            </a:extLst>
          </p:cNvPr>
          <p:cNvSpPr txBox="1"/>
          <p:nvPr/>
        </p:nvSpPr>
        <p:spPr>
          <a:xfrm>
            <a:off x="7493000" y="22225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C5AA0"/>
                </a:solidFill>
                <a:latin typeface="Inter"/>
              </a:rPr>
              <a:t>Anthropic</a:t>
            </a:r>
            <a:endParaRPr lang="en-PE" sz="10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C553B-A9C7-3042-AFE2-89F143F79616}"/>
              </a:ext>
            </a:extLst>
          </p:cNvPr>
          <p:cNvSpPr/>
          <p:nvPr/>
        </p:nvSpPr>
        <p:spPr>
          <a:xfrm>
            <a:off x="762000" y="5461000"/>
            <a:ext cx="10668000" cy="12065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F1445-0FE1-E94D-BBEB-60893D16D497}"/>
              </a:ext>
            </a:extLst>
          </p:cNvPr>
          <p:cNvSpPr txBox="1"/>
          <p:nvPr/>
        </p:nvSpPr>
        <p:spPr>
          <a:xfrm>
            <a:off x="1016000" y="5651500"/>
            <a:ext cx="635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7FA3D1"/>
                </a:solidFill>
                <a:latin typeface="Inter"/>
              </a:rPr>
              <a:t>CÓMO ABSTRAERLO EN PRODUCCIÓN</a:t>
            </a:r>
            <a:endParaRPr lang="en-PE" sz="1100" b="1">
              <a:solidFill>
                <a:srgbClr val="7FA3D1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BC3674-D7DA-4749-BDE1-EFDDEE2EBF64}"/>
              </a:ext>
            </a:extLst>
          </p:cNvPr>
          <p:cNvSpPr txBox="1"/>
          <p:nvPr/>
        </p:nvSpPr>
        <p:spPr>
          <a:xfrm>
            <a:off x="1016000" y="59055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Inter"/>
              </a:rPr>
              <a:t>LiteLLM · proxy que traduce 100+ APIs al schema OpenAI</a:t>
            </a:r>
            <a:endParaRPr lang="en-PE" sz="15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21C97A-2360-014C-830A-727260760D5D}"/>
              </a:ext>
            </a:extLst>
          </p:cNvPr>
          <p:cNvSpPr txBox="1"/>
          <p:nvPr/>
        </p:nvSpPr>
        <p:spPr>
          <a:xfrm>
            <a:off x="1016000" y="6197600"/>
            <a:ext cx="1041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O dos ramas en tu cliente: una OpenAI-compat, otra Anthropic.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DE6F59-CF28-7344-864F-C0313C79C4E6}"/>
              </a:ext>
            </a:extLst>
          </p:cNvPr>
          <p:cNvSpPr txBox="1"/>
          <p:nvPr/>
        </p:nvSpPr>
        <p:spPr>
          <a:xfrm>
            <a:off x="1016000" y="6413500"/>
            <a:ext cx="1041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A8C0DC"/>
                </a:solidFill>
                <a:latin typeface="Inter"/>
              </a:rPr>
              <a:t>Google Gemini tiene API nativa (generateContent) pero ofrece modo OpenAI-compat — lo que casi todo el mundo usa.</a:t>
            </a:r>
            <a:endParaRPr lang="en-PE" sz="1100" i="1">
              <a:solidFill>
                <a:srgbClr val="A8C0DC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3102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F0817-82E9-FA4F-A893-6C5C5DAAE440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5 · APIS DE CHAT COMPLETIONS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1E07B-127F-8F49-8999-7D9F912B9C56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0F1E3D"/>
                </a:solidFill>
                <a:latin typeface="Inter"/>
              </a:rPr>
              <a:t>Streaming con Server-Sent Events</a:t>
            </a:r>
            <a:endParaRPr lang="en-PE" sz="3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A82A4-87A1-5A45-A355-4B46462E685B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De 5s de espera a 200ms percibidos.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0CC648-8A31-3245-8CA5-64F16F5F2159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D75CE-E05B-5341-8BCC-78BC52B9C173}"/>
              </a:ext>
            </a:extLst>
          </p:cNvPr>
          <p:cNvSpPr txBox="1"/>
          <p:nvPr/>
        </p:nvSpPr>
        <p:spPr>
          <a:xfrm>
            <a:off x="762000" y="2133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QUÉ ES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2717C-BCFC-FE49-9CD4-C8171801628B}"/>
              </a:ext>
            </a:extLst>
          </p:cNvPr>
          <p:cNvSpPr txBox="1"/>
          <p:nvPr/>
        </p:nvSpPr>
        <p:spPr>
          <a:xfrm>
            <a:off x="762000" y="23876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F3A68"/>
                </a:solidFill>
                <a:latin typeface="Inter"/>
              </a:rPr>
              <a:t>El servidor abre una conexión HTTP con Content-Type: text/event-stream, envía chunks data: {...} a medida que se producen tokens y cierra al terminar.</a:t>
            </a:r>
            <a:endParaRPr lang="en-PE" sz="13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B03E9C-9FA8-A141-BB9C-85F972C44D7D}"/>
              </a:ext>
            </a:extLst>
          </p:cNvPr>
          <p:cNvSpPr/>
          <p:nvPr/>
        </p:nvSpPr>
        <p:spPr>
          <a:xfrm>
            <a:off x="762000" y="2929673"/>
            <a:ext cx="10668000" cy="20447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E336A-3FFE-C64B-8C86-B61EA86B42B6}"/>
              </a:ext>
            </a:extLst>
          </p:cNvPr>
          <p:cNvSpPr txBox="1"/>
          <p:nvPr/>
        </p:nvSpPr>
        <p:spPr>
          <a:xfrm>
            <a:off x="1016000" y="31201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stream = client.chat.completions.create(</a:t>
            </a:r>
            <a:endParaRPr lang="en-PE" sz="130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759A6-BAA2-F54F-9917-FDA389F3C861}"/>
              </a:ext>
            </a:extLst>
          </p:cNvPr>
          <p:cNvSpPr txBox="1"/>
          <p:nvPr/>
        </p:nvSpPr>
        <p:spPr>
          <a:xfrm>
            <a:off x="1016000" y="33360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A8C0DC"/>
                </a:solidFill>
                <a:latin typeface="Consolas"/>
                <a:cs typeface="Consolas"/>
              </a:rPr>
              <a:t>    model="gpt-5.4",</a:t>
            </a:r>
            <a:endParaRPr lang="en-PE" sz="1300">
              <a:solidFill>
                <a:srgbClr val="A8C0DC"/>
              </a:solidFill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E80A9-4264-614A-87F5-373A3CE35CC4}"/>
              </a:ext>
            </a:extLst>
          </p:cNvPr>
          <p:cNvSpPr txBox="1"/>
          <p:nvPr/>
        </p:nvSpPr>
        <p:spPr>
          <a:xfrm>
            <a:off x="1016000" y="35519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    messages=[{"role": "user", "content": "Cuenta hasta 5."}],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3A30-07A2-A041-BE6D-05074FBAAA59}"/>
              </a:ext>
            </a:extLst>
          </p:cNvPr>
          <p:cNvSpPr txBox="1"/>
          <p:nvPr/>
        </p:nvSpPr>
        <p:spPr>
          <a:xfrm>
            <a:off x="1016000" y="37678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E59B"/>
                </a:solidFill>
                <a:latin typeface="Consolas"/>
                <a:cs typeface="Consolas"/>
              </a:rPr>
              <a:t>    stream=True,</a:t>
            </a:r>
            <a:endParaRPr lang="en-PE" sz="1300">
              <a:solidFill>
                <a:srgbClr val="FFE59B"/>
              </a:solidFill>
              <a:latin typeface="Consolas"/>
              <a:cs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C304B-32E8-304B-8B1D-D97E01E79403}"/>
              </a:ext>
            </a:extLst>
          </p:cNvPr>
          <p:cNvSpPr txBox="1"/>
          <p:nvPr/>
        </p:nvSpPr>
        <p:spPr>
          <a:xfrm>
            <a:off x="1016000" y="39837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1300">
                <a:solidFill>
                  <a:srgbClr val="FFFFFF"/>
                </a:solidFill>
                <a:latin typeface="Consolas"/>
                <a:cs typeface="Consolas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6A282-A3C9-C443-B071-B3FA7B5D7D86}"/>
              </a:ext>
            </a:extLst>
          </p:cNvPr>
          <p:cNvSpPr txBox="1"/>
          <p:nvPr/>
        </p:nvSpPr>
        <p:spPr>
          <a:xfrm>
            <a:off x="1016000" y="41996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for chunk in stream:</a:t>
            </a:r>
            <a:endParaRPr lang="en-PE" sz="130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0E8890-DD06-3242-98B7-A26C9F805A13}"/>
              </a:ext>
            </a:extLst>
          </p:cNvPr>
          <p:cNvSpPr txBox="1"/>
          <p:nvPr/>
        </p:nvSpPr>
        <p:spPr>
          <a:xfrm>
            <a:off x="1016000" y="44155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    if chunk.choices and (d := chunk.choices[0].delta.content):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D3571-525A-7F48-96CE-0DD32639C18C}"/>
              </a:ext>
            </a:extLst>
          </p:cNvPr>
          <p:cNvSpPr txBox="1"/>
          <p:nvPr/>
        </p:nvSpPr>
        <p:spPr>
          <a:xfrm>
            <a:off x="1016000" y="4631473"/>
            <a:ext cx="1041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EF7"/>
                </a:solidFill>
                <a:latin typeface="Consolas"/>
                <a:cs typeface="Consolas"/>
              </a:rPr>
              <a:t>        print(d, end="", flush=True)</a:t>
            </a:r>
            <a:endParaRPr lang="en-PE" sz="1300">
              <a:solidFill>
                <a:srgbClr val="E8EEF7"/>
              </a:solidFill>
              <a:latin typeface="Consolas"/>
              <a:cs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293F1-812E-DC43-92E7-A9BF13D05983}"/>
              </a:ext>
            </a:extLst>
          </p:cNvPr>
          <p:cNvSpPr txBox="1"/>
          <p:nvPr/>
        </p:nvSpPr>
        <p:spPr>
          <a:xfrm>
            <a:off x="762000" y="52705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F1E3D"/>
                </a:solidFill>
                <a:latin typeface="Inter"/>
              </a:rPr>
              <a:t>NO ES WebSocket · NO ES long-polling · Es HTTP/1.1 estándar con un content type especial.</a:t>
            </a:r>
            <a:endParaRPr lang="en-PE" sz="1300" i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ADA03E-11A6-E24B-9D67-A5EC8AC299C2}"/>
              </a:ext>
            </a:extLst>
          </p:cNvPr>
          <p:cNvSpPr txBox="1"/>
          <p:nvPr/>
        </p:nvSpPr>
        <p:spPr>
          <a:xfrm>
            <a:off x="762000" y="57150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TOOL USE · PINCELADA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C4B59-6D2D-EB46-8DA0-316F6F85B87B}"/>
              </a:ext>
            </a:extLst>
          </p:cNvPr>
          <p:cNvSpPr txBox="1"/>
          <p:nvPr/>
        </p:nvSpPr>
        <p:spPr>
          <a:xfrm>
            <a:off x="762000" y="5969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E3D"/>
                </a:solidFill>
                <a:latin typeface="Inter"/>
              </a:rPr>
              <a:t>El modelo genera intenciones estructuradas. El runtime es tuyo.</a:t>
            </a:r>
            <a:endParaRPr lang="en-PE" sz="16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4E99B7-24A3-9A47-B0DC-2762C74BD7EB}"/>
              </a:ext>
            </a:extLst>
          </p:cNvPr>
          <p:cNvSpPr txBox="1"/>
          <p:nvPr/>
        </p:nvSpPr>
        <p:spPr>
          <a:xfrm>
            <a:off x="762000" y="62865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Declaras tools como JSON Schema → modelo pide llamar → TU CÓDIGO ejecuta → devuelves resultado → modelo continúa. Profundizamos en clase 4.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60415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D324A-B1C2-2145-8C53-C83A1029490A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BLOQUE 6 · CIERRE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2E5A1-5FDA-B24B-B781-963D0265EFC3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0F1E3D"/>
                </a:solidFill>
                <a:latin typeface="Inter"/>
              </a:rPr>
              <a:t>Tres take-aways</a:t>
            </a:r>
            <a:endParaRPr lang="en-PE" sz="32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AEC20-DFC7-0D40-A061-F1E8A820DA5D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Si solo recuerdas tres cosas de esta clase, que sean estas.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A212E-527D-CB47-BCB4-40BF8460DC63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2448E-F568-D74B-9324-794AC910C306}"/>
              </a:ext>
            </a:extLst>
          </p:cNvPr>
          <p:cNvSpPr/>
          <p:nvPr/>
        </p:nvSpPr>
        <p:spPr>
          <a:xfrm>
            <a:off x="762000" y="2159000"/>
            <a:ext cx="10668000" cy="1460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0218-E5B3-1C48-A1E4-39DCA02AFCE6}"/>
              </a:ext>
            </a:extLst>
          </p:cNvPr>
          <p:cNvSpPr txBox="1"/>
          <p:nvPr/>
        </p:nvSpPr>
        <p:spPr>
          <a:xfrm>
            <a:off x="1016000" y="2413000"/>
            <a:ext cx="114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000" b="1">
                <a:solidFill>
                  <a:srgbClr val="A8C0DC"/>
                </a:solidFill>
                <a:latin typeface="Inter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5CCDF-CCCD-2645-8A08-3C7A9C36D624}"/>
              </a:ext>
            </a:extLst>
          </p:cNvPr>
          <p:cNvSpPr txBox="1"/>
          <p:nvPr/>
        </p:nvSpPr>
        <p:spPr>
          <a:xfrm>
            <a:off x="2286000" y="24384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El LLM es una capa de infraestructura, no una feature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7F669-946D-F646-82F3-73347425BC34}"/>
              </a:ext>
            </a:extLst>
          </p:cNvPr>
          <p:cNvSpPr txBox="1"/>
          <p:nvPr/>
        </p:nvSpPr>
        <p:spPr>
          <a:xfrm>
            <a:off x="2286000" y="2895600"/>
            <a:ext cx="889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La diferenciación del producto vive alrededor — en la capa agéntica (loops, tools, memoria, MCP) y en el software que la administra. Todo el curso construye ese alrededor.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791756-B378-9548-ACB9-B8A91186CF34}"/>
              </a:ext>
            </a:extLst>
          </p:cNvPr>
          <p:cNvSpPr/>
          <p:nvPr/>
        </p:nvSpPr>
        <p:spPr>
          <a:xfrm>
            <a:off x="762000" y="3746500"/>
            <a:ext cx="10668000" cy="14605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9C3C1-8271-4340-A222-64E725A1459F}"/>
              </a:ext>
            </a:extLst>
          </p:cNvPr>
          <p:cNvSpPr txBox="1"/>
          <p:nvPr/>
        </p:nvSpPr>
        <p:spPr>
          <a:xfrm>
            <a:off x="1016000" y="4000500"/>
            <a:ext cx="114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000" b="1">
                <a:solidFill>
                  <a:srgbClr val="7FA3D1"/>
                </a:solidFill>
                <a:latin typeface="Inter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4B45-855C-5140-81F0-06F2203443D4}"/>
              </a:ext>
            </a:extLst>
          </p:cNvPr>
          <p:cNvSpPr txBox="1"/>
          <p:nvPr/>
        </p:nvSpPr>
        <p:spPr>
          <a:xfrm>
            <a:off x="2286000" y="40259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Inter"/>
              </a:rPr>
              <a:t>No hay "un mejor modelo"</a:t>
            </a:r>
            <a:endParaRPr lang="en-P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E8F248-5DB8-EF49-88AA-5EEC7BCB1617}"/>
              </a:ext>
            </a:extLst>
          </p:cNvPr>
          <p:cNvSpPr txBox="1"/>
          <p:nvPr/>
        </p:nvSpPr>
        <p:spPr>
          <a:xfrm>
            <a:off x="2286000" y="4483100"/>
            <a:ext cx="889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  <a:latin typeface="Inter"/>
              </a:rPr>
              <a:t>Hay un mejor modelo para TU combinación de tarea, coste, latencia y compliance. El mercado 2026 es multipolar. La habilidad clave del arquitecto es saber elegir y saber cambiar.</a:t>
            </a:r>
            <a:endParaRPr lang="en-PE" sz="1200">
              <a:solidFill>
                <a:srgbClr val="E8EEF7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B91FE3-055C-2A41-BAEB-57E96547CD91}"/>
              </a:ext>
            </a:extLst>
          </p:cNvPr>
          <p:cNvSpPr/>
          <p:nvPr/>
        </p:nvSpPr>
        <p:spPr>
          <a:xfrm>
            <a:off x="762000" y="5334000"/>
            <a:ext cx="10668000" cy="1460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5D28C-453A-B249-BF04-044089B53803}"/>
              </a:ext>
            </a:extLst>
          </p:cNvPr>
          <p:cNvSpPr txBox="1"/>
          <p:nvPr/>
        </p:nvSpPr>
        <p:spPr>
          <a:xfrm>
            <a:off x="1016000" y="5588000"/>
            <a:ext cx="114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PE" sz="5000" b="1">
                <a:solidFill>
                  <a:srgbClr val="A8C0DC"/>
                </a:solidFill>
                <a:latin typeface="Inter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24A30-3A05-E049-8666-CB42A51D3D37}"/>
              </a:ext>
            </a:extLst>
          </p:cNvPr>
          <p:cNvSpPr txBox="1"/>
          <p:nvPr/>
        </p:nvSpPr>
        <p:spPr>
          <a:xfrm>
            <a:off x="2286000" y="56134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0F1E3D"/>
                </a:solidFill>
                <a:latin typeface="Inter"/>
              </a:rPr>
              <a:t>La API OpenAI-compatible es el TCP/IP de los LLMs</a:t>
            </a:r>
            <a:endParaRPr lang="en-PE" sz="20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C0AFC-02A7-6B46-9E49-A89DC0C39618}"/>
              </a:ext>
            </a:extLst>
          </p:cNvPr>
          <p:cNvSpPr txBox="1"/>
          <p:nvPr/>
        </p:nvSpPr>
        <p:spPr>
          <a:xfrm>
            <a:off x="2286000" y="6070600"/>
            <a:ext cx="889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Diseña tu cliente como una variable de entorno. Cambiar de proveedor debería ser cambiar dos líneas, no refactorizar. Abstrae tu capa de modelo desde el día 0.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2343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46872-271E-3D45-B4CA-7B7BA3156E7B}"/>
              </a:ext>
            </a:extLst>
          </p:cNvPr>
          <p:cNvSpPr txBox="1"/>
          <p:nvPr/>
        </p:nvSpPr>
        <p:spPr>
          <a:xfrm>
            <a:off x="762000" y="6096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2C5AA0"/>
                </a:solidFill>
                <a:latin typeface="Inter"/>
              </a:rPr>
              <a:t>AHORA</a:t>
            </a:r>
            <a:endParaRPr lang="en-PE" sz="1100" b="1" dirty="0">
              <a:solidFill>
                <a:srgbClr val="2C5AA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2BAEA-98EC-FA41-93D5-A221C63E3F22}"/>
              </a:ext>
            </a:extLst>
          </p:cNvPr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E3D"/>
                </a:solidFill>
                <a:latin typeface="Inter"/>
              </a:rPr>
              <a:t>Clase 2 · Prompt Engineering como sistema</a:t>
            </a:r>
            <a:endParaRPr lang="en-PE" sz="28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C415D-C12B-7142-B0A5-75A64316EF0F}"/>
              </a:ext>
            </a:extLst>
          </p:cNvPr>
          <p:cNvSpPr txBox="1"/>
          <p:nvPr/>
        </p:nvSpPr>
        <p:spPr>
          <a:xfrm>
            <a:off x="762000" y="1574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4A7FC1"/>
                </a:solidFill>
                <a:latin typeface="Inter"/>
              </a:rPr>
              <a:t>De la abstracción "modelo" a la abstracción "prompt"</a:t>
            </a:r>
            <a:endParaRPr lang="en-PE" sz="1400" i="1">
              <a:solidFill>
                <a:srgbClr val="4A7FC1"/>
              </a:solidFill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28FD5-4DD1-0342-BC4A-45D8E37AB061}"/>
              </a:ext>
            </a:extLst>
          </p:cNvPr>
          <p:cNvSpPr/>
          <p:nvPr/>
        </p:nvSpPr>
        <p:spPr>
          <a:xfrm>
            <a:off x="762000" y="1955800"/>
            <a:ext cx="762000" cy="381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90454-15AD-624B-8F13-ECC49DA4F39A}"/>
              </a:ext>
            </a:extLst>
          </p:cNvPr>
          <p:cNvSpPr txBox="1"/>
          <p:nvPr/>
        </p:nvSpPr>
        <p:spPr>
          <a:xfrm>
            <a:off x="762000" y="2222500"/>
            <a:ext cx="635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C5AA0"/>
                </a:solidFill>
                <a:latin typeface="Inter"/>
              </a:rPr>
              <a:t>QUÉ VEMOS</a:t>
            </a:r>
            <a:endParaRPr lang="en-PE" sz="1100" b="1">
              <a:solidFill>
                <a:srgbClr val="2C5AA0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770ED-DC93-8F45-B309-DB66ADEBC976}"/>
              </a:ext>
            </a:extLst>
          </p:cNvPr>
          <p:cNvSpPr/>
          <p:nvPr/>
        </p:nvSpPr>
        <p:spPr>
          <a:xfrm>
            <a:off x="762000" y="2603500"/>
            <a:ext cx="10668000" cy="698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DB407-E2E1-0345-B5FF-60111D06D6FE}"/>
              </a:ext>
            </a:extLst>
          </p:cNvPr>
          <p:cNvSpPr/>
          <p:nvPr/>
        </p:nvSpPr>
        <p:spPr>
          <a:xfrm>
            <a:off x="762000" y="2603500"/>
            <a:ext cx="63500" cy="698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0296A-B7AE-7947-B7D9-89CA0A62ADDF}"/>
              </a:ext>
            </a:extLst>
          </p:cNvPr>
          <p:cNvSpPr txBox="1"/>
          <p:nvPr/>
        </p:nvSpPr>
        <p:spPr>
          <a:xfrm>
            <a:off x="1016000" y="27559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Técnicas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D62D6-8AB2-B24E-A648-2422D69F7321}"/>
              </a:ext>
            </a:extLst>
          </p:cNvPr>
          <p:cNvSpPr txBox="1"/>
          <p:nvPr/>
        </p:nvSpPr>
        <p:spPr>
          <a:xfrm>
            <a:off x="1016000" y="30099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zero-shot · few-shot · chain-of-thought · self-consistency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C03FF-6D5A-CB47-B84D-5D01ED739C1F}"/>
              </a:ext>
            </a:extLst>
          </p:cNvPr>
          <p:cNvSpPr/>
          <p:nvPr/>
        </p:nvSpPr>
        <p:spPr>
          <a:xfrm>
            <a:off x="762000" y="3365500"/>
            <a:ext cx="10668000" cy="698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0589B3-8900-5C44-A9FA-6FAA85C79C94}"/>
              </a:ext>
            </a:extLst>
          </p:cNvPr>
          <p:cNvSpPr/>
          <p:nvPr/>
        </p:nvSpPr>
        <p:spPr>
          <a:xfrm>
            <a:off x="762000" y="3365500"/>
            <a:ext cx="63500" cy="698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143EA-3098-294E-9777-47A83486310B}"/>
              </a:ext>
            </a:extLst>
          </p:cNvPr>
          <p:cNvSpPr txBox="1"/>
          <p:nvPr/>
        </p:nvSpPr>
        <p:spPr>
          <a:xfrm>
            <a:off x="1016000" y="35179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System prompts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B88438-595C-1545-A767-6D029DBC489E}"/>
              </a:ext>
            </a:extLst>
          </p:cNvPr>
          <p:cNvSpPr txBox="1"/>
          <p:nvPr/>
        </p:nvSpPr>
        <p:spPr>
          <a:xfrm>
            <a:off x="1016000" y="37719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diseño y estructura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B9148-2571-BD4E-AEFB-ADCC110B33D5}"/>
              </a:ext>
            </a:extLst>
          </p:cNvPr>
          <p:cNvSpPr/>
          <p:nvPr/>
        </p:nvSpPr>
        <p:spPr>
          <a:xfrm>
            <a:off x="762000" y="4127500"/>
            <a:ext cx="10668000" cy="698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CE0383-A7D3-064C-9943-4075902F4FFF}"/>
              </a:ext>
            </a:extLst>
          </p:cNvPr>
          <p:cNvSpPr/>
          <p:nvPr/>
        </p:nvSpPr>
        <p:spPr>
          <a:xfrm>
            <a:off x="762000" y="4127500"/>
            <a:ext cx="63500" cy="698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303BF2-4490-DE46-8627-21DA337EF954}"/>
              </a:ext>
            </a:extLst>
          </p:cNvPr>
          <p:cNvSpPr txBox="1"/>
          <p:nvPr/>
        </p:nvSpPr>
        <p:spPr>
          <a:xfrm>
            <a:off x="1016000" y="42799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Output estructurado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78637-BFAB-F440-9DB1-A272C799EA39}"/>
              </a:ext>
            </a:extLst>
          </p:cNvPr>
          <p:cNvSpPr txBox="1"/>
          <p:nvPr/>
        </p:nvSpPr>
        <p:spPr>
          <a:xfrm>
            <a:off x="1016000" y="45339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JSON · response_format · Instructor · Pydantic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653D99-5317-6E49-B6A3-6025DBCC95E5}"/>
              </a:ext>
            </a:extLst>
          </p:cNvPr>
          <p:cNvSpPr/>
          <p:nvPr/>
        </p:nvSpPr>
        <p:spPr>
          <a:xfrm>
            <a:off x="762000" y="4889500"/>
            <a:ext cx="10668000" cy="698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E38E2E-7CA9-294B-A03B-3278DE17948D}"/>
              </a:ext>
            </a:extLst>
          </p:cNvPr>
          <p:cNvSpPr/>
          <p:nvPr/>
        </p:nvSpPr>
        <p:spPr>
          <a:xfrm>
            <a:off x="762000" y="4889500"/>
            <a:ext cx="63500" cy="698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106617-6E8D-124B-B848-8E7906A8E01F}"/>
              </a:ext>
            </a:extLst>
          </p:cNvPr>
          <p:cNvSpPr txBox="1"/>
          <p:nvPr/>
        </p:nvSpPr>
        <p:spPr>
          <a:xfrm>
            <a:off x="1016000" y="50419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Validación y truncamiento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1774F9-85E3-AA46-A0F3-DCD48883F3E6}"/>
              </a:ext>
            </a:extLst>
          </p:cNvPr>
          <p:cNvSpPr txBox="1"/>
          <p:nvPr/>
        </p:nvSpPr>
        <p:spPr>
          <a:xfrm>
            <a:off x="1016000" y="52959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cómo proteger tu código del modelo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D9937D-0595-6143-8225-B1579D70BEF1}"/>
              </a:ext>
            </a:extLst>
          </p:cNvPr>
          <p:cNvSpPr/>
          <p:nvPr/>
        </p:nvSpPr>
        <p:spPr>
          <a:xfrm>
            <a:off x="762000" y="5651500"/>
            <a:ext cx="10668000" cy="6985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C92F3F-CF51-9848-B9DD-E016BB946B8E}"/>
              </a:ext>
            </a:extLst>
          </p:cNvPr>
          <p:cNvSpPr/>
          <p:nvPr/>
        </p:nvSpPr>
        <p:spPr>
          <a:xfrm>
            <a:off x="762000" y="5651500"/>
            <a:ext cx="63500" cy="6985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B9D6F-3626-9746-A1D7-B3C519456CB3}"/>
              </a:ext>
            </a:extLst>
          </p:cNvPr>
          <p:cNvSpPr txBox="1"/>
          <p:nvPr/>
        </p:nvSpPr>
        <p:spPr>
          <a:xfrm>
            <a:off x="1016000" y="58039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0F1E3D"/>
                </a:solidFill>
                <a:latin typeface="Inter"/>
              </a:rPr>
              <a:t>Práctica</a:t>
            </a:r>
            <a:endParaRPr lang="en-PE" sz="1500" b="1">
              <a:solidFill>
                <a:srgbClr val="0F1E3D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783C2A-C5C2-7F41-9781-8621913E522E}"/>
              </a:ext>
            </a:extLst>
          </p:cNvPr>
          <p:cNvSpPr txBox="1"/>
          <p:nvPr/>
        </p:nvSpPr>
        <p:spPr>
          <a:xfrm>
            <a:off x="1016000" y="60579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F3A68"/>
                </a:solidFill>
                <a:latin typeface="Inter"/>
              </a:rPr>
              <a:t>construir un sistema multi-etapa de generación</a:t>
            </a:r>
            <a:endParaRPr lang="en-PE" sz="1200">
              <a:solidFill>
                <a:srgbClr val="1F3A68"/>
              </a:solidFill>
              <a:latin typeface="Inte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7E714F-F11F-6248-A8B8-15296BD2C8E5}"/>
              </a:ext>
            </a:extLst>
          </p:cNvPr>
          <p:cNvSpPr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97433A-D130-5C4E-B539-F45F4FC6320E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0F1E3D"/>
                </a:solidFill>
                <a:latin typeface="Inter"/>
              </a:rPr>
              <a:t>El enfoque: prompting no como arte, sino como sistema — versionado, testeado, iterado con datos.</a:t>
            </a:r>
            <a:endParaRPr lang="en-PE" sz="1400" b="1" i="1">
              <a:solidFill>
                <a:srgbClr val="0F1E3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39338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524ABA-B768-444D-8E39-55D433E69C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E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6ED08D-91C2-2C4B-A44B-E6D1EED19097}"/>
              </a:ext>
            </a:extLst>
          </p:cNvPr>
          <p:cNvSpPr/>
          <p:nvPr/>
        </p:nvSpPr>
        <p:spPr>
          <a:xfrm>
            <a:off x="762000" y="3111500"/>
            <a:ext cx="1270000" cy="50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P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3E5669-9B03-7643-B5F4-D535288E347A}"/>
              </a:ext>
            </a:extLst>
          </p:cNvPr>
          <p:cNvSpPr txBox="1"/>
          <p:nvPr/>
        </p:nvSpPr>
        <p:spPr>
          <a:xfrm>
            <a:off x="762000" y="26670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7FA3D1"/>
                </a:solidFill>
                <a:latin typeface="Inter"/>
              </a:rPr>
              <a:t>FIN</a:t>
            </a:r>
            <a:endParaRPr lang="en-PE" sz="1200" b="1" dirty="0">
              <a:solidFill>
                <a:srgbClr val="7FA3D1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E7BC3-D3CF-834E-8264-290D2013238C}"/>
              </a:ext>
            </a:extLst>
          </p:cNvPr>
          <p:cNvSpPr txBox="1"/>
          <p:nvPr/>
        </p:nvSpPr>
        <p:spPr>
          <a:xfrm>
            <a:off x="762000" y="3238500"/>
            <a:ext cx="762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FFFFFF"/>
                </a:solidFill>
                <a:latin typeface="Inter"/>
              </a:rPr>
              <a:t>Gracias.</a:t>
            </a:r>
            <a:endParaRPr lang="en-PE" sz="5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8E2C5-5A82-BF49-90E7-148E1894E3E5}"/>
              </a:ext>
            </a:extLst>
          </p:cNvPr>
          <p:cNvSpPr txBox="1"/>
          <p:nvPr/>
        </p:nvSpPr>
        <p:spPr>
          <a:xfrm>
            <a:off x="762000" y="4254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i="1">
                <a:solidFill>
                  <a:srgbClr val="A8C0DC"/>
                </a:solidFill>
                <a:latin typeface="Inter"/>
              </a:rPr>
              <a:t>Preguntas, comentarios — ahora.</a:t>
            </a:r>
            <a:endParaRPr lang="en-PE" sz="2200" i="1">
              <a:solidFill>
                <a:srgbClr val="A8C0DC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E7367-7F69-9D40-A36B-7CA6C8ED0AEC}"/>
              </a:ext>
            </a:extLst>
          </p:cNvPr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6B8CAE"/>
                </a:solidFill>
                <a:latin typeface="Inter"/>
              </a:rPr>
              <a:t>Arquitectura de Aplicaciones con IA Generativa · EscuelaIT · 17 abril 2026</a:t>
            </a:r>
            <a:endParaRPr lang="en-PE" sz="1100">
              <a:solidFill>
                <a:srgbClr val="6B8CA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2966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76438175261]">
  <a:themeElements>
    <a:clrScheme name="Office">
      <a:dk1>
        <a:srgbClr val="0F1E3D"/>
      </a:dk1>
      <a:lt1>
        <a:srgbClr val="FFFFFF"/>
      </a:lt1>
      <a:dk2>
        <a:srgbClr val="1F3A68"/>
      </a:dk2>
      <a:lt2>
        <a:srgbClr val="E8EEF7"/>
      </a:lt2>
      <a:accent1>
        <a:srgbClr val="2C5AA0"/>
      </a:accent1>
      <a:accent2>
        <a:srgbClr val="4A7FC1"/>
      </a:accent2>
      <a:accent3>
        <a:srgbClr val="7FA3D1"/>
      </a:accent3>
      <a:accent4>
        <a:srgbClr val="0F1E3D"/>
      </a:accent4>
      <a:accent5>
        <a:srgbClr val="6B8CAE"/>
      </a:accent5>
      <a:accent6>
        <a:srgbClr val="A8C0DC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A45BDA-85BE-A040-8BA2-E4F239BBBAD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03d4b00-7e66-400e-b81c-9865b8a4a6e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4428</Words>
  <Application>Microsoft Macintosh PowerPoint</Application>
  <PresentationFormat>Widescreen</PresentationFormat>
  <Paragraphs>856</Paragraphs>
  <Slides>36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Display</vt:lpstr>
      <vt:lpstr>Arial</vt:lpstr>
      <vt:lpstr>Consolas</vt:lpstr>
      <vt:lpstr>Inter</vt:lpstr>
      <vt:lpstr>Office Theme</vt:lpstr>
      <vt:lpstr>Office Theme [1776438175261]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Mandujano</dc:creator>
  <cp:lastModifiedBy>Víctor Mandujano</cp:lastModifiedBy>
  <cp:revision>3</cp:revision>
  <dcterms:created xsi:type="dcterms:W3CDTF">2026-04-17T14:59:20Z</dcterms:created>
  <dcterms:modified xsi:type="dcterms:W3CDTF">2026-04-21T18:46:42Z</dcterms:modified>
</cp:coreProperties>
</file>